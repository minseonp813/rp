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929" r:id="rId2"/>
    <p:sldId id="930" r:id="rId3"/>
    <p:sldId id="932" r:id="rId4"/>
    <p:sldId id="935" r:id="rId5"/>
    <p:sldId id="933" r:id="rId6"/>
    <p:sldId id="934" r:id="rId7"/>
    <p:sldId id="936" r:id="rId8"/>
    <p:sldId id="950" r:id="rId9"/>
    <p:sldId id="954" r:id="rId10"/>
    <p:sldId id="937" r:id="rId11"/>
    <p:sldId id="938" r:id="rId12"/>
    <p:sldId id="951" r:id="rId13"/>
    <p:sldId id="952" r:id="rId14"/>
    <p:sldId id="949" r:id="rId15"/>
    <p:sldId id="939" r:id="rId16"/>
    <p:sldId id="946" r:id="rId17"/>
    <p:sldId id="953" r:id="rId18"/>
    <p:sldId id="940" r:id="rId19"/>
    <p:sldId id="941" r:id="rId20"/>
    <p:sldId id="947" r:id="rId21"/>
    <p:sldId id="942" r:id="rId22"/>
    <p:sldId id="945" r:id="rId23"/>
    <p:sldId id="943" r:id="rId24"/>
    <p:sldId id="944" r:id="rId25"/>
    <p:sldId id="948" r:id="rId26"/>
    <p:sldId id="955" r:id="rId27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70BE3D-FFC4-2C1A-84C9-38001BC16696}" name="Syngjoo Choi" initials="SC" userId="88f896864aa6879d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ungik" initials="E" lastIdx="2" clrIdx="0">
    <p:extLst>
      <p:ext uri="{19B8F6BF-5375-455C-9EA6-DF929625EA0E}">
        <p15:presenceInfo xmlns:p15="http://schemas.microsoft.com/office/powerpoint/2012/main" userId="Eungi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DA63"/>
    <a:srgbClr val="FAAB9A"/>
    <a:srgbClr val="617186"/>
    <a:srgbClr val="FF5050"/>
    <a:srgbClr val="E99833"/>
    <a:srgbClr val="FF7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4" autoAdjust="0"/>
    <p:restoredTop sz="50067" autoAdjust="0"/>
  </p:normalViewPr>
  <p:slideViewPr>
    <p:cSldViewPr>
      <p:cViewPr varScale="1">
        <p:scale>
          <a:sx n="102" d="100"/>
          <a:sy n="102" d="100"/>
        </p:scale>
        <p:origin x="220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259D6-D95A-A642-B04C-599C4F6BFD7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56EE9-0783-8540-B302-D98D03794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7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36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155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88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961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48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08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18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82DCB-5C0F-2C14-4116-E0F4EC72F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43947D-5F9C-3E3E-96E7-DB6E2E831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9288ED-2AD8-DF0D-8053-D349A8418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C24921-0CE6-CD08-E30E-F19C2295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34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04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29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23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EF1F4-ABE0-AF9D-F23E-C213E222F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9312C0-BAED-5CAD-7C77-B9DA6CE43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F3A5FC-BCD5-10DF-7461-33F47EB66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1A4CDB-1ED3-713F-0BB8-EABA55DBBE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52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482CE-6BD2-A2D8-6D73-26EE86F20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97BDE3-1965-2020-14E9-332A59002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FBC2B6-C305-E10A-0DE2-5B373BEF0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C254B-611B-0DE5-EDCD-DE8504673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174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79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62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EDCDF-2AD7-7590-335B-528D8180A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C2A80C-5841-138B-CFFB-CBEE85005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47ADBB-E9F9-7BD3-DF67-782FEA600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0BD9C4-D5D7-F5EE-7600-352DB4FFD9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189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0A75B-B0E4-F821-FFD0-694D59D1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9EB685-875F-63F4-D4E8-F4AFE4A04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4A849F-6630-3C1A-E042-42E442FE2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35321B-4AE7-E8B5-7133-A3AF7E7486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7326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112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94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34655-7D12-26D1-06B6-59FE78D3F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592739-A0E3-EF24-07F8-A485CEBC9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4800D-2594-A3C7-CA25-09F5E201C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0B2B75-CE8F-346D-2081-6AB829DBE1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342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B3513-BB57-1983-1465-A6C3E700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50A8BA-00E3-F63C-BC7C-66542DCF9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DAC00D-A93F-214A-5973-0532630B3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B44F1-8805-E7C0-4006-1A907C261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031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2E54-38B1-6741-0EA7-EC35F7BD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72409A-3EE7-2D70-0DBC-9B6AEA9EC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A7DA6B-94E5-391A-6E54-C97242ABC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59C444-3815-A8E0-EB81-FFEEB711B3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333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8726F-690B-8838-D15E-D26DD323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FD8F57-7A4F-BF92-34FD-E61EDD3DE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6FC163-66FF-2404-82BE-F45A0EF18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FF194-73DB-52E1-7A2C-2E2C28313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267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71C08-9572-0A74-9680-BDC323205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E104A8-1C3F-72BC-7797-91FB434E8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C540B6-8A86-F555-C354-BFC5A68BA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039ED3-BF4D-3814-D1B5-F89311609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168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9E0A-552C-C8D7-E3F1-FCA8BB2A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6810C5-0039-38AE-3627-546121313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05BCF4-3B26-09C2-BDFB-6D47311F0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BC16B-1D9A-7000-4596-3F4A9BC22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995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14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24/06/2025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788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24/06/2025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608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24/06/2025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918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24/06/2025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568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24/06/2025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58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24/06/2025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543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24/06/2025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70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24/06/2025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92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24/06/2025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81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24/06/2025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62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24/06/2025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81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9E123-D8C4-4447-B39B-CB6328F8A714}" type="datetimeFigureOut">
              <a:rPr lang="en-GB" smtClean="0"/>
              <a:pPr/>
              <a:t>24/06/2025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41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0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412776"/>
            <a:ext cx="8208912" cy="208823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Aggregation of Rationality and Preferences in Group Decisions: A Panel Experiment</a:t>
            </a:r>
            <a:endParaRPr lang="en-GB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78123" y="5229200"/>
            <a:ext cx="48029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June 28, 2025</a:t>
            </a:r>
          </a:p>
          <a:p>
            <a:pPr algn="ctr"/>
            <a:r>
              <a:rPr lang="en-US" altLang="ko-KR" sz="2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The Science of Decision Making Conference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924106"/>
              </p:ext>
            </p:extLst>
          </p:nvPr>
        </p:nvGraphicFramePr>
        <p:xfrm>
          <a:off x="971600" y="3982833"/>
          <a:ext cx="7200800" cy="7560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6084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771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029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lnSpcReduction="10000"/>
          </a:bodyPr>
          <a:lstStyle/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Long-standing interests in group decision making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Households (e.g.,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McEloy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and Horney, 1981;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Chiappori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, 1992; Lundberg and Pollak, 1996); 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Committees (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e.g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,, Austen-Smith and Banks, 1996; Feddersen and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Pesendorfer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, 1998))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Social choice theory (e.g., Arrow, 1951; Sen, 1970), etc.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Individual rationality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 is a foundational assumption in understanding group decision making. 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Various determinants of group decision-making: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outside options, information and resources controlled, rules of interaction</a:t>
            </a:r>
            <a:r>
              <a:rPr lang="en-US" altLang="ko-KR" sz="1800" dirty="0">
                <a:latin typeface="Times New Roman" pitchFamily="18" charset="0"/>
                <a:cs typeface="Times New Roman" pitchFamily="18" charset="0"/>
              </a:rPr>
              <a:t>, etc.</a:t>
            </a: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We claim that 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the degree of individual rationality is one source of 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(1)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the quality of group decision-making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 and (2) 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individual influences on group decision making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848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 This Paper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Conduct large-scale panel experiments over two periods with a four-month interval</a:t>
            </a: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Over 1,300 (final sample) individuals are randomly paired to make </a:t>
            </a:r>
            <a:r>
              <a:rPr lang="en-GB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individual and group decisions </a:t>
            </a:r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in a portfolio allocation problem</a:t>
            </a:r>
          </a:p>
          <a:p>
            <a:pPr lvl="1"/>
            <a:endParaRPr lang="en-GB" altLang="ko-KR" sz="16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Collect rich individual- and collective-level data suited to applying revealed preference analysis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Propose a nonparametric, revealed preference measure of individual influences on group decision making 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Make a causal inference on the effect of individual rationality on group outcomes. </a:t>
            </a:r>
          </a:p>
          <a:p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523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Sampling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1,572 students from 12 middle schools in South Korea in the baseline study (in August); revisited in the endline study (in December) </a:t>
            </a:r>
          </a:p>
          <a:p>
            <a:pPr marL="0" indent="0">
              <a:buNone/>
            </a:pPr>
            <a:endParaRPr lang="en-GB" altLang="ko-KR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In each study, they completed two stages of decision making under risk at the individual level and at the collective level.  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Pairs were </a:t>
            </a:r>
            <a:r>
              <a:rPr lang="en-US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randomly formed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within classroom for collective choices in the baseline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They were kept unchanged in the endline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Due to attrition, </a:t>
            </a:r>
            <a:r>
              <a:rPr lang="en-US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final sample consists of 657 groups (1,314 individuals)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in both studies.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We also collected their individual characteristics (height, gender, math score, </a:t>
            </a:r>
            <a:r>
              <a:rPr lang="en-US" altLang="ko-KR" sz="2000" dirty="0" err="1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) and friendship information. </a:t>
            </a:r>
            <a:endParaRPr lang="en-US" altLang="ko-KR" sz="16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1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Decision Problem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Follow Choi et al. (2007)</a:t>
                </a: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Allocate an income over two Arrow securities (associated with equally probably two states): choose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altLang="ko-KR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ko-KR" sz="1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 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ko-KR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altLang="ko-KR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</m:t>
                    </m:r>
                  </m:oMath>
                </a14:m>
                <a:endParaRPr lang="en-GB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3212976"/>
            <a:ext cx="3881247" cy="317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32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Experimental Procedures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65104"/>
          </a:xfrm>
        </p:spPr>
        <p:txBody>
          <a:bodyPr>
            <a:normAutofit/>
          </a:bodyPr>
          <a:lstStyle/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Participants: students from 12 middle schools in South Korea</a:t>
            </a: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7704" y="2708920"/>
            <a:ext cx="1636987" cy="646331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Stage 1</a:t>
            </a:r>
          </a:p>
          <a:p>
            <a:pPr algn="ctr"/>
            <a:r>
              <a:rPr lang="en-US" altLang="ko-KR" dirty="0"/>
              <a:t>(Individual DM)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961502" y="2708920"/>
            <a:ext cx="1306256" cy="646331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Stage 2</a:t>
            </a:r>
          </a:p>
          <a:p>
            <a:pPr algn="ctr"/>
            <a:r>
              <a:rPr lang="en-US" altLang="ko-KR" dirty="0"/>
              <a:t>(Group DM)</a:t>
            </a:r>
            <a:endParaRPr lang="ko-KR" altLang="en-US" dirty="0"/>
          </a:p>
        </p:txBody>
      </p:sp>
      <p:cxnSp>
        <p:nvCxnSpPr>
          <p:cNvPr id="7" name="직선 화살표 연결선 6"/>
          <p:cNvCxnSpPr>
            <a:endCxn id="5" idx="1"/>
          </p:cNvCxnSpPr>
          <p:nvPr/>
        </p:nvCxnSpPr>
        <p:spPr>
          <a:xfrm>
            <a:off x="3544691" y="3032085"/>
            <a:ext cx="2416811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11130" y="2721496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matching within classroom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717032"/>
            <a:ext cx="36724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rounds of individual choices with exogenous price variations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randomly selected round for payoffs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78426" y="3717032"/>
            <a:ext cx="404204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Randomly matched students in pair sit side by side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min 30 sec of discussion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rounds of collective choices</a:t>
            </a: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exogenous price variations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randomly selected round for payoffs (doubled and divided equally)</a:t>
            </a:r>
          </a:p>
          <a:p>
            <a:endParaRPr lang="en-US" altLang="ko-KR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1560" y="5805264"/>
            <a:ext cx="77768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No feedback is given during the experiment, and subjects are informed only the sum of payoffs from the two stages at the end of the study</a:t>
            </a:r>
            <a:r>
              <a:rPr lang="en-US" altLang="ko-KR" dirty="0"/>
              <a:t>.</a:t>
            </a:r>
            <a:endParaRPr lang="en-GB" altLang="ko-KR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046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Measuring Rationality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Test whether each choice data are consistent with utility maximization: Generalized Axiom of Revealed Preference (GARP) </a:t>
                </a:r>
              </a:p>
              <a:p>
                <a:pPr marL="0" indent="0">
                  <a:buNone/>
                </a:pPr>
                <a:endParaRPr lang="en-GB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 err="1">
                    <a:latin typeface="Times New Roman" pitchFamily="18" charset="0"/>
                    <a:cs typeface="Times New Roman" pitchFamily="18" charset="0"/>
                  </a:rPr>
                  <a:t>Afriat’s</a:t>
                </a: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 Critical Cost Efficiency Index (CCEI) </a:t>
                </a:r>
              </a:p>
              <a:p>
                <a:pPr lvl="1"/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Measuring the exact amount by which each budget must be relaxed to remove all GARP violations;</a:t>
                </a: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CCEI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: the smaller it is, the more severe violation of GARP.  </a:t>
                </a:r>
              </a:p>
              <a:p>
                <a:pPr marL="0" indent="0">
                  <a:buNone/>
                </a:pPr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Basic statistics of individual and collective CCEIs</a:t>
                </a:r>
              </a:p>
              <a:p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tab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672" y="5013176"/>
            <a:ext cx="5688633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294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AAD86-DA6B-FD35-14F4-24B23958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A2C5-5134-A599-CC7B-41078E92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Measuring Risk Preferences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9EBA6-8FE7-5F0C-2152-ECC8169686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Simple nonparametric measure of risk tolerance (RT)</a:t>
                </a:r>
              </a:p>
              <a:p>
                <a:pPr marL="0" indent="0">
                  <a:buNone/>
                </a:pPr>
                <a:endParaRPr lang="en-GB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For each budget, the fraction of money on a cheaper asset: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cheaper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For each individual and each group, compute the average of the fraction of money on a cheaper asset over 18 rounds</a:t>
                </a:r>
              </a:p>
              <a:p>
                <a:pPr lvl="1"/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RT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0.5,1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: higher (lower) degree of risk aversion when it is closer to 0.5 (1).  </a:t>
                </a:r>
              </a:p>
              <a:p>
                <a:pPr marL="0" indent="0">
                  <a:buNone/>
                </a:pPr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Basic statistics of individual and collective RTs</a:t>
                </a:r>
              </a:p>
              <a:p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9EBA6-8FE7-5F0C-2152-ECC8169686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tab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80" y="4869160"/>
            <a:ext cx="5688633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849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Balance Test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276872"/>
            <a:ext cx="7905329" cy="24684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2033" y="5373216"/>
            <a:ext cx="77768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Random group formation makes an individual’s CCEI and risk aversion not correlated with those of the other in the same group</a:t>
            </a:r>
            <a:r>
              <a:rPr lang="en-US" altLang="ko-KR" dirty="0">
                <a:solidFill>
                  <a:srgbClr val="C00000"/>
                </a:solidFill>
              </a:rPr>
              <a:t>.</a:t>
            </a:r>
            <a:endParaRPr lang="en-GB" altLang="ko-KR" sz="1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333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 Extension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Q1: Do more rational individuals make group decisions more rational?</a:t>
            </a: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Divide subjects into two groups 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w.r.t. individual CCEIs</a:t>
            </a:r>
          </a:p>
          <a:p>
            <a:pPr lvl="1"/>
            <a:endParaRPr lang="en-US" altLang="ko-KR" sz="1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High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ko-KR" sz="1600" b="1" dirty="0">
                <a:latin typeface="Times New Roman" pitchFamily="18" charset="0"/>
                <a:cs typeface="Times New Roman" pitchFamily="18" charset="0"/>
              </a:rPr>
              <a:t>Low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) group: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above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ko-KR" sz="1600" b="1" dirty="0">
                <a:latin typeface="Times New Roman" pitchFamily="18" charset="0"/>
                <a:cs typeface="Times New Roman" pitchFamily="18" charset="0"/>
              </a:rPr>
              <a:t>below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) the median of CCEI</a:t>
            </a:r>
          </a:p>
          <a:p>
            <a:pPr marL="0" indent="0">
              <a:buNone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ko-KR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63" y="3717032"/>
            <a:ext cx="3840488" cy="274320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3717032"/>
            <a:ext cx="3840488" cy="27432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63688" y="4509120"/>
            <a:ext cx="893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4208" y="4509120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568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 Extension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24D418A8-14D8-4322-E74B-A2AC5FB13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1415518"/>
            <a:ext cx="5894893" cy="41244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2C9D0F-0111-A311-CF27-53B82CE92AD3}"/>
              </a:ext>
            </a:extLst>
          </p:cNvPr>
          <p:cNvSpPr txBox="1"/>
          <p:nvPr/>
        </p:nvSpPr>
        <p:spPr>
          <a:xfrm>
            <a:off x="539552" y="5673832"/>
            <a:ext cx="8424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en-US" altLang="ko-KR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Collective CCEI increases in CCEI of a more rational individual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decreases in the difference between CCEIs of two individuals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even after controlling for preferences. 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907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22279-112E-4A02-1463-5322035F7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92C51-9D40-B958-7936-F92B9C6F0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Rationality-based Preference Aggregation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59729F-E711-A610-5198-3BC32A4F63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altLang="ko-KR" sz="20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Q2: Is the preference of the group closer to that of a more rational individual?</a:t>
                </a: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Individual with higher (lower) CCEI in the group: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h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high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US" altLang="ko-KR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𝑙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low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Compute the distance of risk tolerance between individual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</m:oMath>
                </a14:m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 and the group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59729F-E711-A610-5198-3BC32A4F63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758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F4346-9DAA-63E8-7E91-689311EA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95BC-0A60-CBFB-7999-B6F780BE6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Rationality-based Preference Aggregation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39340DEF-5079-2D18-FD35-39BD493DED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12"/>
          <a:stretch>
            <a:fillRect/>
          </a:stretch>
        </p:blipFill>
        <p:spPr>
          <a:xfrm>
            <a:off x="251520" y="2708920"/>
            <a:ext cx="4184142" cy="2659764"/>
          </a:xfrm>
          <a:prstGeom prst="rect">
            <a:avLst/>
          </a:prstGeom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444570C6-1C1D-CE73-D1C2-BC8EDDAED0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512"/>
          <a:stretch>
            <a:fillRect/>
          </a:stretch>
        </p:blipFill>
        <p:spPr>
          <a:xfrm>
            <a:off x="4708340" y="2708920"/>
            <a:ext cx="4184142" cy="26597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8B6559-ECA9-1C5A-43F3-36F641D6E1BC}"/>
              </a:ext>
            </a:extLst>
          </p:cNvPr>
          <p:cNvSpPr txBox="1"/>
          <p:nvPr/>
        </p:nvSpPr>
        <p:spPr>
          <a:xfrm>
            <a:off x="2483768" y="3645024"/>
            <a:ext cx="893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65FB34-379B-970B-861E-0CCE2F7CF451}"/>
              </a:ext>
            </a:extLst>
          </p:cNvPr>
          <p:cNvSpPr txBox="1"/>
          <p:nvPr/>
        </p:nvSpPr>
        <p:spPr>
          <a:xfrm>
            <a:off x="6948264" y="3761513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7800" y="5604568"/>
            <a:ext cx="77768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preference gap between a more rational individual and the group is smaller than that between a less rational individual and the group</a:t>
            </a:r>
            <a:r>
              <a:rPr lang="en-US" altLang="ko-KR" dirty="0">
                <a:solidFill>
                  <a:srgbClr val="C00000"/>
                </a:solidFill>
              </a:rPr>
              <a:t>.</a:t>
            </a:r>
            <a:endParaRPr lang="en-GB" altLang="ko-KR" sz="1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302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8877-3221-410A-06B1-C2F930DF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Rationality-based Preference Aggregation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46CAD86F-9D4A-DA75-1FF7-2699B414E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1484784"/>
            <a:ext cx="5531368" cy="40218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F9D6DE-B472-7E2B-6EB2-950DD240FE05}"/>
              </a:ext>
            </a:extLst>
          </p:cNvPr>
          <p:cNvSpPr txBox="1"/>
          <p:nvPr/>
        </p:nvSpPr>
        <p:spPr>
          <a:xfrm>
            <a:off x="539552" y="5673832"/>
            <a:ext cx="8424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en-US" altLang="ko-KR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Collective risk preference is closer to the individual risk preference of a more rational individual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416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Influence on Group Decisions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덧셈 기호 4"/>
          <p:cNvSpPr>
            <a:spLocks noChangeAspect="1"/>
          </p:cNvSpPr>
          <p:nvPr/>
        </p:nvSpPr>
        <p:spPr>
          <a:xfrm>
            <a:off x="3059832" y="3159966"/>
            <a:ext cx="486462" cy="489397"/>
          </a:xfrm>
          <a:prstGeom prst="mathPlus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1187624" y="2935953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00FF"/>
                </a:solidFill>
              </a:rPr>
              <a:t>Group</a:t>
            </a:r>
            <a:r>
              <a:rPr lang="en-US" altLang="ko-KR" sz="1400" dirty="0">
                <a:solidFill>
                  <a:schemeClr val="tx1"/>
                </a:solidFill>
              </a:rPr>
              <a:t> choices</a:t>
            </a:r>
            <a:endParaRPr lang="ko-KR" altLang="en-US" sz="140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3978342" y="2935953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Choices of </a:t>
            </a:r>
            <a:r>
              <a:rPr lang="en-US" altLang="ko-KR" sz="1400" dirty="0">
                <a:solidFill>
                  <a:srgbClr val="FF0000"/>
                </a:solidFill>
              </a:rPr>
              <a:t>more rational </a:t>
            </a:r>
            <a:r>
              <a:rPr lang="en-US" altLang="ko-KR" sz="1400" dirty="0">
                <a:solidFill>
                  <a:schemeClr val="tx1"/>
                </a:solidFill>
              </a:rPr>
              <a:t>individual</a:t>
            </a:r>
            <a:endParaRPr lang="ko-KR" altLang="en-US" sz="1400" dirty="0"/>
          </a:p>
        </p:txBody>
      </p:sp>
      <p:sp>
        <p:nvSpPr>
          <p:cNvPr id="9" name="오른쪽 화살표 8"/>
          <p:cNvSpPr>
            <a:spLocks noChangeAspect="1"/>
          </p:cNvSpPr>
          <p:nvPr/>
        </p:nvSpPr>
        <p:spPr>
          <a:xfrm>
            <a:off x="5940152" y="3244139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063479" y="3159966"/>
                <a:ext cx="1016047" cy="4250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CCEI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479" y="3159966"/>
                <a:ext cx="1016047" cy="425053"/>
              </a:xfrm>
              <a:prstGeom prst="rect">
                <a:avLst/>
              </a:prstGeom>
              <a:blipFill>
                <a:blip r:embed="rId3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덧셈 기호 10"/>
          <p:cNvSpPr>
            <a:spLocks noChangeAspect="1"/>
          </p:cNvSpPr>
          <p:nvPr/>
        </p:nvSpPr>
        <p:spPr>
          <a:xfrm>
            <a:off x="3061724" y="4692288"/>
            <a:ext cx="486462" cy="489397"/>
          </a:xfrm>
          <a:prstGeom prst="mathPlus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1189516" y="4468275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00FF"/>
                </a:solidFill>
              </a:rPr>
              <a:t>Group</a:t>
            </a:r>
            <a:r>
              <a:rPr lang="en-US" altLang="ko-KR" sz="1400" dirty="0">
                <a:solidFill>
                  <a:schemeClr val="tx1"/>
                </a:solidFill>
              </a:rPr>
              <a:t> choices</a:t>
            </a:r>
            <a:endParaRPr lang="ko-KR" altLang="en-US" sz="1400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3980234" y="4468275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Choices of </a:t>
            </a:r>
          </a:p>
          <a:p>
            <a:pPr algn="ctr"/>
            <a:r>
              <a:rPr lang="en-US" altLang="ko-KR" sz="1400" dirty="0">
                <a:solidFill>
                  <a:srgbClr val="FF0000"/>
                </a:solidFill>
              </a:rPr>
              <a:t>less rational </a:t>
            </a:r>
            <a:r>
              <a:rPr lang="en-US" altLang="ko-KR" sz="1400" dirty="0">
                <a:solidFill>
                  <a:schemeClr val="tx1"/>
                </a:solidFill>
              </a:rPr>
              <a:t>individual</a:t>
            </a:r>
            <a:endParaRPr lang="ko-KR" altLang="en-US" sz="1400" dirty="0"/>
          </a:p>
        </p:txBody>
      </p:sp>
      <p:sp>
        <p:nvSpPr>
          <p:cNvPr id="14" name="오른쪽 화살표 13"/>
          <p:cNvSpPr>
            <a:spLocks noChangeAspect="1"/>
          </p:cNvSpPr>
          <p:nvPr/>
        </p:nvSpPr>
        <p:spPr>
          <a:xfrm>
            <a:off x="5942044" y="4776461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065371" y="4692288"/>
                <a:ext cx="964751" cy="4250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CCEI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ko-KR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5371" y="4692288"/>
                <a:ext cx="964751" cy="425053"/>
              </a:xfrm>
              <a:prstGeom prst="rect">
                <a:avLst/>
              </a:prstGeom>
              <a:blipFill>
                <a:blip r:embed="rId4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57200" y="5681402"/>
                <a:ext cx="8229600" cy="945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Claim: If a more rational individual has a larger revealed influence on group data, </a:t>
                </a:r>
              </a:p>
              <a:p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</a:rPr>
                            <m:t>CCEI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</a:rPr>
                            <m:t>CCEI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ko-KR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681402"/>
                <a:ext cx="8229600" cy="945900"/>
              </a:xfrm>
              <a:prstGeom prst="rect">
                <a:avLst/>
              </a:prstGeom>
              <a:blipFill>
                <a:blip r:embed="rId5"/>
                <a:stretch>
                  <a:fillRect l="-593" t="-3871" b="-12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4C5345F-3CC4-ADCA-3317-F30E7940D6BA}"/>
              </a:ext>
            </a:extLst>
          </p:cNvPr>
          <p:cNvSpPr txBox="1"/>
          <p:nvPr/>
        </p:nvSpPr>
        <p:spPr>
          <a:xfrm>
            <a:off x="457200" y="1464334"/>
            <a:ext cx="8507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Revealed preference approach: how close an individual’s choices are to group choices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individual is said to </a:t>
            </a:r>
            <a:r>
              <a:rPr lang="en-US" altLang="ko-KR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a larger revealed influence on group data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her choice data is “closer” to the data of group choices. 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694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70BD1-9D98-DAF4-EE3D-04D26F437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70B6C-3E3C-5012-44B2-572597152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Validating the Concept of Revealed Influence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B056E9-0786-3117-CB99-8EA1B2BF7F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Suppose a portfolio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𝒙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ctrlPr>
                          <a:rPr lang="en-GB" altLang="ko-KR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ko-KR" sz="20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 is evaluated: </a:t>
                </a:r>
              </a:p>
              <a:p>
                <a:pPr marL="0" indent="0">
                  <a:buNone/>
                </a:pPr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1−</m:t>
                              </m:r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𝜌</m:t>
                              </m:r>
                            </m:sup>
                          </m:sSubSup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1−</m:t>
                          </m:r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𝜌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1−</m:t>
                              </m:r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𝜌</m:t>
                              </m:r>
                            </m:sup>
                          </m:sSubSup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1−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Stochastic choice function</a:t>
                </a:r>
              </a:p>
              <a:p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1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𝛾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𝑈</m:t>
                              </m:r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b="1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sup>
                          </m:sSup>
                        </m:num>
                        <m:den>
                          <m:nary>
                            <m:nary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𝒙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:</m:t>
                                  </m:r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𝒑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itchFamily="18" charset="0"/>
                                    </a:rPr>
                                    <m:t>∙</m:t>
                                  </m:r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itchFamily="18" charset="0"/>
                                    </a:rPr>
                                    <m:t>𝒙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itchFamily="18" charset="0"/>
                                    </a:rPr>
                                    <m:t>=1</m:t>
                                  </m:r>
                                </m:e>
                              </m:d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ko-KR" altLang="en-US" sz="20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𝛾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𝑈</m:t>
                                  </m:r>
                                  <m:d>
                                    <m:d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b="1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Simulate choice data with different values of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𝜌</m:t>
                    </m:r>
                  </m:oMath>
                </a14:m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𝛾</m:t>
                    </m:r>
                  </m:oMath>
                </a14:m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B056E9-0786-3117-CB99-8EA1B2BF7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3823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9E7D3-8C35-B29D-267B-80C524181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54BB-876B-C052-43D1-44EE3EE29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Validating the Concept of Revealed Influence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158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Influence on Group Decisions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24CB59AA-4C6C-4C57-A5A6-1D001D952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24" y="1846509"/>
            <a:ext cx="4307205" cy="2960370"/>
          </a:xfrm>
          <a:prstGeom prst="rect">
            <a:avLst/>
          </a:prstGeom>
        </p:spPr>
      </p:pic>
      <p:pic>
        <p:nvPicPr>
          <p:cNvPr id="5" name="Picture 1">
            <a:extLst>
              <a:ext uri="{FF2B5EF4-FFF2-40B4-BE49-F238E27FC236}">
                <a16:creationId xmlns:a16="http://schemas.microsoft.com/office/drawing/2014/main" id="{95626B2A-7010-4953-809A-38F07E490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846509"/>
            <a:ext cx="4307205" cy="29603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F9D6DE-B472-7E2B-6EB2-950DD240FE05}"/>
                  </a:ext>
                </a:extLst>
              </p:cNvPr>
              <p:cNvSpPr txBox="1"/>
              <p:nvPr/>
            </p:nvSpPr>
            <p:spPr>
              <a:xfrm>
                <a:off x="524103" y="5445224"/>
                <a:ext cx="8424936" cy="1222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frequency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CCEI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CCEI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72% in the baseline and 74% in the </a:t>
                </a:r>
                <a:r>
                  <a:rPr lang="en-US" altLang="ko-K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suggests that a revealed preference of a more rational individual is closer to that of the group, compared to that of a less rational individual. 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28F9D6DE-B472-7E2B-6EB2-950DD240F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03" y="5445224"/>
                <a:ext cx="8424936" cy="1222899"/>
              </a:xfrm>
              <a:prstGeom prst="rect">
                <a:avLst/>
              </a:prstGeom>
              <a:blipFill rotWithShape="0">
                <a:blip r:embed="rId5"/>
                <a:stretch>
                  <a:fillRect l="-507" t="-2488" b="-69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2619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Individual Influence on Group Decisions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375A954C-BFF9-4493-A7CB-35B813190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488" y="1629211"/>
            <a:ext cx="5907024" cy="405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911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0C9A9-BEC5-CFC2-E25A-E5D84A721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6348C-211A-94BB-56BB-8BB10BB7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Influence of More Rational Individuals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2DF73DB0-AFBB-C3C6-24CF-CAC911364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7" y="1628799"/>
            <a:ext cx="4912538" cy="40784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4">
                <a:extLst>
                  <a:ext uri="{FF2B5EF4-FFF2-40B4-BE49-F238E27FC236}">
                    <a16:creationId xmlns:a16="http://schemas.microsoft.com/office/drawing/2014/main" id="{E3CEAD5C-5BF9-4F40-B52C-A66FF7F17058}"/>
                  </a:ext>
                </a:extLst>
              </p:cNvPr>
              <p:cNvSpPr txBox="1"/>
              <p:nvPr/>
            </p:nvSpPr>
            <p:spPr>
              <a:xfrm>
                <a:off x="955029" y="5949280"/>
                <a:ext cx="7249933" cy="6914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of a less rational individuals’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CCEI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CCEI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0.799</m:t>
                    </m:r>
                  </m:oMath>
                </a14:m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average,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CCEI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10.9% higher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CCEI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within the same group.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4">
                <a:extLst>
                  <a:ext uri="{FF2B5EF4-FFF2-40B4-BE49-F238E27FC236}">
                    <a16:creationId xmlns="" xmlns:a14="http://schemas.microsoft.com/office/drawing/2010/main" xmlns:a16="http://schemas.microsoft.com/office/drawing/2014/main" xmlns:lc="http://schemas.openxmlformats.org/drawingml/2006/lockedCanvas" id="{E3CEAD5C-5BF9-4F40-B52C-A66FF7F17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029" y="5949280"/>
                <a:ext cx="7249933" cy="691471"/>
              </a:xfrm>
              <a:prstGeom prst="rect">
                <a:avLst/>
              </a:prstGeom>
              <a:blipFill rotWithShape="0">
                <a:blip r:embed="rId4"/>
                <a:stretch>
                  <a:fillRect l="-589" t="-5310" b="-97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1947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0643C-8153-B3EF-755B-577A8AEEC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E683A-8E88-E073-C299-19B3F9ED0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Individual Influence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71453E-CA7B-DF9F-3396-CF56FEC05B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We propose a revealed preference approach of measuring individual influence on group decisions. </a:t>
                </a:r>
              </a:p>
              <a:p>
                <a:pPr marL="0" indent="0">
                  <a:buNone/>
                </a:pPr>
                <a:endParaRPr lang="en-GB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altLang="ko-KR" sz="2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 b="0" i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 b="0" i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den>
                      </m:f>
                      <m:r>
                        <a:rPr lang="en-US" altLang="ko-KR" sz="2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                </m:t>
                      </m:r>
                    </m:oMath>
                  </m:oMathPara>
                </a14:m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sz="2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altLang="ko-KR" sz="220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h𝑙𝑔</m:t>
                              </m:r>
                            </m:sub>
                          </m:sSub>
                        </m:den>
                      </m:f>
                      <m:r>
                        <a:rPr lang="en-US" altLang="ko-KR" sz="2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                </m:t>
                      </m:r>
                    </m:oMath>
                  </m:oMathPara>
                </a14:m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b="1" u="sng" dirty="0">
                    <a:latin typeface="Times New Roman" pitchFamily="18" charset="0"/>
                    <a:cs typeface="Times New Roman" pitchFamily="18" charset="0"/>
                  </a:rPr>
                  <a:t>Revealed preference distance </a:t>
                </a: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between the group data and the combined data of group and </a:t>
                </a:r>
                <a:r>
                  <a:rPr lang="en-US" altLang="ko-KR" sz="20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more rational </a:t>
                </a: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altLang="ko-KR" sz="20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less rational</a:t>
                </a: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) individual choices, normalized by the distance between the group data and all combined data. </a:t>
                </a: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71453E-CA7B-DF9F-3396-CF56FEC05B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B7A5081-094C-89EF-C0D5-9CC68B60F9D3}"/>
              </a:ext>
            </a:extLst>
          </p:cNvPr>
          <p:cNvSpPr txBox="1"/>
          <p:nvPr/>
        </p:nvSpPr>
        <p:spPr>
          <a:xfrm>
            <a:off x="5940152" y="2852936"/>
            <a:ext cx="2423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rational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2E363-7B3F-6D25-C314-E18F763EBD42}"/>
              </a:ext>
            </a:extLst>
          </p:cNvPr>
          <p:cNvSpPr txBox="1"/>
          <p:nvPr/>
        </p:nvSpPr>
        <p:spPr>
          <a:xfrm>
            <a:off x="5964150" y="3933056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rational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441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F0E38-3892-8F61-C85E-B320154A9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034EB-4E0F-1CC9-5092-E0E7BD2C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Individual Influence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3856E6-F450-23B4-B90D-EBC7DF443C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These revealed preference distance measures,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altLang="ko-KR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, range between 0 and 1. </a:t>
                </a:r>
              </a:p>
              <a:p>
                <a:endParaRPr lang="en-GB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altLang="ko-KR" sz="1800" dirty="0">
                    <a:latin typeface="Times New Roman" pitchFamily="18" charset="0"/>
                    <a:cs typeface="Times New Roman" pitchFamily="18" charset="0"/>
                  </a:rPr>
                  <a:t>The closer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altLang="ko-KR" sz="1800" dirty="0">
                    <a:latin typeface="Times New Roman" pitchFamily="18" charset="0"/>
                    <a:cs typeface="Times New Roman" pitchFamily="18" charset="0"/>
                  </a:rPr>
                  <a:t> is to zero, the choice data of more rational individual are consistent with the group choice data. </a:t>
                </a:r>
              </a:p>
              <a:p>
                <a:pPr lvl="1"/>
                <a:endParaRPr lang="en-US" altLang="ko-KR" sz="18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⟺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0">
                            <a:latin typeface="Cambria Math" panose="02040503050406030204" pitchFamily="18" charset="0"/>
                          </a:rPr>
                          <m:t>CCEI</m:t>
                        </m:r>
                      </m:e>
                      <m:sub>
                        <m:r>
                          <a:rPr lang="en-US" altLang="ko-KR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sz="1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0">
                            <a:latin typeface="Cambria Math" panose="02040503050406030204" pitchFamily="18" charset="0"/>
                          </a:rPr>
                          <m:t>CCEI</m:t>
                        </m:r>
                      </m:e>
                      <m:sub>
                        <m:r>
                          <a:rPr lang="en-US" altLang="ko-KR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1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endParaRPr lang="en-GB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These indices are not defined when</a:t>
                </a:r>
              </a:p>
              <a:p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All three datasets have a common preference; or</a:t>
                </a: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The group data contains the most severe violation of GARP </a:t>
                </a:r>
              </a:p>
              <a:p>
                <a:pPr lvl="1"/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About 50 pairs in each of baseline and endline samples</a:t>
                </a: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3856E6-F450-23B4-B90D-EBC7DF443C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7551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4575-77C3-1853-0D48-E8F40A75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5244-84BF-0A31-7711-9972FA67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Influence of More Rational Individual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2D9918-99C2-3151-64E4-7B08D1795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" y="1920240"/>
            <a:ext cx="4430268" cy="3017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798B2B-E6C2-B7A4-B6EE-407EE8A87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20240"/>
            <a:ext cx="4430268" cy="3017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/>
              <p:nvPr/>
            </p:nvSpPr>
            <p:spPr>
              <a:xfrm>
                <a:off x="827584" y="5589240"/>
                <a:ext cx="6796669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average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0.368 in the baseline and 0.299 in the </a:t>
                </a:r>
                <a:r>
                  <a:rPr lang="en-US" altLang="ko-K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B2DF262C-4474-2B12-58F7-D9BADE9C9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589240"/>
                <a:ext cx="6796669" cy="391902"/>
              </a:xfrm>
              <a:prstGeom prst="rect">
                <a:avLst/>
              </a:prstGeom>
              <a:blipFill rotWithShape="0">
                <a:blip r:embed="rId5"/>
                <a:stretch>
                  <a:fillRect l="-628" t="-9375" b="-18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7309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20E93-C4D7-CBDE-606C-A6B75A80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F5CE0-B215-4989-F1E9-6DF3C78B3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Influence of Less Rational Individual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112333FB-37C9-4795-C938-3F3397ADD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8" y="1988840"/>
            <a:ext cx="4430268" cy="301752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AAA2891-8791-FF98-C48A-100E29C09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354" y="1988840"/>
            <a:ext cx="4430268" cy="3017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81F6E0-0872-940C-E29D-A485C02AD36F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6751785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average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0.781 in the baseline and 0.774 in the </a:t>
                </a:r>
                <a:r>
                  <a:rPr lang="en-US" altLang="ko-K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A681F6E0-0872-940C-E29D-A485C02A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6751785" cy="391902"/>
              </a:xfrm>
              <a:prstGeom prst="rect">
                <a:avLst/>
              </a:prstGeom>
              <a:blipFill rotWithShape="0">
                <a:blip r:embed="rId5"/>
                <a:stretch>
                  <a:fillRect l="-632" t="-7692" b="-169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5820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AD0AA-AB5E-2B25-792E-D44F51DB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9F9A-47B5-F32C-683E-AC712FCBC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Influence of More Rational Individuals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7951767B-B31A-F9EF-9730-C68C5F68C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1556792"/>
            <a:ext cx="4822704" cy="41796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4">
                <a:extLst>
                  <a:ext uri="{FF2B5EF4-FFF2-40B4-BE49-F238E27FC236}">
                    <a16:creationId xmlns:a16="http://schemas.microsoft.com/office/drawing/2014/main" id="{889D783C-C2A8-EA3C-9675-531A873DB2BA}"/>
                  </a:ext>
                </a:extLst>
              </p:cNvPr>
              <p:cNvSpPr txBox="1"/>
              <p:nvPr/>
            </p:nvSpPr>
            <p:spPr>
              <a:xfrm>
                <a:off x="797980" y="5949280"/>
                <a:ext cx="7086388" cy="691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of a less rational individuals’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0.777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average,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57.1% lower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within the same group.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4">
                <a:extLst>
                  <a:ext uri="{FF2B5EF4-FFF2-40B4-BE49-F238E27FC236}">
                    <a16:creationId xmlns="" xmlns:a14="http://schemas.microsoft.com/office/drawing/2010/main" xmlns:a16="http://schemas.microsoft.com/office/drawing/2014/main" xmlns:lc="http://schemas.openxmlformats.org/drawingml/2006/lockedCanvas" id="{889D783C-C2A8-EA3C-9675-531A873DB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980" y="5949280"/>
                <a:ext cx="7086388" cy="691471"/>
              </a:xfrm>
              <a:prstGeom prst="rect">
                <a:avLst/>
              </a:prstGeom>
              <a:blipFill rotWithShape="0">
                <a:blip r:embed="rId4"/>
                <a:stretch>
                  <a:fillRect l="-602" t="-5310" b="-97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78404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Large-scale, panel experiments about individual and group decision-making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Random group formation leads to infer the effects of individual rationality on the quality of and individual influences on group decisions.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Provide a nonparametric, revealed preference measure of individual influences on group decisions. </a:t>
            </a:r>
          </a:p>
          <a:p>
            <a:pPr marL="457200" lvl="1" indent="0">
              <a:buNone/>
            </a:pPr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Findings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The quality of group decisions increases in individual rationality and decreases in the difference in individual rationalities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A more rational individual has a larger revealed influence on </a:t>
            </a:r>
            <a:r>
              <a:rPr lang="en-US" altLang="ko-KR" sz="1600">
                <a:latin typeface="Times New Roman" pitchFamily="18" charset="0"/>
                <a:cs typeface="Times New Roman" pitchFamily="18" charset="0"/>
              </a:rPr>
              <a:t>group decision-making. </a:t>
            </a:r>
            <a:endParaRPr lang="en-US" altLang="ko-KR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341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12822</TotalTime>
  <Words>1375</Words>
  <Application>Microsoft Office PowerPoint</Application>
  <PresentationFormat>화면 슬라이드 쇼(4:3)</PresentationFormat>
  <Paragraphs>221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Arial</vt:lpstr>
      <vt:lpstr>Calibri</vt:lpstr>
      <vt:lpstr>Cambria Math</vt:lpstr>
      <vt:lpstr>Times</vt:lpstr>
      <vt:lpstr>Times New Roman</vt:lpstr>
      <vt:lpstr>Office Theme</vt:lpstr>
      <vt:lpstr>Aggregation of Rationality and Preferences in Group Decisions: A Panel Experiment</vt:lpstr>
      <vt:lpstr>Introduction</vt:lpstr>
      <vt:lpstr>In This Paper</vt:lpstr>
      <vt:lpstr>Sampling</vt:lpstr>
      <vt:lpstr>Decision Problem</vt:lpstr>
      <vt:lpstr>Experimental Procedures</vt:lpstr>
      <vt:lpstr>Measuring Rationality</vt:lpstr>
      <vt:lpstr>Measuring Risk Preferences</vt:lpstr>
      <vt:lpstr>Balance Test</vt:lpstr>
      <vt:lpstr>Rationality Extension</vt:lpstr>
      <vt:lpstr>Rationality Extension</vt:lpstr>
      <vt:lpstr>Rationality-based Preference Aggregation</vt:lpstr>
      <vt:lpstr>Rationality-based Preference Aggregation</vt:lpstr>
      <vt:lpstr>Rationality-based Preference Aggregation</vt:lpstr>
      <vt:lpstr>Revealed Influence on Group Decisions</vt:lpstr>
      <vt:lpstr>Validating the Concept of Revealed Influence</vt:lpstr>
      <vt:lpstr>Validating the Concept of Revealed Influence</vt:lpstr>
      <vt:lpstr>Revealed Influence on Group Decisions</vt:lpstr>
      <vt:lpstr>Individual Influence on Group Decisions</vt:lpstr>
      <vt:lpstr>Revealed Influence of More Rational Individuals</vt:lpstr>
      <vt:lpstr>Revealed Individual Influence</vt:lpstr>
      <vt:lpstr>Revealed Individual Influence</vt:lpstr>
      <vt:lpstr>Revealed Influence of More Rational Individual</vt:lpstr>
      <vt:lpstr>Revealed Influence of Less Rational Individual</vt:lpstr>
      <vt:lpstr>Revealed Influence of More Rational Individuals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Formation in Large Groups: New Tool and Applications</dc:title>
  <dc:creator>Choi Syngjoo</dc:creator>
  <cp:lastModifiedBy>Syngjoo Choi</cp:lastModifiedBy>
  <cp:revision>368</cp:revision>
  <cp:lastPrinted>2020-09-11T00:36:22Z</cp:lastPrinted>
  <dcterms:created xsi:type="dcterms:W3CDTF">2019-11-29T16:58:42Z</dcterms:created>
  <dcterms:modified xsi:type="dcterms:W3CDTF">2025-06-24T14:18:38Z</dcterms:modified>
</cp:coreProperties>
</file>