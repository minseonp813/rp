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929" r:id="rId2"/>
    <p:sldId id="930" r:id="rId3"/>
    <p:sldId id="932" r:id="rId4"/>
    <p:sldId id="935" r:id="rId5"/>
    <p:sldId id="933" r:id="rId6"/>
    <p:sldId id="934" r:id="rId7"/>
    <p:sldId id="936" r:id="rId8"/>
    <p:sldId id="950" r:id="rId9"/>
    <p:sldId id="954" r:id="rId10"/>
    <p:sldId id="937" r:id="rId11"/>
    <p:sldId id="938" r:id="rId12"/>
    <p:sldId id="951" r:id="rId13"/>
    <p:sldId id="952" r:id="rId14"/>
    <p:sldId id="949" r:id="rId15"/>
    <p:sldId id="939" r:id="rId16"/>
    <p:sldId id="942" r:id="rId17"/>
    <p:sldId id="945" r:id="rId18"/>
    <p:sldId id="943" r:id="rId19"/>
    <p:sldId id="957" r:id="rId20"/>
    <p:sldId id="958" r:id="rId21"/>
    <p:sldId id="956" r:id="rId22"/>
    <p:sldId id="944" r:id="rId23"/>
    <p:sldId id="948" r:id="rId24"/>
    <p:sldId id="955" r:id="rId25"/>
  </p:sldIdLst>
  <p:sldSz cx="9144000" cy="6858000" type="screen4x3"/>
  <p:notesSz cx="7099300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D70BE3D-FFC4-2C1A-84C9-38001BC16696}" name="Syngjoo Choi" initials="SC" userId="88f896864aa6879d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ungik" initials="E" lastIdx="2" clrIdx="0">
    <p:extLst>
      <p:ext uri="{19B8F6BF-5375-455C-9EA6-DF929625EA0E}">
        <p15:presenceInfo xmlns:p15="http://schemas.microsoft.com/office/powerpoint/2012/main" userId="Eungik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DA63"/>
    <a:srgbClr val="FAAB9A"/>
    <a:srgbClr val="617186"/>
    <a:srgbClr val="FF5050"/>
    <a:srgbClr val="E99833"/>
    <a:srgbClr val="FF73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E25E649-3F16-4E02-A733-19D2CDBF48F0}" styleName="보통 스타일 3 - 강조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964" autoAdjust="0"/>
    <p:restoredTop sz="50067" autoAdjust="0"/>
  </p:normalViewPr>
  <p:slideViewPr>
    <p:cSldViewPr>
      <p:cViewPr varScale="1">
        <p:scale>
          <a:sx n="105" d="100"/>
          <a:sy n="105" d="100"/>
        </p:scale>
        <p:origin x="644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0259D6-D95A-A642-B04C-599C4F6BFD72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6188" y="1279525"/>
            <a:ext cx="4606925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613" y="4926013"/>
            <a:ext cx="5680075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B56EE9-0783-8540-B302-D98D03794C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8719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2360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1558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4889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9611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1483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4087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4186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82DCB-5C0F-2C14-4116-E0F4EC72F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143947D-5F9C-3E3E-96E7-DB6E2E8311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59288ED-2AD8-DF0D-8053-D349A84184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C24921-0CE6-CD08-E30E-F19C229560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9346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3046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0298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1237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4EF1F4-ABE0-AF9D-F23E-C213E222F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29312C0-BAED-5CAD-7C77-B9DA6CE43B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6F3A5FC-BCD5-10DF-7461-33F47EB66D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1A4CDB-1ED3-713F-0BB8-EABA55DBBE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6529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D482CE-6BD2-A2D8-6D73-26EE86F20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297BDE3-1965-2020-14E9-332A590027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2FBC2B6-C305-E10A-0DE2-5B373BEF0C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CEC254B-611B-0DE5-EDCD-DE85046732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81746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39A24-844A-9875-BAA3-DEAA24E82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37B48A2-E1BD-8699-FA44-C052704411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D59DDEF-09E3-896F-A469-607FE58E88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947AF2-F53B-0C7A-4A3C-160F8107C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9795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56210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5B3513-BB57-1983-1465-A6C3E7007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B50A8BA-00E3-F63C-BC7C-66542DCF92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5DAC00D-A93F-214A-5973-0532630B32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D2B44F1-8805-E7C0-4006-1A907C2616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5031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12E54-38B1-6741-0EA7-EC35F7BDA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672409A-3EE7-2D70-0DBC-9B6AEA9EC7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0A7DA6B-94E5-391A-6E54-C97242ABC2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959C444-3815-A8E0-EB81-FFEEB711B3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83336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8726F-690B-8838-D15E-D26DD323E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DFD8F57-7A4F-BF92-34FD-E61EDD3DEA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76FC163-66FF-2404-82BE-F45A0EF18B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2BFF194-73DB-52E1-7A2C-2E2C28313F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32676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8726F-690B-8838-D15E-D26DD323E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DFD8F57-7A4F-BF92-34FD-E61EDD3DEA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76FC163-66FF-2404-82BE-F45A0EF18B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2BFF194-73DB-52E1-7A2C-2E2C28313F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24450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5DDA3-4CEB-4769-8C97-691FC7919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AF33E9B-F497-05C2-73EC-AC4988A3B5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0F92422-DD77-B6EC-E860-E56B7B405A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6880DC-9F4C-4A1C-8A22-07177024D6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12534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8726F-690B-8838-D15E-D26DD323E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DFD8F57-7A4F-BF92-34FD-E61EDD3DEA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76FC163-66FF-2404-82BE-F45A0EF18B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2BFF194-73DB-52E1-7A2C-2E2C28313F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41979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571C08-9572-0A74-9680-BDC323205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DE104A8-1C3F-72BC-7797-91FB434E88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EC540B6-8A86-F555-C354-BFC5A68BA4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A039ED3-BF4D-3814-D1B5-F893116090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91682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99E0A-552C-C8D7-E3F1-FCA8BB2AB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D6810C5-0039-38AE-3627-546121313E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D05BCF4-3B26-09C2-BDFB-6D47311F01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5BC16B-1D9A-7000-4596-3F4A9BC22E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99952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2141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E123-D8C4-4447-B39B-CB6328F8A714}" type="datetimeFigureOut">
              <a:rPr lang="en-GB" smtClean="0"/>
              <a:pPr/>
              <a:t>27/06/2025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774A-2067-4F97-BD1D-9A47AE00FB6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5788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E123-D8C4-4447-B39B-CB6328F8A714}" type="datetimeFigureOut">
              <a:rPr lang="en-GB" smtClean="0"/>
              <a:pPr/>
              <a:t>27/06/2025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774A-2067-4F97-BD1D-9A47AE00FB6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5608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E123-D8C4-4447-B39B-CB6328F8A714}" type="datetimeFigureOut">
              <a:rPr lang="en-GB" smtClean="0"/>
              <a:pPr/>
              <a:t>27/06/2025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774A-2067-4F97-BD1D-9A47AE00FB6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19187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E123-D8C4-4447-B39B-CB6328F8A714}" type="datetimeFigureOut">
              <a:rPr lang="en-GB" smtClean="0"/>
              <a:pPr/>
              <a:t>27/06/2025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774A-2067-4F97-BD1D-9A47AE00FB6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55689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E123-D8C4-4447-B39B-CB6328F8A714}" type="datetimeFigureOut">
              <a:rPr lang="en-GB" smtClean="0"/>
              <a:pPr/>
              <a:t>27/06/2025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774A-2067-4F97-BD1D-9A47AE00FB6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8586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E123-D8C4-4447-B39B-CB6328F8A714}" type="datetimeFigureOut">
              <a:rPr lang="en-GB" smtClean="0"/>
              <a:pPr/>
              <a:t>27/06/2025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774A-2067-4F97-BD1D-9A47AE00FB6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4543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E123-D8C4-4447-B39B-CB6328F8A714}" type="datetimeFigureOut">
              <a:rPr lang="en-GB" smtClean="0"/>
              <a:pPr/>
              <a:t>27/06/2025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774A-2067-4F97-BD1D-9A47AE00FB6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17072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E123-D8C4-4447-B39B-CB6328F8A714}" type="datetimeFigureOut">
              <a:rPr lang="en-GB" smtClean="0"/>
              <a:pPr/>
              <a:t>27/06/2025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774A-2067-4F97-BD1D-9A47AE00FB6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2920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E123-D8C4-4447-B39B-CB6328F8A714}" type="datetimeFigureOut">
              <a:rPr lang="en-GB" smtClean="0"/>
              <a:pPr/>
              <a:t>27/06/2025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774A-2067-4F97-BD1D-9A47AE00FB6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68139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E123-D8C4-4447-B39B-CB6328F8A714}" type="datetimeFigureOut">
              <a:rPr lang="en-GB" smtClean="0"/>
              <a:pPr/>
              <a:t>27/06/2025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774A-2067-4F97-BD1D-9A47AE00FB6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96266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E123-D8C4-4447-B39B-CB6328F8A714}" type="datetimeFigureOut">
              <a:rPr lang="en-GB" smtClean="0"/>
              <a:pPr/>
              <a:t>27/06/2025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774A-2067-4F97-BD1D-9A47AE00FB6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8810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89E123-D8C4-4447-B39B-CB6328F8A714}" type="datetimeFigureOut">
              <a:rPr lang="en-GB" smtClean="0"/>
              <a:pPr/>
              <a:t>27/06/2025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B6774A-2067-4F97-BD1D-9A47AE00FB6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9417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0.png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0.png"/><Relationship Id="rId4" Type="http://schemas.openxmlformats.org/officeDocument/2006/relationships/image" Target="../media/image2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7543" y="1124744"/>
            <a:ext cx="8208912" cy="2088232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Rationality-Based </a:t>
            </a:r>
            <a:br>
              <a:rPr 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Preference Aggregation</a:t>
            </a:r>
            <a:endParaRPr lang="en-GB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67744" y="5661248"/>
            <a:ext cx="480291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dirty="0">
                <a:solidFill>
                  <a:srgbClr val="0000FF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June 28, 2025</a:t>
            </a:r>
          </a:p>
          <a:p>
            <a:pPr algn="ctr"/>
            <a:r>
              <a:rPr lang="en-US" altLang="ko-KR" sz="2000" dirty="0">
                <a:solidFill>
                  <a:srgbClr val="0000FF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The Science of Decision Making Conference</a:t>
            </a: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960394"/>
              </p:ext>
            </p:extLst>
          </p:nvPr>
        </p:nvGraphicFramePr>
        <p:xfrm>
          <a:off x="1259632" y="3789040"/>
          <a:ext cx="6624735" cy="140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82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82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082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851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Syngjoo Choi</a:t>
                      </a:r>
                    </a:p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(SNU)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Byunghun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Hahn</a:t>
                      </a:r>
                    </a:p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(SNU)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Booyuel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Kim</a:t>
                      </a:r>
                    </a:p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(SNU)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56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Minseon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Park</a:t>
                      </a:r>
                    </a:p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(Michigan)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Yoonsoo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Park</a:t>
                      </a:r>
                    </a:p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(SMU)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Euncheol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Shin</a:t>
                      </a:r>
                    </a:p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(KAIST)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20294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Introduction</a:t>
            </a:r>
            <a:endParaRPr lang="en-GB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rmAutofit/>
          </a:bodyPr>
          <a:lstStyle/>
          <a:p>
            <a:r>
              <a:rPr lang="en-US" altLang="ko-KR" sz="2000" dirty="0">
                <a:latin typeface="Times New Roman" pitchFamily="18" charset="0"/>
                <a:cs typeface="Times New Roman" pitchFamily="18" charset="0"/>
              </a:rPr>
              <a:t>Long-standing interests in group decision making</a:t>
            </a:r>
          </a:p>
          <a:p>
            <a:endParaRPr lang="en-US" altLang="ko-KR" sz="2000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altLang="ko-KR" sz="1600" dirty="0">
                <a:latin typeface="Times New Roman" pitchFamily="18" charset="0"/>
                <a:cs typeface="Times New Roman" pitchFamily="18" charset="0"/>
              </a:rPr>
              <a:t>Households (e.g., </a:t>
            </a:r>
            <a:r>
              <a:rPr lang="en-US" altLang="ko-KR" sz="1600" dirty="0" err="1">
                <a:latin typeface="Times New Roman" pitchFamily="18" charset="0"/>
                <a:cs typeface="Times New Roman" pitchFamily="18" charset="0"/>
              </a:rPr>
              <a:t>McEloy</a:t>
            </a:r>
            <a:r>
              <a:rPr lang="en-US" altLang="ko-KR" sz="1600" dirty="0">
                <a:latin typeface="Times New Roman" pitchFamily="18" charset="0"/>
                <a:cs typeface="Times New Roman" pitchFamily="18" charset="0"/>
              </a:rPr>
              <a:t> and Horney, 1981; </a:t>
            </a:r>
            <a:r>
              <a:rPr lang="en-US" altLang="ko-KR" sz="1600" dirty="0" err="1">
                <a:latin typeface="Times New Roman" pitchFamily="18" charset="0"/>
                <a:cs typeface="Times New Roman" pitchFamily="18" charset="0"/>
              </a:rPr>
              <a:t>Chiappori</a:t>
            </a:r>
            <a:r>
              <a:rPr lang="en-US" altLang="ko-KR" sz="1600" dirty="0">
                <a:latin typeface="Times New Roman" pitchFamily="18" charset="0"/>
                <a:cs typeface="Times New Roman" pitchFamily="18" charset="0"/>
              </a:rPr>
              <a:t>, 1992; Lundberg and Pollak, 1996); </a:t>
            </a:r>
          </a:p>
          <a:p>
            <a:pPr lvl="1"/>
            <a:r>
              <a:rPr lang="en-US" altLang="ko-KR" sz="1600" dirty="0">
                <a:latin typeface="Times New Roman" pitchFamily="18" charset="0"/>
                <a:cs typeface="Times New Roman" pitchFamily="18" charset="0"/>
              </a:rPr>
              <a:t>Committees (</a:t>
            </a:r>
            <a:r>
              <a:rPr lang="en-US" altLang="ko-KR" sz="1600" dirty="0" err="1">
                <a:latin typeface="Times New Roman" pitchFamily="18" charset="0"/>
                <a:cs typeface="Times New Roman" pitchFamily="18" charset="0"/>
              </a:rPr>
              <a:t>e.g</a:t>
            </a:r>
            <a:r>
              <a:rPr lang="en-US" altLang="ko-KR" sz="1600" dirty="0">
                <a:latin typeface="Times New Roman" pitchFamily="18" charset="0"/>
                <a:cs typeface="Times New Roman" pitchFamily="18" charset="0"/>
              </a:rPr>
              <a:t>,, Austen-Smith and Banks, 1996; Feddersen and </a:t>
            </a:r>
            <a:r>
              <a:rPr lang="en-US" altLang="ko-KR" sz="1600" dirty="0" err="1">
                <a:latin typeface="Times New Roman" pitchFamily="18" charset="0"/>
                <a:cs typeface="Times New Roman" pitchFamily="18" charset="0"/>
              </a:rPr>
              <a:t>Pesendorfer</a:t>
            </a:r>
            <a:r>
              <a:rPr lang="en-US" altLang="ko-KR" sz="1600" dirty="0">
                <a:latin typeface="Times New Roman" pitchFamily="18" charset="0"/>
                <a:cs typeface="Times New Roman" pitchFamily="18" charset="0"/>
              </a:rPr>
              <a:t>, 1998))</a:t>
            </a:r>
          </a:p>
          <a:p>
            <a:pPr lvl="1"/>
            <a:r>
              <a:rPr lang="en-US" altLang="ko-KR" sz="1600" dirty="0">
                <a:latin typeface="Times New Roman" pitchFamily="18" charset="0"/>
                <a:cs typeface="Times New Roman" pitchFamily="18" charset="0"/>
              </a:rPr>
              <a:t>Social choice theory (e.g., Arrow, 1951; Sen, 1970), etc.</a:t>
            </a:r>
          </a:p>
          <a:p>
            <a:pPr marL="0" indent="0">
              <a:buNone/>
            </a:pPr>
            <a:endParaRPr lang="en-US" altLang="ko-KR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ko-KR" sz="2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Individual rationality</a:t>
            </a:r>
            <a:r>
              <a:rPr lang="en-US" altLang="ko-KR" sz="2000" dirty="0">
                <a:latin typeface="Times New Roman" pitchFamily="18" charset="0"/>
                <a:cs typeface="Times New Roman" pitchFamily="18" charset="0"/>
              </a:rPr>
              <a:t> is a foundational assumption in understanding group decision making. </a:t>
            </a:r>
          </a:p>
          <a:p>
            <a:pPr marL="0" indent="0">
              <a:buNone/>
            </a:pPr>
            <a:endParaRPr lang="en-US" altLang="ko-KR" sz="2000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GB" altLang="ko-KR" sz="1600" dirty="0">
                <a:latin typeface="Times New Roman" pitchFamily="18" charset="0"/>
                <a:cs typeface="Times New Roman" pitchFamily="18" charset="0"/>
              </a:rPr>
              <a:t>Various determinants of group decision-making: </a:t>
            </a:r>
            <a:r>
              <a:rPr lang="en-US" altLang="ko-KR" sz="1600" dirty="0">
                <a:latin typeface="Times New Roman" pitchFamily="18" charset="0"/>
                <a:cs typeface="Times New Roman" pitchFamily="18" charset="0"/>
              </a:rPr>
              <a:t>outside options, information and resources controlled, rules of interaction</a:t>
            </a:r>
            <a:r>
              <a:rPr lang="en-US" altLang="ko-KR" sz="1800" dirty="0">
                <a:latin typeface="Times New Roman" pitchFamily="18" charset="0"/>
                <a:cs typeface="Times New Roman" pitchFamily="18" charset="0"/>
              </a:rPr>
              <a:t>, etc.</a:t>
            </a:r>
          </a:p>
          <a:p>
            <a:pPr lvl="1"/>
            <a:endParaRPr lang="en-US" altLang="ko-KR" sz="1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ko-KR" sz="2000" dirty="0">
                <a:latin typeface="Times New Roman" pitchFamily="18" charset="0"/>
                <a:cs typeface="Times New Roman" pitchFamily="18" charset="0"/>
              </a:rPr>
              <a:t>We claim that </a:t>
            </a:r>
            <a:r>
              <a:rPr lang="en-US" altLang="ko-KR" sz="20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the degree of individual rationality is one source of </a:t>
            </a:r>
            <a:r>
              <a:rPr lang="en-US" altLang="ko-KR" sz="2000" dirty="0">
                <a:latin typeface="Times New Roman" pitchFamily="18" charset="0"/>
                <a:cs typeface="Times New Roman" pitchFamily="18" charset="0"/>
              </a:rPr>
              <a:t>(1)</a:t>
            </a:r>
            <a:r>
              <a:rPr lang="en-US" altLang="ko-KR" sz="20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 the quality of group decision-making</a:t>
            </a:r>
            <a:r>
              <a:rPr lang="en-US" altLang="ko-KR" sz="2000" dirty="0">
                <a:latin typeface="Times New Roman" pitchFamily="18" charset="0"/>
                <a:cs typeface="Times New Roman" pitchFamily="18" charset="0"/>
              </a:rPr>
              <a:t> and (2) </a:t>
            </a:r>
            <a:r>
              <a:rPr lang="en-US" altLang="ko-KR" sz="20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individual influence on it</a:t>
            </a:r>
            <a:r>
              <a:rPr lang="en-US" altLang="ko-KR" sz="2000" dirty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marL="0" indent="0">
              <a:buNone/>
            </a:pPr>
            <a:endParaRPr lang="en-US" altLang="ko-KR" sz="2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58483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In This Paper</a:t>
            </a:r>
            <a:endParaRPr lang="en-GB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altLang="ko-KR" sz="2000" dirty="0">
                <a:latin typeface="Times New Roman" pitchFamily="18" charset="0"/>
                <a:cs typeface="Times New Roman" pitchFamily="18" charset="0"/>
              </a:rPr>
              <a:t>Conduct large-scale panel experiments over two periods with a four-month interval</a:t>
            </a:r>
          </a:p>
          <a:p>
            <a:endParaRPr lang="en-GB" altLang="ko-KR" sz="2000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GB" altLang="ko-KR" sz="1600" dirty="0">
                <a:latin typeface="Times New Roman" pitchFamily="18" charset="0"/>
                <a:cs typeface="Times New Roman" pitchFamily="18" charset="0"/>
              </a:rPr>
              <a:t>Over 1,300 (final sample) individuals are randomly paired to make </a:t>
            </a:r>
            <a:r>
              <a:rPr lang="en-GB" altLang="ko-KR" sz="16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individual and group decisions </a:t>
            </a:r>
            <a:r>
              <a:rPr lang="en-GB" altLang="ko-KR" sz="1600" dirty="0">
                <a:latin typeface="Times New Roman" pitchFamily="18" charset="0"/>
                <a:cs typeface="Times New Roman" pitchFamily="18" charset="0"/>
              </a:rPr>
              <a:t>in a portfolio allocation problem</a:t>
            </a:r>
          </a:p>
          <a:p>
            <a:pPr lvl="1"/>
            <a:endParaRPr lang="en-GB" altLang="ko-KR" sz="1600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GB" altLang="ko-KR" sz="1600" dirty="0">
                <a:latin typeface="Times New Roman" pitchFamily="18" charset="0"/>
                <a:cs typeface="Times New Roman" pitchFamily="18" charset="0"/>
              </a:rPr>
              <a:t>Collect rich individual- and collective-level data suited to applying revealed preference analysis</a:t>
            </a:r>
          </a:p>
          <a:p>
            <a:pPr marL="0" indent="0">
              <a:buNone/>
            </a:pPr>
            <a:endParaRPr lang="en-US" altLang="ko-KR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ko-KR" sz="2000" dirty="0">
                <a:latin typeface="Times New Roman" pitchFamily="18" charset="0"/>
                <a:cs typeface="Times New Roman" pitchFamily="18" charset="0"/>
              </a:rPr>
              <a:t>Propose a nonparametric, revealed preference measure of individual power on group decision making </a:t>
            </a:r>
          </a:p>
          <a:p>
            <a:endParaRPr lang="en-US" altLang="ko-KR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ko-KR" sz="2000" dirty="0">
                <a:latin typeface="Times New Roman" pitchFamily="18" charset="0"/>
                <a:cs typeface="Times New Roman" pitchFamily="18" charset="0"/>
              </a:rPr>
              <a:t>Make a causal inference on the effect of individual rationality on group outcomes. </a:t>
            </a:r>
          </a:p>
          <a:p>
            <a:endParaRPr lang="en-US" altLang="ko-KR" sz="2200" dirty="0">
              <a:latin typeface="Times New Roman" pitchFamily="18" charset="0"/>
              <a:cs typeface="Times New Roman" pitchFamily="18" charset="0"/>
            </a:endParaRPr>
          </a:p>
          <a:p>
            <a:pPr lvl="1"/>
            <a:endParaRPr lang="en-US" altLang="ko-KR" sz="1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altLang="ko-KR" sz="2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75232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Sampling</a:t>
            </a:r>
            <a:endParaRPr lang="en-GB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altLang="ko-KR" sz="2000" dirty="0">
                <a:latin typeface="Times New Roman" pitchFamily="18" charset="0"/>
                <a:cs typeface="Times New Roman" pitchFamily="18" charset="0"/>
              </a:rPr>
              <a:t>1,572 students from 12 middle schools in South Korea in the baseline study (in August); 1,468 revisited in the endline study (in December) </a:t>
            </a:r>
          </a:p>
          <a:p>
            <a:pPr marL="0" indent="0">
              <a:buNone/>
            </a:pPr>
            <a:endParaRPr lang="en-GB" altLang="ko-KR" sz="22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ko-KR" sz="2000" dirty="0">
                <a:latin typeface="Times New Roman" pitchFamily="18" charset="0"/>
                <a:cs typeface="Times New Roman" pitchFamily="18" charset="0"/>
              </a:rPr>
              <a:t>In each study, they completed two stages of decision making under risk at the individual level and at the collective level.  </a:t>
            </a:r>
          </a:p>
          <a:p>
            <a:endParaRPr lang="en-US" altLang="ko-KR" sz="2000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altLang="ko-KR" sz="1600" dirty="0">
                <a:latin typeface="Times New Roman" pitchFamily="18" charset="0"/>
                <a:cs typeface="Times New Roman" pitchFamily="18" charset="0"/>
              </a:rPr>
              <a:t>Pairs were </a:t>
            </a:r>
            <a:r>
              <a:rPr lang="en-US" altLang="ko-KR" sz="16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randomly formed </a:t>
            </a:r>
            <a:r>
              <a:rPr lang="en-US" altLang="ko-KR" sz="1600" dirty="0">
                <a:latin typeface="Times New Roman" pitchFamily="18" charset="0"/>
                <a:cs typeface="Times New Roman" pitchFamily="18" charset="0"/>
              </a:rPr>
              <a:t>within classroom for collective choices in the baseline</a:t>
            </a:r>
          </a:p>
          <a:p>
            <a:pPr lvl="1"/>
            <a:r>
              <a:rPr lang="en-US" altLang="ko-KR" sz="1600" dirty="0">
                <a:latin typeface="Times New Roman" pitchFamily="18" charset="0"/>
                <a:cs typeface="Times New Roman" pitchFamily="18" charset="0"/>
              </a:rPr>
              <a:t>They were kept unchanged in the endline</a:t>
            </a:r>
          </a:p>
          <a:p>
            <a:pPr lvl="1"/>
            <a:r>
              <a:rPr lang="en-US" altLang="ko-KR" sz="1600" dirty="0">
                <a:latin typeface="Times New Roman" pitchFamily="18" charset="0"/>
                <a:cs typeface="Times New Roman" pitchFamily="18" charset="0"/>
              </a:rPr>
              <a:t>Due to attrition or group mismatching, </a:t>
            </a:r>
            <a:r>
              <a:rPr lang="en-US" altLang="ko-KR" sz="16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the final sample consists of 657 groups (1,314 individuals) </a:t>
            </a:r>
            <a:r>
              <a:rPr lang="en-US" altLang="ko-KR" sz="1600" dirty="0">
                <a:latin typeface="Times New Roman" pitchFamily="18" charset="0"/>
                <a:cs typeface="Times New Roman" pitchFamily="18" charset="0"/>
              </a:rPr>
              <a:t>in both studies.</a:t>
            </a:r>
          </a:p>
          <a:p>
            <a:endParaRPr lang="en-US" altLang="ko-KR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ko-KR" sz="2000" dirty="0">
                <a:latin typeface="Times New Roman" pitchFamily="18" charset="0"/>
                <a:cs typeface="Times New Roman" pitchFamily="18" charset="0"/>
              </a:rPr>
              <a:t>We also collected their individual characteristics (mover, height, gender, math score, </a:t>
            </a:r>
            <a:r>
              <a:rPr lang="en-US" altLang="ko-KR" sz="2000" dirty="0" err="1">
                <a:latin typeface="Times New Roman" pitchFamily="18" charset="0"/>
                <a:cs typeface="Times New Roman" pitchFamily="18" charset="0"/>
              </a:rPr>
              <a:t>etc</a:t>
            </a:r>
            <a:r>
              <a:rPr lang="en-US" altLang="ko-KR" sz="2000" dirty="0">
                <a:latin typeface="Times New Roman" pitchFamily="18" charset="0"/>
                <a:cs typeface="Times New Roman" pitchFamily="18" charset="0"/>
              </a:rPr>
              <a:t>) and friendship information. </a:t>
            </a:r>
            <a:endParaRPr lang="en-US" altLang="ko-KR" sz="1600" dirty="0">
              <a:latin typeface="Times New Roman" pitchFamily="18" charset="0"/>
              <a:cs typeface="Times New Roman" pitchFamily="18" charset="0"/>
            </a:endParaRPr>
          </a:p>
          <a:p>
            <a:endParaRPr lang="en-US" altLang="ko-KR" sz="2000" dirty="0">
              <a:latin typeface="Times New Roman" pitchFamily="18" charset="0"/>
              <a:cs typeface="Times New Roman" pitchFamily="18" charset="0"/>
            </a:endParaRPr>
          </a:p>
          <a:p>
            <a:endParaRPr lang="en-US" altLang="ko-KR" sz="2200" dirty="0">
              <a:latin typeface="Times New Roman" pitchFamily="18" charset="0"/>
              <a:cs typeface="Times New Roman" pitchFamily="18" charset="0"/>
            </a:endParaRPr>
          </a:p>
          <a:p>
            <a:pPr lvl="1"/>
            <a:endParaRPr lang="en-US" altLang="ko-KR" sz="1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altLang="ko-KR" sz="2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6157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Decision Problem</a:t>
            </a:r>
            <a:endParaRPr lang="en-GB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altLang="ko-KR" sz="2000" dirty="0">
                    <a:latin typeface="Times New Roman" pitchFamily="18" charset="0"/>
                    <a:cs typeface="Times New Roman" pitchFamily="18" charset="0"/>
                  </a:rPr>
                  <a:t>Follow Choi et al. (2007)</a:t>
                </a:r>
              </a:p>
              <a:p>
                <a:endParaRPr lang="en-GB" altLang="ko-KR" sz="2000" dirty="0">
                  <a:latin typeface="Times New Roman" pitchFamily="18" charset="0"/>
                  <a:cs typeface="Times New Roman" pitchFamily="18" charset="0"/>
                </a:endParaRPr>
              </a:p>
              <a:p>
                <a:pPr lvl="1"/>
                <a:r>
                  <a:rPr lang="en-GB" altLang="ko-KR" sz="1600" dirty="0">
                    <a:latin typeface="Times New Roman" pitchFamily="18" charset="0"/>
                    <a:cs typeface="Times New Roman" pitchFamily="18" charset="0"/>
                  </a:rPr>
                  <a:t>Allocate an income over two Arrow securities (associated with equally probably two states): choose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altLang="ko-KR" sz="16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altLang="ko-KR" sz="160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GB" altLang="ko-KR" sz="1600" dirty="0">
                    <a:latin typeface="Times New Roman" pitchFamily="18" charset="0"/>
                    <a:cs typeface="Times New Roman" pitchFamily="18" charset="0"/>
                  </a:rPr>
                  <a:t> subject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ko-KR" sz="16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GB" altLang="ko-KR" sz="16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=1</m:t>
                    </m:r>
                  </m:oMath>
                </a14:m>
                <a:endParaRPr lang="en-GB" altLang="ko-KR" sz="1600" dirty="0">
                  <a:latin typeface="Times New Roman" pitchFamily="18" charset="0"/>
                  <a:cs typeface="Times New Roman" pitchFamily="18" charset="0"/>
                </a:endParaRPr>
              </a:p>
              <a:p>
                <a:endParaRPr lang="en-GB" altLang="ko-KR" sz="20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>
                  <a:buNone/>
                </a:pPr>
                <a:endParaRPr lang="en-US" altLang="ko-KR" sz="2200" dirty="0">
                  <a:latin typeface="Times New Roman" pitchFamily="18" charset="0"/>
                  <a:cs typeface="Times New Roman" pitchFamily="18" charset="0"/>
                </a:endParaRPr>
              </a:p>
              <a:p>
                <a:pPr lvl="1"/>
                <a:endParaRPr lang="en-US" altLang="ko-KR" sz="18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>
                  <a:buNone/>
                </a:pPr>
                <a:endParaRPr lang="en-US" altLang="ko-KR" sz="22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667" t="-80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9752" y="3212976"/>
            <a:ext cx="3881247" cy="3178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9324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Experimental Procedures</a:t>
            </a:r>
            <a:endParaRPr lang="en-GB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65104"/>
          </a:xfrm>
        </p:spPr>
        <p:txBody>
          <a:bodyPr>
            <a:normAutofit/>
          </a:bodyPr>
          <a:lstStyle/>
          <a:p>
            <a:r>
              <a:rPr lang="en-GB" altLang="ko-KR" sz="2000" dirty="0">
                <a:latin typeface="Times New Roman" pitchFamily="18" charset="0"/>
                <a:cs typeface="Times New Roman" pitchFamily="18" charset="0"/>
              </a:rPr>
              <a:t>Participants: students from 12 middle schools in South Korea</a:t>
            </a:r>
          </a:p>
          <a:p>
            <a:endParaRPr lang="en-GB" altLang="ko-KR" sz="2000" dirty="0">
              <a:latin typeface="Times New Roman" pitchFamily="18" charset="0"/>
              <a:cs typeface="Times New Roman" pitchFamily="18" charset="0"/>
            </a:endParaRPr>
          </a:p>
          <a:p>
            <a:endParaRPr lang="en-GB" altLang="ko-KR" sz="2000" dirty="0">
              <a:latin typeface="Times New Roman" pitchFamily="18" charset="0"/>
              <a:cs typeface="Times New Roman" pitchFamily="18" charset="0"/>
            </a:endParaRPr>
          </a:p>
          <a:p>
            <a:endParaRPr lang="en-GB" altLang="ko-KR" sz="2000" dirty="0">
              <a:latin typeface="Times New Roman" pitchFamily="18" charset="0"/>
              <a:cs typeface="Times New Roman" pitchFamily="18" charset="0"/>
            </a:endParaRPr>
          </a:p>
          <a:p>
            <a:endParaRPr lang="en-GB" altLang="ko-KR" sz="2000" dirty="0">
              <a:latin typeface="Times New Roman" pitchFamily="18" charset="0"/>
              <a:cs typeface="Times New Roman" pitchFamily="18" charset="0"/>
            </a:endParaRPr>
          </a:p>
          <a:p>
            <a:endParaRPr lang="en-GB" altLang="ko-KR" sz="2000" dirty="0">
              <a:latin typeface="Times New Roman" pitchFamily="18" charset="0"/>
              <a:cs typeface="Times New Roman" pitchFamily="18" charset="0"/>
            </a:endParaRPr>
          </a:p>
          <a:p>
            <a:endParaRPr lang="en-GB" altLang="ko-KR" sz="2000" dirty="0">
              <a:latin typeface="Times New Roman" pitchFamily="18" charset="0"/>
              <a:cs typeface="Times New Roman" pitchFamily="18" charset="0"/>
            </a:endParaRPr>
          </a:p>
          <a:p>
            <a:endParaRPr lang="en-GB" altLang="ko-KR" sz="2000" dirty="0">
              <a:latin typeface="Times New Roman" pitchFamily="18" charset="0"/>
              <a:cs typeface="Times New Roman" pitchFamily="18" charset="0"/>
            </a:endParaRPr>
          </a:p>
          <a:p>
            <a:endParaRPr lang="en-GB" altLang="ko-KR" sz="2000" dirty="0">
              <a:latin typeface="Times New Roman" pitchFamily="18" charset="0"/>
              <a:cs typeface="Times New Roman" pitchFamily="18" charset="0"/>
            </a:endParaRPr>
          </a:p>
          <a:p>
            <a:endParaRPr lang="en-GB" altLang="ko-KR" sz="2000" dirty="0">
              <a:latin typeface="Times New Roman" pitchFamily="18" charset="0"/>
              <a:cs typeface="Times New Roman" pitchFamily="18" charset="0"/>
            </a:endParaRPr>
          </a:p>
          <a:p>
            <a:endParaRPr lang="en-GB" altLang="ko-KR" sz="2000" dirty="0">
              <a:latin typeface="Times New Roman" pitchFamily="18" charset="0"/>
              <a:cs typeface="Times New Roman" pitchFamily="18" charset="0"/>
            </a:endParaRPr>
          </a:p>
          <a:p>
            <a:endParaRPr lang="en-GB" altLang="ko-KR" sz="20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GB" altLang="ko-KR" sz="20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altLang="ko-KR" sz="2200" dirty="0">
              <a:latin typeface="Times New Roman" pitchFamily="18" charset="0"/>
              <a:cs typeface="Times New Roman" pitchFamily="18" charset="0"/>
            </a:endParaRPr>
          </a:p>
          <a:p>
            <a:pPr lvl="1"/>
            <a:endParaRPr lang="en-US" altLang="ko-KR" sz="1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altLang="ko-KR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907704" y="2708920"/>
            <a:ext cx="1636987" cy="646331"/>
          </a:xfrm>
          <a:prstGeom prst="rect">
            <a:avLst/>
          </a:prstGeom>
          <a:ln>
            <a:solidFill>
              <a:srgbClr val="0000FF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altLang="ko-KR" dirty="0"/>
              <a:t>Stage 1</a:t>
            </a:r>
          </a:p>
          <a:p>
            <a:pPr algn="ctr"/>
            <a:r>
              <a:rPr lang="en-US" altLang="ko-KR" dirty="0"/>
              <a:t>(Individual DM)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5961502" y="2708920"/>
            <a:ext cx="1306256" cy="646331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altLang="ko-KR" dirty="0"/>
              <a:t>Stage 2</a:t>
            </a:r>
          </a:p>
          <a:p>
            <a:pPr algn="ctr"/>
            <a:r>
              <a:rPr lang="en-US" altLang="ko-KR" dirty="0"/>
              <a:t>(Group DM)</a:t>
            </a:r>
            <a:endParaRPr lang="ko-KR" altLang="en-US" dirty="0"/>
          </a:p>
        </p:txBody>
      </p:sp>
      <p:cxnSp>
        <p:nvCxnSpPr>
          <p:cNvPr id="7" name="직선 화살표 연결선 6"/>
          <p:cNvCxnSpPr>
            <a:endCxn id="5" idx="1"/>
          </p:cNvCxnSpPr>
          <p:nvPr/>
        </p:nvCxnSpPr>
        <p:spPr>
          <a:xfrm>
            <a:off x="3544691" y="3032085"/>
            <a:ext cx="2416811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611130" y="2721496"/>
            <a:ext cx="20882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matching within classroom</a:t>
            </a:r>
            <a:endParaRPr lang="ko-K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55576" y="3717032"/>
            <a:ext cx="367240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 rounds of individual choices with exogenous price variations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randomly selected round for payoffs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6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778426" y="3717032"/>
            <a:ext cx="4042046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Randomly matched students in pair sit side by side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min 30 sec of discussion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 rounds of collective choices</a:t>
            </a:r>
            <a:r>
              <a:rPr lang="en-US" altLang="ko-KR" sz="16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exogenous price variations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randomly selected round for payoffs (doubled and divided equally)</a:t>
            </a:r>
          </a:p>
          <a:p>
            <a:endParaRPr lang="en-US" altLang="ko-KR" sz="16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11560" y="5805264"/>
            <a:ext cx="7776864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ko-KR" sz="1600" dirty="0">
                <a:latin typeface="Times New Roman" pitchFamily="18" charset="0"/>
                <a:cs typeface="Times New Roman" pitchFamily="18" charset="0"/>
              </a:rPr>
              <a:t>No feedback is given during the experiment, and subjects are informed only the sum of payoffs from the two stages at the end of the study</a:t>
            </a:r>
            <a:r>
              <a:rPr lang="en-US" altLang="ko-KR" dirty="0"/>
              <a:t>.</a:t>
            </a:r>
            <a:endParaRPr lang="en-GB" altLang="ko-KR" sz="16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20463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Measuring Rationality</a:t>
            </a:r>
            <a:endParaRPr lang="en-GB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altLang="ko-KR" sz="2000" dirty="0">
                    <a:latin typeface="Times New Roman" pitchFamily="18" charset="0"/>
                    <a:cs typeface="Times New Roman" pitchFamily="18" charset="0"/>
                  </a:rPr>
                  <a:t>Test whether each choice data are consistent with utility maximization: Generalized Axiom of Revealed Preference (GARP) </a:t>
                </a:r>
              </a:p>
              <a:p>
                <a:pPr marL="0" indent="0">
                  <a:buNone/>
                </a:pPr>
                <a:endParaRPr lang="en-GB" altLang="ko-KR" sz="2200" dirty="0">
                  <a:latin typeface="Times New Roman" pitchFamily="18" charset="0"/>
                  <a:cs typeface="Times New Roman" pitchFamily="18" charset="0"/>
                </a:endParaRPr>
              </a:p>
              <a:p>
                <a:r>
                  <a:rPr lang="en-US" altLang="ko-KR" sz="2000" dirty="0" err="1">
                    <a:latin typeface="Times New Roman" pitchFamily="18" charset="0"/>
                    <a:cs typeface="Times New Roman" pitchFamily="18" charset="0"/>
                  </a:rPr>
                  <a:t>Afriat’s</a:t>
                </a:r>
                <a:r>
                  <a:rPr lang="en-US" altLang="ko-KR" sz="2000" dirty="0">
                    <a:latin typeface="Times New Roman" pitchFamily="18" charset="0"/>
                    <a:cs typeface="Times New Roman" pitchFamily="18" charset="0"/>
                  </a:rPr>
                  <a:t> Critical Cost Efficiency Index (CCEI) </a:t>
                </a:r>
              </a:p>
              <a:p>
                <a:pPr lvl="1"/>
                <a:endParaRPr lang="en-US" altLang="ko-KR" sz="1600" dirty="0">
                  <a:latin typeface="Times New Roman" pitchFamily="18" charset="0"/>
                  <a:cs typeface="Times New Roman" pitchFamily="18" charset="0"/>
                </a:endParaRPr>
              </a:p>
              <a:p>
                <a:pPr lvl="1"/>
                <a:r>
                  <a:rPr lang="en-US" altLang="ko-KR" sz="1600" dirty="0">
                    <a:latin typeface="Times New Roman" pitchFamily="18" charset="0"/>
                    <a:cs typeface="Times New Roman" pitchFamily="18" charset="0"/>
                  </a:rPr>
                  <a:t>Measuring the exact amount by which each budget must be relaxed to remove all GARP violations;</a:t>
                </a:r>
              </a:p>
              <a:p>
                <a:pPr lvl="1"/>
                <a:r>
                  <a:rPr lang="en-US" altLang="ko-KR" sz="1600" dirty="0">
                    <a:latin typeface="Times New Roman" pitchFamily="18" charset="0"/>
                    <a:cs typeface="Times New Roman" pitchFamily="18" charset="0"/>
                  </a:rPr>
                  <a:t>CCEI</a:t>
                </a:r>
                <a14:m>
                  <m:oMath xmlns:m="http://schemas.openxmlformats.org/officeDocument/2006/math">
                    <m:r>
                      <a:rPr lang="en-US" altLang="ko-KR" sz="1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lang="en-US" altLang="ko-KR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en-US" altLang="ko-KR" sz="1600" dirty="0">
                    <a:latin typeface="Times New Roman" pitchFamily="18" charset="0"/>
                    <a:cs typeface="Times New Roman" pitchFamily="18" charset="0"/>
                  </a:rPr>
                  <a:t>: the smaller it is, the more severe violation of GARP.  </a:t>
                </a:r>
              </a:p>
              <a:p>
                <a:pPr marL="0" indent="0">
                  <a:buNone/>
                </a:pPr>
                <a:endParaRPr lang="en-US" altLang="ko-KR" sz="2000" dirty="0">
                  <a:latin typeface="Times New Roman" pitchFamily="18" charset="0"/>
                  <a:cs typeface="Times New Roman" pitchFamily="18" charset="0"/>
                </a:endParaRPr>
              </a:p>
              <a:p>
                <a:r>
                  <a:rPr lang="en-US" altLang="ko-KR" sz="2000" dirty="0">
                    <a:latin typeface="Times New Roman" pitchFamily="18" charset="0"/>
                    <a:cs typeface="Times New Roman" pitchFamily="18" charset="0"/>
                  </a:rPr>
                  <a:t>Basic statistics of individual and collective CCEIs</a:t>
                </a:r>
              </a:p>
              <a:p>
                <a:endParaRPr lang="en-US" altLang="ko-KR" sz="20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>
                  <a:buNone/>
                </a:pPr>
                <a:r>
                  <a:rPr lang="en-US" altLang="ko-KR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endParaRPr lang="en-US" altLang="ko-KR" sz="16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>
                  <a:buNone/>
                </a:pPr>
                <a:endParaRPr lang="en-US" altLang="ko-KR" sz="2200" dirty="0">
                  <a:latin typeface="Times New Roman" pitchFamily="18" charset="0"/>
                  <a:cs typeface="Times New Roman" pitchFamily="18" charset="0"/>
                </a:endParaRPr>
              </a:p>
              <a:p>
                <a:pPr lvl="1"/>
                <a:endParaRPr lang="en-US" altLang="ko-KR" sz="18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>
                  <a:buNone/>
                </a:pPr>
                <a:endParaRPr lang="en-US" altLang="ko-KR" sz="22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667" t="-80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tabl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9672" y="5013176"/>
            <a:ext cx="5688633" cy="167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2947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AAD86-DA6B-FD35-14F4-24B239583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FA2C5-5134-A599-CC7B-41078E92E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Measuring Risk Preferences</a:t>
            </a:r>
            <a:endParaRPr lang="en-GB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09EBA6-8FE7-5F0C-2152-ECC8169686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altLang="ko-KR" sz="2000" dirty="0">
                    <a:latin typeface="Times New Roman" pitchFamily="18" charset="0"/>
                    <a:cs typeface="Times New Roman" pitchFamily="18" charset="0"/>
                  </a:rPr>
                  <a:t>Simple nonparametric measure of risk tolerance (RT)</a:t>
                </a:r>
              </a:p>
              <a:p>
                <a:pPr marL="0" indent="0">
                  <a:buNone/>
                </a:pPr>
                <a:endParaRPr lang="en-GB" altLang="ko-KR" sz="2200" dirty="0">
                  <a:latin typeface="Times New Roman" pitchFamily="18" charset="0"/>
                  <a:cs typeface="Times New Roman" pitchFamily="18" charset="0"/>
                </a:endParaRPr>
              </a:p>
              <a:p>
                <a:pPr lvl="1"/>
                <a:r>
                  <a:rPr lang="en-US" altLang="ko-KR" sz="1600" dirty="0">
                    <a:latin typeface="Times New Roman" pitchFamily="18" charset="0"/>
                    <a:cs typeface="Times New Roman" pitchFamily="18" charset="0"/>
                  </a:rPr>
                  <a:t>For each budget, the fraction of money on a cheaper asset: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6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60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cheaper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6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sz="16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6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endParaRPr lang="en-US" altLang="ko-KR" sz="1600" dirty="0">
                  <a:latin typeface="Times New Roman" pitchFamily="18" charset="0"/>
                  <a:cs typeface="Times New Roman" pitchFamily="18" charset="0"/>
                </a:endParaRPr>
              </a:p>
              <a:p>
                <a:pPr lvl="1"/>
                <a:r>
                  <a:rPr lang="en-US" altLang="ko-KR" sz="1600" dirty="0">
                    <a:latin typeface="Times New Roman" pitchFamily="18" charset="0"/>
                    <a:cs typeface="Times New Roman" pitchFamily="18" charset="0"/>
                  </a:rPr>
                  <a:t>For each individual and each group, compute the average of the fraction of money on a cheaper asset over 18 rounds</a:t>
                </a:r>
              </a:p>
              <a:p>
                <a:pPr lvl="1"/>
                <a:endParaRPr lang="en-US" altLang="ko-KR" sz="1600" dirty="0">
                  <a:latin typeface="Times New Roman" pitchFamily="18" charset="0"/>
                  <a:cs typeface="Times New Roman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RT</m:t>
                    </m:r>
                    <m:r>
                      <a:rPr lang="en-US" altLang="ko-KR" sz="1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lang="en-US" altLang="ko-KR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0.5, 1</m:t>
                        </m:r>
                      </m:e>
                    </m:d>
                  </m:oMath>
                </a14:m>
                <a:r>
                  <a:rPr lang="en-US" altLang="ko-KR" sz="1600" dirty="0">
                    <a:latin typeface="Times New Roman" pitchFamily="18" charset="0"/>
                    <a:cs typeface="Times New Roman" pitchFamily="18" charset="0"/>
                  </a:rPr>
                  <a:t>: higher (lower) degree of risk aversion when it is closer to 0.5 (1).  </a:t>
                </a:r>
              </a:p>
              <a:p>
                <a:pPr marL="0" indent="0">
                  <a:buNone/>
                </a:pPr>
                <a:endParaRPr lang="en-US" altLang="ko-KR" sz="2000" dirty="0">
                  <a:latin typeface="Times New Roman" pitchFamily="18" charset="0"/>
                  <a:cs typeface="Times New Roman" pitchFamily="18" charset="0"/>
                </a:endParaRPr>
              </a:p>
              <a:p>
                <a:r>
                  <a:rPr lang="en-US" altLang="ko-KR" sz="2000" dirty="0">
                    <a:latin typeface="Times New Roman" pitchFamily="18" charset="0"/>
                    <a:cs typeface="Times New Roman" pitchFamily="18" charset="0"/>
                  </a:rPr>
                  <a:t>Basic statistics of individual and collective RTs</a:t>
                </a:r>
              </a:p>
              <a:p>
                <a:endParaRPr lang="en-US" altLang="ko-KR" sz="20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>
                  <a:buNone/>
                </a:pPr>
                <a:r>
                  <a:rPr lang="en-US" altLang="ko-KR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endParaRPr lang="en-US" altLang="ko-KR" sz="16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>
                  <a:buNone/>
                </a:pPr>
                <a:endParaRPr lang="en-US" altLang="ko-KR" sz="2200" dirty="0">
                  <a:latin typeface="Times New Roman" pitchFamily="18" charset="0"/>
                  <a:cs typeface="Times New Roman" pitchFamily="18" charset="0"/>
                </a:endParaRPr>
              </a:p>
              <a:p>
                <a:pPr lvl="1"/>
                <a:endParaRPr lang="en-US" altLang="ko-KR" sz="18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>
                  <a:buNone/>
                </a:pPr>
                <a:endParaRPr lang="en-US" altLang="ko-KR" sz="22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BD09EBA6-8FE7-5F0C-2152-ECC8169686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667" t="-80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tab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1680" y="4869160"/>
            <a:ext cx="5688633" cy="167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8496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Balance Test</a:t>
            </a:r>
            <a:endParaRPr lang="en-GB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2276872"/>
            <a:ext cx="7905329" cy="24684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12033" y="5373216"/>
            <a:ext cx="7776864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ko-KR" sz="16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Random group formation makes an individual’s CCEI and risk aversion not correlated with those of the other in the same group</a:t>
            </a:r>
            <a:r>
              <a:rPr lang="en-US" altLang="ko-KR" dirty="0">
                <a:solidFill>
                  <a:srgbClr val="C00000"/>
                </a:solidFill>
              </a:rPr>
              <a:t>.</a:t>
            </a:r>
            <a:endParaRPr lang="en-GB" altLang="ko-KR" sz="16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73330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Rationality Extension</a:t>
            </a:r>
            <a:endParaRPr lang="en-GB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altLang="ko-KR" sz="20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Q1: Do more rational individuals make group decisions more rational?</a:t>
            </a:r>
          </a:p>
          <a:p>
            <a:endParaRPr lang="en-GB" altLang="ko-KR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GB" altLang="ko-KR" sz="2000" dirty="0">
                <a:latin typeface="Times New Roman" pitchFamily="18" charset="0"/>
                <a:cs typeface="Times New Roman" pitchFamily="18" charset="0"/>
              </a:rPr>
              <a:t>Divide subjects into two groups </a:t>
            </a:r>
            <a:r>
              <a:rPr lang="en-US" altLang="ko-KR" sz="2000" dirty="0">
                <a:latin typeface="Times New Roman" pitchFamily="18" charset="0"/>
                <a:cs typeface="Times New Roman" pitchFamily="18" charset="0"/>
              </a:rPr>
              <a:t>w.r.t. individual CCEIs</a:t>
            </a:r>
          </a:p>
          <a:p>
            <a:pPr lvl="1"/>
            <a:endParaRPr lang="en-US" altLang="ko-KR" sz="1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altLang="ko-KR" sz="1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High</a:t>
            </a:r>
            <a:r>
              <a:rPr lang="en-US" altLang="ko-KR" sz="1600" dirty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altLang="ko-KR" sz="1600" b="1" dirty="0">
                <a:latin typeface="Times New Roman" pitchFamily="18" charset="0"/>
                <a:cs typeface="Times New Roman" pitchFamily="18" charset="0"/>
              </a:rPr>
              <a:t>Low</a:t>
            </a:r>
            <a:r>
              <a:rPr lang="en-US" altLang="ko-KR" sz="1600" dirty="0">
                <a:latin typeface="Times New Roman" pitchFamily="18" charset="0"/>
                <a:cs typeface="Times New Roman" pitchFamily="18" charset="0"/>
              </a:rPr>
              <a:t>) group: </a:t>
            </a:r>
            <a:r>
              <a:rPr lang="en-US" altLang="ko-KR" sz="1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above</a:t>
            </a:r>
            <a:r>
              <a:rPr lang="en-US" altLang="ko-KR" sz="1600" dirty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altLang="ko-KR" sz="1600" b="1" dirty="0">
                <a:latin typeface="Times New Roman" pitchFamily="18" charset="0"/>
                <a:cs typeface="Times New Roman" pitchFamily="18" charset="0"/>
              </a:rPr>
              <a:t>below</a:t>
            </a:r>
            <a:r>
              <a:rPr lang="en-US" altLang="ko-KR" sz="1600" dirty="0">
                <a:latin typeface="Times New Roman" pitchFamily="18" charset="0"/>
                <a:cs typeface="Times New Roman" pitchFamily="18" charset="0"/>
              </a:rPr>
              <a:t>) the median of CCEI</a:t>
            </a:r>
          </a:p>
          <a:p>
            <a:pPr marL="0" indent="0">
              <a:buNone/>
            </a:pPr>
            <a:r>
              <a:rPr lang="en-US" altLang="ko-KR" sz="2000" dirty="0">
                <a:latin typeface="Times New Roman" pitchFamily="18" charset="0"/>
                <a:cs typeface="Times New Roman" pitchFamily="18" charset="0"/>
              </a:rPr>
              <a:t> </a:t>
            </a:r>
            <a:endParaRPr lang="en-US" altLang="ko-KR" sz="16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altLang="ko-KR" sz="2200" dirty="0">
              <a:latin typeface="Times New Roman" pitchFamily="18" charset="0"/>
              <a:cs typeface="Times New Roman" pitchFamily="18" charset="0"/>
            </a:endParaRPr>
          </a:p>
          <a:p>
            <a:pPr lvl="1"/>
            <a:endParaRPr lang="en-US" altLang="ko-KR" sz="1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altLang="ko-KR" sz="2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763" y="3717032"/>
            <a:ext cx="3840488" cy="2743205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8024" y="3717032"/>
            <a:ext cx="3840488" cy="274320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763688" y="4509120"/>
            <a:ext cx="8931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Baseline</a:t>
            </a:r>
            <a:endParaRPr lang="ko-K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44208" y="4509120"/>
            <a:ext cx="8242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Endline</a:t>
            </a:r>
            <a:endParaRPr lang="ko-K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35689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Rationality Extension</a:t>
            </a:r>
            <a:endParaRPr lang="en-GB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24D418A8-14D8-4322-E74B-A2AC5FB131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5656" y="1415518"/>
            <a:ext cx="5894893" cy="412442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22C9D0F-0111-A311-CF27-53B82CE92AD3}"/>
              </a:ext>
            </a:extLst>
          </p:cNvPr>
          <p:cNvSpPr txBox="1"/>
          <p:nvPr/>
        </p:nvSpPr>
        <p:spPr>
          <a:xfrm>
            <a:off x="539552" y="5673832"/>
            <a:ext cx="8424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 </a:t>
            </a:r>
            <a:r>
              <a:rPr lang="en-US" altLang="ko-KR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Collective CCEI increases in CCEI of a more rational individual 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altLang="ko-KR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decreases in the difference between CCEIs of two individuals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even after controlling for preferences. 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49073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22279-112E-4A02-1463-5322035F7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92C51-9D40-B958-7936-F92B9C6F0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Does Preference Aggregation Depend on Rationality?</a:t>
            </a:r>
            <a:endParaRPr lang="en-GB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E59729F-E711-A610-5198-3BC32A4F634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altLang="ko-KR" sz="20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Q2: Is the preference of the group closer to that of a more rational individual?</a:t>
                </a:r>
              </a:p>
              <a:p>
                <a:endParaRPr lang="en-GB" altLang="ko-KR" sz="2000" dirty="0">
                  <a:latin typeface="Times New Roman" pitchFamily="18" charset="0"/>
                  <a:cs typeface="Times New Roman" pitchFamily="18" charset="0"/>
                </a:endParaRPr>
              </a:p>
              <a:p>
                <a:endParaRPr lang="en-GB" altLang="ko-KR" sz="2000" dirty="0">
                  <a:latin typeface="Times New Roman" pitchFamily="18" charset="0"/>
                  <a:cs typeface="Times New Roman" pitchFamily="18" charset="0"/>
                </a:endParaRPr>
              </a:p>
              <a:p>
                <a:r>
                  <a:rPr lang="en-US" altLang="ko-KR" sz="2000" dirty="0">
                    <a:latin typeface="Times New Roman" pitchFamily="18" charset="0"/>
                    <a:cs typeface="Times New Roman" pitchFamily="18" charset="0"/>
                  </a:rPr>
                  <a:t>Individual with higher (lower) CCEI in the group: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𝑖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r>
                      <a:rPr lang="en-US" altLang="ko-KR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h</m:t>
                    </m:r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sz="2000" b="0" i="0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high</m:t>
                        </m:r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, </m:t>
                    </m:r>
                    <m:r>
                      <a:rPr lang="en-US" altLang="ko-KR" sz="20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𝑙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ko-KR" sz="2000" b="0" i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low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)</m:t>
                    </m:r>
                  </m:oMath>
                </a14:m>
                <a:endParaRPr lang="en-US" altLang="ko-KR" sz="20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>
                  <a:buNone/>
                </a:pPr>
                <a:endParaRPr lang="en-GB" altLang="ko-KR" sz="2000" dirty="0">
                  <a:latin typeface="Times New Roman" pitchFamily="18" charset="0"/>
                  <a:cs typeface="Times New Roman" pitchFamily="18" charset="0"/>
                </a:endParaRPr>
              </a:p>
              <a:p>
                <a:r>
                  <a:rPr lang="en-US" altLang="ko-KR" sz="2000" dirty="0">
                    <a:latin typeface="Times New Roman" pitchFamily="18" charset="0"/>
                    <a:cs typeface="Times New Roman" pitchFamily="18" charset="0"/>
                  </a:rPr>
                  <a:t>Two approaches:</a:t>
                </a:r>
              </a:p>
              <a:p>
                <a:endParaRPr lang="en-US" altLang="ko-KR" sz="20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800100" lvl="1" indent="-342900">
                  <a:buFont typeface="+mj-lt"/>
                  <a:buAutoNum type="arabicPeriod"/>
                </a:pPr>
                <a:r>
                  <a:rPr lang="en-US" altLang="ko-KR" sz="1800" dirty="0">
                    <a:latin typeface="Times New Roman" pitchFamily="18" charset="0"/>
                    <a:cs typeface="Times New Roman" pitchFamily="18" charset="0"/>
                  </a:rPr>
                  <a:t>Compute </a:t>
                </a:r>
                <a:r>
                  <a:rPr lang="en-US" altLang="ko-KR" sz="1800" u="sng" dirty="0">
                    <a:latin typeface="Times New Roman" pitchFamily="18" charset="0"/>
                    <a:cs typeface="Times New Roman" pitchFamily="18" charset="0"/>
                  </a:rPr>
                  <a:t>the distance of risk tolerance </a:t>
                </a:r>
                <a:r>
                  <a:rPr lang="en-US" altLang="ko-KR" sz="1800" dirty="0">
                    <a:latin typeface="Times New Roman" pitchFamily="18" charset="0"/>
                    <a:cs typeface="Times New Roman" pitchFamily="18" charset="0"/>
                  </a:rPr>
                  <a:t>between individual </a:t>
                </a:r>
                <a14:m>
                  <m:oMath xmlns:m="http://schemas.openxmlformats.org/officeDocument/2006/math">
                    <m:r>
                      <a:rPr lang="en-US" altLang="ko-KR" sz="18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𝑖</m:t>
                    </m:r>
                  </m:oMath>
                </a14:m>
                <a:r>
                  <a:rPr lang="en-US" altLang="ko-KR" sz="1800" dirty="0">
                    <a:latin typeface="Times New Roman" pitchFamily="18" charset="0"/>
                    <a:cs typeface="Times New Roman" pitchFamily="18" charset="0"/>
                  </a:rPr>
                  <a:t> and the group</a:t>
                </a:r>
              </a:p>
              <a:p>
                <a:pPr marL="800100" lvl="1" indent="-342900">
                  <a:buFont typeface="+mj-lt"/>
                  <a:buAutoNum type="arabicPeriod"/>
                </a:pPr>
                <a:endParaRPr lang="en-US" altLang="ko-KR" sz="18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800100" lvl="1" indent="-342900">
                  <a:buFont typeface="+mj-lt"/>
                  <a:buAutoNum type="arabicPeriod"/>
                </a:pPr>
                <a:r>
                  <a:rPr lang="en-US" altLang="ko-KR" sz="1800" u="sng" dirty="0">
                    <a:latin typeface="Times New Roman" pitchFamily="18" charset="0"/>
                    <a:cs typeface="Times New Roman" pitchFamily="18" charset="0"/>
                  </a:rPr>
                  <a:t>Revealed preference approach of individual (bargaining) power</a:t>
                </a:r>
                <a:r>
                  <a:rPr lang="en-US" altLang="ko-KR" sz="1800" dirty="0">
                    <a:latin typeface="Times New Roman" pitchFamily="18" charset="0"/>
                    <a:cs typeface="Times New Roman" pitchFamily="18" charset="0"/>
                  </a:rPr>
                  <a:t> on group decisions.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E59729F-E711-A610-5198-3BC32A4F63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41" t="-80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47587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F4346-9DAA-63E8-7E91-689311EA7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F95BC-0A60-CBFB-7999-B6F780BE6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Does Preference Aggregation Depend on Rationality?</a:t>
            </a:r>
            <a:endParaRPr lang="en-GB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" name="Picture 1">
            <a:extLst>
              <a:ext uri="{FF2B5EF4-FFF2-40B4-BE49-F238E27FC236}">
                <a16:creationId xmlns:a16="http://schemas.microsoft.com/office/drawing/2014/main" id="{39340DEF-5079-2D18-FD35-39BD493DED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512"/>
          <a:stretch>
            <a:fillRect/>
          </a:stretch>
        </p:blipFill>
        <p:spPr>
          <a:xfrm>
            <a:off x="251520" y="2708920"/>
            <a:ext cx="4184142" cy="2659764"/>
          </a:xfrm>
          <a:prstGeom prst="rect">
            <a:avLst/>
          </a:prstGeom>
        </p:spPr>
      </p:pic>
      <p:pic>
        <p:nvPicPr>
          <p:cNvPr id="8" name="Picture 1">
            <a:extLst>
              <a:ext uri="{FF2B5EF4-FFF2-40B4-BE49-F238E27FC236}">
                <a16:creationId xmlns:a16="http://schemas.microsoft.com/office/drawing/2014/main" id="{444570C6-1C1D-CE73-D1C2-BC8EDDAED08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512"/>
          <a:stretch>
            <a:fillRect/>
          </a:stretch>
        </p:blipFill>
        <p:spPr>
          <a:xfrm>
            <a:off x="4708340" y="2708920"/>
            <a:ext cx="4184142" cy="265976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38B6559-ECA9-1C5A-43F3-36F641D6E1BC}"/>
              </a:ext>
            </a:extLst>
          </p:cNvPr>
          <p:cNvSpPr txBox="1"/>
          <p:nvPr/>
        </p:nvSpPr>
        <p:spPr>
          <a:xfrm>
            <a:off x="2483768" y="3645024"/>
            <a:ext cx="8931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Baseline</a:t>
            </a:r>
            <a:endParaRPr lang="ko-K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65FB34-379B-970B-861E-0CCE2F7CF451}"/>
              </a:ext>
            </a:extLst>
          </p:cNvPr>
          <p:cNvSpPr txBox="1"/>
          <p:nvPr/>
        </p:nvSpPr>
        <p:spPr>
          <a:xfrm>
            <a:off x="6948264" y="3761513"/>
            <a:ext cx="8242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Endline</a:t>
            </a:r>
            <a:endParaRPr lang="ko-K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47800" y="5604568"/>
            <a:ext cx="7776864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ko-KR" sz="16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The preference gap between a more rational individual and the group is smaller than that between a less rational individual and the group</a:t>
            </a:r>
            <a:r>
              <a:rPr lang="en-US" altLang="ko-KR" dirty="0">
                <a:solidFill>
                  <a:srgbClr val="C00000"/>
                </a:solidFill>
              </a:rPr>
              <a:t>.</a:t>
            </a:r>
            <a:endParaRPr lang="en-GB" altLang="ko-KR" sz="16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69F9F64-A539-18A0-1BDE-E2A9F720DDB6}"/>
                  </a:ext>
                </a:extLst>
              </p:cNvPr>
              <p:cNvSpPr txBox="1"/>
              <p:nvPr/>
            </p:nvSpPr>
            <p:spPr>
              <a:xfrm>
                <a:off x="747800" y="1755502"/>
                <a:ext cx="7776864" cy="3919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altLang="ko-KR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Draw the distributions of </a:t>
                </a:r>
                <a14:m>
                  <m:oMath xmlns:m="http://schemas.openxmlformats.org/officeDocument/2006/math">
                    <m:r>
                      <a:rPr lang="en-GB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𝑅𝑇</m:t>
                        </m:r>
                      </m:e>
                      <m:sub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𝑅𝑇</m:t>
                        </m:r>
                      </m:e>
                      <m:sub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  <m:r>
                      <a:rPr lang="en-GB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GB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 for 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𝑖</m:t>
                    </m:r>
                    <m:r>
                      <a:rPr lang="en-GB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r>
                      <a:rPr lang="en-GB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h</m:t>
                    </m:r>
                    <m:r>
                      <a:rPr lang="en-GB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, </m:t>
                    </m:r>
                    <m:r>
                      <a:rPr lang="en-GB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𝑙</m:t>
                    </m:r>
                  </m:oMath>
                </a14:m>
                <a:r>
                  <a:rPr lang="en-GB" dirty="0">
                    <a:solidFill>
                      <a:schemeClr val="tx1"/>
                    </a:solidFill>
                  </a:rPr>
                  <a:t>.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69F9F64-A539-18A0-1BDE-E2A9F720DD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800" y="1755502"/>
                <a:ext cx="7776864" cy="391902"/>
              </a:xfrm>
              <a:prstGeom prst="rect">
                <a:avLst/>
              </a:prstGeom>
              <a:blipFill>
                <a:blip r:embed="rId5"/>
                <a:stretch>
                  <a:fillRect l="-549" t="-9375" b="-2031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43026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C8607-FC18-B2AB-C501-472253571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E8877-3221-410A-06B1-C2F930DF4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Does Preference Aggregation Depend on Rationality?</a:t>
            </a:r>
            <a:endParaRPr lang="en-GB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F9D6DE-B472-7E2B-6EB2-950DD240FE05}"/>
              </a:ext>
            </a:extLst>
          </p:cNvPr>
          <p:cNvSpPr txBox="1"/>
          <p:nvPr/>
        </p:nvSpPr>
        <p:spPr>
          <a:xfrm>
            <a:off x="539552" y="5517232"/>
            <a:ext cx="842493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Collective risk preference is closer to the individual risk preference of a more rational individual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becomes stronger in the </a:t>
            </a:r>
            <a:r>
              <a:rPr lang="en-US" altLang="ko-KR" sz="16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endline</a:t>
            </a:r>
            <a:r>
              <a:rPr lang="en-US" altLang="ko-KR" sz="16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study. </a:t>
            </a:r>
            <a:endParaRPr lang="ko-KR" altLang="en-US" sz="16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3">
            <a:extLst>
              <a:ext uri="{FF2B5EF4-FFF2-40B4-BE49-F238E27FC236}">
                <a16:creationId xmlns:a16="http://schemas.microsoft.com/office/drawing/2014/main" id="{CA3726B8-8FDD-4831-90D8-CC3D837E81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648" y="1432106"/>
            <a:ext cx="6026642" cy="3921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4166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Revealed (Bargaining) Power</a:t>
            </a:r>
            <a:endParaRPr lang="en-GB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덧셈 기호 4"/>
          <p:cNvSpPr>
            <a:spLocks noChangeAspect="1"/>
          </p:cNvSpPr>
          <p:nvPr/>
        </p:nvSpPr>
        <p:spPr>
          <a:xfrm>
            <a:off x="3077426" y="3941045"/>
            <a:ext cx="486462" cy="489397"/>
          </a:xfrm>
          <a:prstGeom prst="mathPlus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모서리가 둥근 직사각형 6"/>
          <p:cNvSpPr/>
          <p:nvPr/>
        </p:nvSpPr>
        <p:spPr>
          <a:xfrm>
            <a:off x="1205218" y="3717032"/>
            <a:ext cx="1440160" cy="9144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rgbClr val="0000FF"/>
                </a:solidFill>
              </a:rPr>
              <a:t>Group</a:t>
            </a:r>
            <a:r>
              <a:rPr lang="en-US" altLang="ko-KR" sz="1400" dirty="0">
                <a:solidFill>
                  <a:schemeClr val="tx1"/>
                </a:solidFill>
              </a:rPr>
              <a:t> choices</a:t>
            </a:r>
            <a:endParaRPr lang="ko-KR" altLang="en-US" sz="1400" dirty="0"/>
          </a:p>
        </p:txBody>
      </p:sp>
      <p:sp>
        <p:nvSpPr>
          <p:cNvPr id="8" name="모서리가 둥근 직사각형 7"/>
          <p:cNvSpPr/>
          <p:nvPr/>
        </p:nvSpPr>
        <p:spPr>
          <a:xfrm>
            <a:off x="3995936" y="3717032"/>
            <a:ext cx="1440160" cy="9144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Choices of </a:t>
            </a:r>
            <a:r>
              <a:rPr lang="en-US" altLang="ko-KR" sz="1400" dirty="0">
                <a:solidFill>
                  <a:srgbClr val="FF0000"/>
                </a:solidFill>
              </a:rPr>
              <a:t>more rational </a:t>
            </a:r>
            <a:r>
              <a:rPr lang="en-US" altLang="ko-KR" sz="1400" dirty="0">
                <a:solidFill>
                  <a:schemeClr val="tx1"/>
                </a:solidFill>
              </a:rPr>
              <a:t>individual</a:t>
            </a:r>
            <a:endParaRPr lang="ko-KR" altLang="en-US" sz="1400" dirty="0"/>
          </a:p>
        </p:txBody>
      </p:sp>
      <p:sp>
        <p:nvSpPr>
          <p:cNvPr id="9" name="오른쪽 화살표 8"/>
          <p:cNvSpPr>
            <a:spLocks noChangeAspect="1"/>
          </p:cNvSpPr>
          <p:nvPr/>
        </p:nvSpPr>
        <p:spPr>
          <a:xfrm>
            <a:off x="5957746" y="4025218"/>
            <a:ext cx="601677" cy="298027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081073" y="3941045"/>
                <a:ext cx="1016047" cy="42505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2000" b="0" i="0" smtClean="0">
                              <a:latin typeface="Cambria Math" panose="02040503050406030204" pitchFamily="18" charset="0"/>
                            </a:rPr>
                            <m:t>CCEI</m:t>
                          </m:r>
                        </m:e>
                        <m:sub>
                          <m:r>
                            <a:rPr lang="en-US" altLang="ko-KR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altLang="ko-KR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1073" y="3941045"/>
                <a:ext cx="1016047" cy="425053"/>
              </a:xfrm>
              <a:prstGeom prst="rect">
                <a:avLst/>
              </a:prstGeom>
              <a:blipFill rotWithShape="0">
                <a:blip r:embed="rId3"/>
                <a:stretch>
                  <a:fillRect b="-571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덧셈 기호 10"/>
          <p:cNvSpPr>
            <a:spLocks noChangeAspect="1"/>
          </p:cNvSpPr>
          <p:nvPr/>
        </p:nvSpPr>
        <p:spPr>
          <a:xfrm>
            <a:off x="3079318" y="5473367"/>
            <a:ext cx="486462" cy="489397"/>
          </a:xfrm>
          <a:prstGeom prst="mathPlus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모서리가 둥근 직사각형 11"/>
          <p:cNvSpPr/>
          <p:nvPr/>
        </p:nvSpPr>
        <p:spPr>
          <a:xfrm>
            <a:off x="1207110" y="5249354"/>
            <a:ext cx="1440160" cy="9144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rgbClr val="0000FF"/>
                </a:solidFill>
              </a:rPr>
              <a:t>Group</a:t>
            </a:r>
            <a:r>
              <a:rPr lang="en-US" altLang="ko-KR" sz="1400" dirty="0">
                <a:solidFill>
                  <a:schemeClr val="tx1"/>
                </a:solidFill>
              </a:rPr>
              <a:t> choices</a:t>
            </a:r>
            <a:endParaRPr lang="ko-KR" altLang="en-US" sz="1400" dirty="0"/>
          </a:p>
        </p:txBody>
      </p:sp>
      <p:sp>
        <p:nvSpPr>
          <p:cNvPr id="13" name="모서리가 둥근 직사각형 12"/>
          <p:cNvSpPr/>
          <p:nvPr/>
        </p:nvSpPr>
        <p:spPr>
          <a:xfrm>
            <a:off x="3997828" y="5249354"/>
            <a:ext cx="1440160" cy="9144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Choices of </a:t>
            </a:r>
          </a:p>
          <a:p>
            <a:pPr algn="ctr"/>
            <a:r>
              <a:rPr lang="en-US" altLang="ko-KR" sz="1400" dirty="0">
                <a:solidFill>
                  <a:srgbClr val="FF0000"/>
                </a:solidFill>
              </a:rPr>
              <a:t>less rational </a:t>
            </a:r>
            <a:r>
              <a:rPr lang="en-US" altLang="ko-KR" sz="1400" dirty="0">
                <a:solidFill>
                  <a:schemeClr val="tx1"/>
                </a:solidFill>
              </a:rPr>
              <a:t>individual</a:t>
            </a:r>
            <a:endParaRPr lang="ko-KR" altLang="en-US" sz="1400" dirty="0"/>
          </a:p>
        </p:txBody>
      </p:sp>
      <p:sp>
        <p:nvSpPr>
          <p:cNvPr id="14" name="오른쪽 화살표 13"/>
          <p:cNvSpPr>
            <a:spLocks noChangeAspect="1"/>
          </p:cNvSpPr>
          <p:nvPr/>
        </p:nvSpPr>
        <p:spPr>
          <a:xfrm>
            <a:off x="5959638" y="5557540"/>
            <a:ext cx="601677" cy="298027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7082965" y="5473367"/>
                <a:ext cx="964751" cy="42505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2000" b="0" i="0" smtClean="0">
                              <a:latin typeface="Cambria Math" panose="02040503050406030204" pitchFamily="18" charset="0"/>
                            </a:rPr>
                            <m:t>CCEI</m:t>
                          </m:r>
                        </m:e>
                        <m:sub>
                          <m:r>
                            <a:rPr lang="en-US" altLang="ko-KR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altLang="ko-KR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2965" y="5473367"/>
                <a:ext cx="964751" cy="425053"/>
              </a:xfrm>
              <a:prstGeom prst="rect">
                <a:avLst/>
              </a:prstGeom>
              <a:blipFill rotWithShape="0">
                <a:blip r:embed="rId4"/>
                <a:stretch>
                  <a:fillRect b="-428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D4C5345F-3CC4-ADCA-3317-F30E7940D6BA}"/>
              </a:ext>
            </a:extLst>
          </p:cNvPr>
          <p:cNvSpPr txBox="1"/>
          <p:nvPr/>
        </p:nvSpPr>
        <p:spPr>
          <a:xfrm>
            <a:off x="457200" y="1464334"/>
            <a:ext cx="850728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Revealed preference approach </a:t>
            </a:r>
          </a:p>
          <a:p>
            <a:pPr marL="742950" lvl="1" indent="-285750">
              <a:buFont typeface="Times New Roman" panose="02020603050405020304" pitchFamily="18" charset="0"/>
              <a:buChar char="–"/>
            </a:pPr>
            <a:endParaRPr lang="en-US" altLang="ko-K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Times New Roman" panose="02020603050405020304" pitchFamily="18" charset="0"/>
              <a:buChar char="–"/>
            </a:pP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close are an individual’s choices to group choices?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individual is said to </a:t>
            </a:r>
            <a:r>
              <a:rPr lang="en-US" altLang="ko-KR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have a larger revealed (bargaining) power 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her choice data is “closer” to the data of group choices. 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66945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00643C-8153-B3EF-755B-577A8AEEC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E683A-8E88-E073-C299-19B3F9ED0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Revealed (Bargaining) Power</a:t>
            </a:r>
            <a:endParaRPr lang="en-GB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71453E-CA7B-DF9F-3396-CF56FEC05BA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ko-KR" sz="1800" b="1" u="sng" dirty="0">
                    <a:latin typeface="Times New Roman" pitchFamily="18" charset="0"/>
                    <a:cs typeface="Times New Roman" pitchFamily="18" charset="0"/>
                  </a:rPr>
                  <a:t>Revealed preference distance </a:t>
                </a:r>
                <a:r>
                  <a:rPr lang="en-US" altLang="ko-KR" sz="1800" dirty="0">
                    <a:latin typeface="Times New Roman" pitchFamily="18" charset="0"/>
                    <a:cs typeface="Times New Roman" pitchFamily="18" charset="0"/>
                  </a:rPr>
                  <a:t>between the group data and the combined data of group and </a:t>
                </a:r>
                <a:r>
                  <a:rPr lang="en-US" altLang="ko-KR" sz="1800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more rational </a:t>
                </a:r>
                <a:r>
                  <a:rPr lang="en-US" altLang="ko-KR" sz="1800" dirty="0">
                    <a:latin typeface="Times New Roman" pitchFamily="18" charset="0"/>
                    <a:cs typeface="Times New Roman" pitchFamily="18" charset="0"/>
                  </a:rPr>
                  <a:t>(</a:t>
                </a:r>
                <a:r>
                  <a:rPr lang="en-US" altLang="ko-KR" sz="18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less rational</a:t>
                </a:r>
                <a:r>
                  <a:rPr lang="en-US" altLang="ko-KR" sz="1800" dirty="0">
                    <a:latin typeface="Times New Roman" pitchFamily="18" charset="0"/>
                    <a:cs typeface="Times New Roman" pitchFamily="18" charset="0"/>
                  </a:rPr>
                  <a:t>) individual choices, normalized by the distance between the group data and all combined data</a:t>
                </a:r>
                <a:r>
                  <a:rPr lang="en-GB" altLang="ko-KR" sz="18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</a:p>
              <a:p>
                <a:pPr marL="0" indent="0">
                  <a:buNone/>
                </a:pPr>
                <a:endParaRPr lang="en-GB" altLang="ko-KR" sz="18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>
                  <a:buNone/>
                </a:pPr>
                <a:endParaRPr lang="en-GB" altLang="ko-KR" sz="22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20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sSubPr>
                        <m:e>
                          <m:r>
                            <a:rPr lang="en-US" altLang="ko-KR" sz="2200" b="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ko-KR" sz="2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h</m:t>
                          </m:r>
                          <m:r>
                            <a:rPr lang="en-GB" altLang="ko-KR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US" altLang="ko-KR" sz="2200" b="0" i="1" smtClean="0">
                          <a:latin typeface="Cambria Math" panose="02040503050406030204" pitchFamily="18" charset="0"/>
                          <a:cs typeface="Times New Roman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2200" b="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ko-KR" sz="2200" b="0" i="1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2200" b="0" i="0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CCEI</m:t>
                              </m:r>
                            </m:e>
                            <m:sub>
                              <m:r>
                                <a:rPr lang="en-US" altLang="ko-KR" sz="2200" b="0" i="1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𝑔</m:t>
                              </m:r>
                            </m:sub>
                          </m:sSub>
                          <m:r>
                            <a:rPr lang="en-US" altLang="ko-KR" sz="2200" b="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2200" b="0" i="1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2200" b="0" i="0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CCEI</m:t>
                              </m:r>
                            </m:e>
                            <m:sub>
                              <m:r>
                                <a:rPr lang="en-US" altLang="ko-KR" sz="2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h</m:t>
                              </m:r>
                              <m:r>
                                <a:rPr lang="en-US" altLang="ko-KR" sz="2200" b="0" i="1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𝑔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ko-KR" sz="220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220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CCEI</m:t>
                              </m:r>
                            </m:e>
                            <m:sub>
                              <m:r>
                                <a:rPr lang="en-US" altLang="ko-KR" sz="220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𝑔</m:t>
                              </m:r>
                            </m:sub>
                          </m:sSub>
                          <m:r>
                            <a:rPr lang="en-US" altLang="ko-KR" sz="2200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220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220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CCEI</m:t>
                              </m:r>
                            </m:e>
                            <m:sub>
                              <m:r>
                                <a:rPr lang="en-US" altLang="ko-KR" sz="220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h</m:t>
                              </m:r>
                              <m:r>
                                <a:rPr lang="en-US" altLang="ko-KR" sz="2200" b="0" i="1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𝑙</m:t>
                              </m:r>
                              <m:r>
                                <a:rPr lang="en-US" altLang="ko-KR" sz="220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𝑔</m:t>
                              </m:r>
                            </m:sub>
                          </m:sSub>
                        </m:den>
                      </m:f>
                      <m:r>
                        <a:rPr lang="en-US" altLang="ko-KR" sz="2200" b="0" i="1" smtClean="0">
                          <a:latin typeface="Cambria Math" panose="02040503050406030204" pitchFamily="18" charset="0"/>
                          <a:cs typeface="Times New Roman" pitchFamily="18" charset="0"/>
                        </a:rPr>
                        <m:t>                </m:t>
                      </m:r>
                    </m:oMath>
                  </m:oMathPara>
                </a14:m>
                <a:endParaRPr lang="en-US" altLang="ko-KR" sz="22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>
                  <a:buNone/>
                </a:pPr>
                <a:endParaRPr lang="en-US" altLang="ko-KR" sz="22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>
                  <a:buNone/>
                </a:pPr>
                <a:endParaRPr lang="en-US" altLang="ko-KR" sz="22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20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sSubPr>
                        <m:e>
                          <m:r>
                            <a:rPr lang="en-US" altLang="ko-KR" sz="2200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ko-KR" sz="22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𝑙</m:t>
                          </m:r>
                          <m:r>
                            <a:rPr lang="en-GB" altLang="ko-KR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US" altLang="ko-KR" sz="2200" i="1">
                          <a:latin typeface="Cambria Math" panose="02040503050406030204" pitchFamily="18" charset="0"/>
                          <a:cs typeface="Times New Roman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2200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ko-KR" sz="220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220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CCEI</m:t>
                              </m:r>
                            </m:e>
                            <m:sub>
                              <m:r>
                                <a:rPr lang="en-US" altLang="ko-KR" sz="220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𝑔</m:t>
                              </m:r>
                            </m:sub>
                          </m:sSub>
                          <m:r>
                            <a:rPr lang="en-US" altLang="ko-KR" sz="2200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220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220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CCEI</m:t>
                              </m:r>
                            </m:e>
                            <m:sub>
                              <m:r>
                                <a:rPr lang="en-US" altLang="ko-KR" sz="2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𝑙</m:t>
                              </m:r>
                              <m:r>
                                <a:rPr lang="en-US" altLang="ko-KR" sz="220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𝑔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ko-KR" sz="220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220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CCEI</m:t>
                              </m:r>
                            </m:e>
                            <m:sub>
                              <m:r>
                                <a:rPr lang="en-US" altLang="ko-KR" sz="220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𝑔</m:t>
                              </m:r>
                            </m:sub>
                          </m:sSub>
                          <m:r>
                            <a:rPr lang="en-US" altLang="ko-KR" sz="2200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220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220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CCEI</m:t>
                              </m:r>
                            </m:e>
                            <m:sub>
                              <m:r>
                                <a:rPr lang="en-US" altLang="ko-KR" sz="220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h𝑙𝑔</m:t>
                              </m:r>
                            </m:sub>
                          </m:sSub>
                        </m:den>
                      </m:f>
                      <m:r>
                        <a:rPr lang="en-US" altLang="ko-KR" sz="2200" b="0" i="1" smtClean="0">
                          <a:latin typeface="Cambria Math" panose="02040503050406030204" pitchFamily="18" charset="0"/>
                          <a:cs typeface="Times New Roman" pitchFamily="18" charset="0"/>
                        </a:rPr>
                        <m:t>                </m:t>
                      </m:r>
                    </m:oMath>
                  </m:oMathPara>
                </a14:m>
                <a:endParaRPr lang="en-US" altLang="ko-KR" sz="2200" dirty="0">
                  <a:latin typeface="Times New Roman" pitchFamily="18" charset="0"/>
                  <a:cs typeface="Times New Roman" pitchFamily="18" charset="0"/>
                </a:endParaRPr>
              </a:p>
              <a:p>
                <a:endParaRPr lang="en-US" altLang="ko-KR" sz="22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71453E-CA7B-DF9F-3396-CF56FEC05B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444" t="-80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CB7A5081-094C-89EF-C0D5-9CC68B60F9D3}"/>
              </a:ext>
            </a:extLst>
          </p:cNvPr>
          <p:cNvSpPr txBox="1"/>
          <p:nvPr/>
        </p:nvSpPr>
        <p:spPr>
          <a:xfrm>
            <a:off x="5940152" y="3356992"/>
            <a:ext cx="24238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more rational 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individual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52E363-7B3F-6D25-C314-E18F763EBD42}"/>
              </a:ext>
            </a:extLst>
          </p:cNvPr>
          <p:cNvSpPr txBox="1"/>
          <p:nvPr/>
        </p:nvSpPr>
        <p:spPr>
          <a:xfrm>
            <a:off x="5940152" y="4846371"/>
            <a:ext cx="2287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less rational 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individual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54419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F0E38-3892-8F61-C85E-B320154A9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034EB-4E0F-1CC9-5092-E0E7BD2C1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Revealed (Bargaining) Power</a:t>
            </a:r>
            <a:endParaRPr lang="en-GB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03856E6-F450-23B4-B90D-EBC7DF443C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GB" altLang="ko-KR" sz="2000" dirty="0">
                    <a:latin typeface="Times New Roman" pitchFamily="18" charset="0"/>
                    <a:cs typeface="Times New Roman" pitchFamily="18" charset="0"/>
                  </a:rPr>
                  <a:t>These revealed preference distance measures,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ko-KR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h</m:t>
                        </m:r>
                        <m:r>
                          <a:rPr lang="en-GB" altLang="ko-KR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en-GB" altLang="ko-KR" sz="2000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ko-KR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𝑙</m:t>
                        </m:r>
                        <m:r>
                          <a:rPr lang="en-GB" altLang="ko-KR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en-GB" altLang="ko-KR" sz="2000" dirty="0">
                    <a:latin typeface="Times New Roman" pitchFamily="18" charset="0"/>
                    <a:cs typeface="Times New Roman" pitchFamily="18" charset="0"/>
                  </a:rPr>
                  <a:t>, range between 0 and 1. </a:t>
                </a:r>
              </a:p>
              <a:p>
                <a:endParaRPr lang="en-GB" altLang="ko-KR" sz="1600" dirty="0">
                  <a:latin typeface="Times New Roman" pitchFamily="18" charset="0"/>
                  <a:cs typeface="Times New Roman" pitchFamily="18" charset="0"/>
                </a:endParaRPr>
              </a:p>
              <a:p>
                <a:pPr lvl="1"/>
                <a:r>
                  <a:rPr lang="en-GB" altLang="ko-KR" sz="1600" dirty="0">
                    <a:latin typeface="Times New Roman" pitchFamily="18" charset="0"/>
                    <a:cs typeface="Times New Roman" pitchFamily="18" charset="0"/>
                  </a:rPr>
                  <a:t>The closer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h</m:t>
                        </m:r>
                        <m:r>
                          <a:rPr lang="en-GB" altLang="ko-KR" sz="16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en-GB" altLang="ko-KR" sz="1600" dirty="0">
                    <a:latin typeface="Times New Roman" pitchFamily="18" charset="0"/>
                    <a:cs typeface="Times New Roman" pitchFamily="18" charset="0"/>
                  </a:rPr>
                  <a:t> is to zero, the choice data of more rational individual are consistent with the group choice data. </a:t>
                </a:r>
              </a:p>
              <a:p>
                <a:pPr lvl="1"/>
                <a:endParaRPr lang="en-US" altLang="ko-KR" sz="1600" i="1" dirty="0"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lvl="1"/>
                <a:r>
                  <a:rPr lang="en-GB" altLang="ko-KR" sz="1600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ko-KR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h</m:t>
                        </m:r>
                        <m:r>
                          <a:rPr lang="en-GB" altLang="ko-KR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𝑔</m:t>
                        </m:r>
                      </m:sub>
                    </m:sSub>
                    <m:r>
                      <a:rPr lang="en-US" altLang="ko-KR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&lt;</m:t>
                    </m:r>
                    <m:sSub>
                      <m:sSubPr>
                        <m:ctrlPr>
                          <a:rPr lang="en-US" altLang="ko-KR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ko-KR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𝑙</m:t>
                        </m:r>
                        <m:r>
                          <a:rPr lang="en-GB" altLang="ko-KR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en-GB" altLang="ko-KR" sz="1600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, a more rational individual is said to have a larger revealed (bargaining) power than a less rational individual. </a:t>
                </a:r>
              </a:p>
              <a:p>
                <a:pPr lvl="2">
                  <a:buFont typeface="Wingdings" panose="05000000000000000000" pitchFamily="2" charset="2"/>
                  <a:buChar char="Ø"/>
                </a:pPr>
                <a:r>
                  <a:rPr lang="en-GB" altLang="ko-KR" sz="16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72% of the groups in the baseline data; 74% in the </a:t>
                </a:r>
                <a:r>
                  <a:rPr lang="en-GB" altLang="ko-KR" sz="1600" dirty="0" err="1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endline</a:t>
                </a:r>
                <a:r>
                  <a:rPr lang="en-GB" altLang="ko-KR" sz="16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 data</a:t>
                </a:r>
              </a:p>
              <a:p>
                <a:pPr marL="0" indent="0">
                  <a:buNone/>
                </a:pPr>
                <a:endParaRPr lang="en-US" altLang="ko-KR" sz="1600" dirty="0">
                  <a:latin typeface="Times New Roman" pitchFamily="18" charset="0"/>
                  <a:cs typeface="Times New Roman" pitchFamily="18" charset="0"/>
                </a:endParaRPr>
              </a:p>
              <a:p>
                <a:r>
                  <a:rPr lang="en-US" altLang="ko-KR" sz="2000" dirty="0">
                    <a:latin typeface="Times New Roman" pitchFamily="18" charset="0"/>
                    <a:cs typeface="Times New Roman" pitchFamily="18" charset="0"/>
                  </a:rPr>
                  <a:t>These indices are not defined when</a:t>
                </a:r>
              </a:p>
              <a:p>
                <a:endParaRPr lang="en-US" altLang="ko-KR" sz="1600" dirty="0">
                  <a:latin typeface="Times New Roman" pitchFamily="18" charset="0"/>
                  <a:cs typeface="Times New Roman" pitchFamily="18" charset="0"/>
                </a:endParaRPr>
              </a:p>
              <a:p>
                <a:pPr lvl="1"/>
                <a:r>
                  <a:rPr lang="en-US" altLang="ko-KR" sz="1600" dirty="0">
                    <a:latin typeface="Times New Roman" pitchFamily="18" charset="0"/>
                    <a:cs typeface="Times New Roman" pitchFamily="18" charset="0"/>
                  </a:rPr>
                  <a:t>All three datasets have a common preference; or</a:t>
                </a:r>
              </a:p>
              <a:p>
                <a:pPr lvl="1"/>
                <a:r>
                  <a:rPr lang="en-US" altLang="ko-KR" sz="1600" dirty="0">
                    <a:latin typeface="Times New Roman" pitchFamily="18" charset="0"/>
                    <a:cs typeface="Times New Roman" pitchFamily="18" charset="0"/>
                  </a:rPr>
                  <a:t>The group data contains the most severe violation of GARP </a:t>
                </a:r>
              </a:p>
              <a:p>
                <a:pPr lvl="1"/>
                <a:endParaRPr lang="en-US" altLang="ko-KR" sz="1600" dirty="0">
                  <a:latin typeface="Times New Roman" pitchFamily="18" charset="0"/>
                  <a:cs typeface="Times New Roman" pitchFamily="18" charset="0"/>
                </a:endParaRPr>
              </a:p>
              <a:p>
                <a:pPr lvl="1"/>
                <a:r>
                  <a:rPr lang="en-US" altLang="ko-KR" sz="1600" dirty="0">
                    <a:latin typeface="Times New Roman" pitchFamily="18" charset="0"/>
                    <a:cs typeface="Times New Roman" pitchFamily="18" charset="0"/>
                  </a:rPr>
                  <a:t>About 50 pairs in each of baseline and endline samples</a:t>
                </a:r>
              </a:p>
              <a:p>
                <a:pPr marL="0" indent="0">
                  <a:buNone/>
                </a:pPr>
                <a:endParaRPr lang="en-US" altLang="ko-KR" sz="16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03856E6-F450-23B4-B90D-EBC7DF443C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667" t="-1348" r="-7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75516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D4575-77C3-1853-0D48-E8F40A758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65244-84BF-0A31-7711-9972FA679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Selective Group 1</a:t>
            </a:r>
            <a:endParaRPr lang="en-GB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2DF262C-4474-2B12-58F7-D9BADE9C9314}"/>
                  </a:ext>
                </a:extLst>
              </p:cNvPr>
              <p:cNvSpPr txBox="1"/>
              <p:nvPr/>
            </p:nvSpPr>
            <p:spPr>
              <a:xfrm>
                <a:off x="827584" y="5733256"/>
                <a:ext cx="6994287" cy="94590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more rational individual (right; </a:t>
                </a:r>
                <a:r>
                  <a:rPr lang="en-GB" altLang="ko-KR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blue</a:t>
                </a:r>
                <a:r>
                  <a:rPr lang="en-GB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and the group behave the same</a:t>
                </a:r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ko-KR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ko-KR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h</m:t>
                        </m:r>
                        <m:r>
                          <a:rPr lang="en-GB" altLang="ko-KR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𝑔</m:t>
                        </m:r>
                      </m:sub>
                    </m:sSub>
                    <m:r>
                      <a:rPr lang="en-GB" altLang="ko-KR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=0,  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𝐼</m:t>
                        </m:r>
                      </m:e>
                      <m:sub>
                        <m:r>
                          <a:rPr lang="en-GB" altLang="ko-KR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𝑙</m:t>
                        </m:r>
                        <m:r>
                          <a:rPr lang="en-GB" altLang="ko-KR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𝑔</m:t>
                        </m:r>
                      </m:sub>
                    </m:sSub>
                    <m:r>
                      <a:rPr lang="en-GB" altLang="ko-KR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=0.97</m:t>
                    </m:r>
                  </m:oMath>
                </a14:m>
                <a:endParaRPr lang="ko-KR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2DF262C-4474-2B12-58F7-D9BADE9C93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5733256"/>
                <a:ext cx="6994287" cy="945900"/>
              </a:xfrm>
              <a:prstGeom prst="rect">
                <a:avLst/>
              </a:prstGeom>
              <a:blipFill>
                <a:blip r:embed="rId3"/>
                <a:stretch>
                  <a:fillRect l="-610" t="-3205" r="-697" b="-448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2">
            <a:extLst>
              <a:ext uri="{FF2B5EF4-FFF2-40B4-BE49-F238E27FC236}">
                <a16:creationId xmlns:a16="http://schemas.microsoft.com/office/drawing/2014/main" id="{359CB011-F4BF-4EF7-883C-09C3190DF7D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1729502"/>
            <a:ext cx="6156770" cy="3691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3092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D4575-77C3-1853-0D48-E8F40A758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65244-84BF-0A31-7711-9972FA679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Selective Group 2</a:t>
            </a:r>
            <a:endParaRPr lang="en-GB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2DF262C-4474-2B12-58F7-D9BADE9C9314}"/>
                  </a:ext>
                </a:extLst>
              </p:cNvPr>
              <p:cNvSpPr txBox="1"/>
              <p:nvPr/>
            </p:nvSpPr>
            <p:spPr>
              <a:xfrm>
                <a:off x="827584" y="5733256"/>
                <a:ext cx="2663934" cy="3919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ko-KR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h</m:t>
                        </m:r>
                        <m:r>
                          <a:rPr lang="en-GB" altLang="ko-KR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𝑔</m:t>
                        </m:r>
                      </m:sub>
                    </m:sSub>
                    <m:r>
                      <a:rPr lang="en-GB" altLang="ko-KR" i="1">
                        <a:latin typeface="Cambria Math" panose="02040503050406030204" pitchFamily="18" charset="0"/>
                        <a:cs typeface="Times New Roman" pitchFamily="18" charset="0"/>
                      </a:rPr>
                      <m:t>=0</m:t>
                    </m:r>
                    <m:r>
                      <a:rPr lang="en-GB" altLang="ko-KR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.03</m:t>
                    </m:r>
                    <m:r>
                      <a:rPr lang="en-GB" altLang="ko-KR" i="1">
                        <a:latin typeface="Cambria Math" panose="02040503050406030204" pitchFamily="18" charset="0"/>
                        <a:cs typeface="Times New Roman" pitchFamily="18" charset="0"/>
                      </a:rPr>
                      <m:t>,  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𝐼</m:t>
                        </m:r>
                      </m:e>
                      <m:sub>
                        <m:r>
                          <a:rPr lang="en-GB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𝑙</m:t>
                        </m:r>
                        <m:r>
                          <a:rPr lang="en-GB" altLang="ko-KR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𝑔</m:t>
                        </m:r>
                      </m:sub>
                    </m:sSub>
                    <m:r>
                      <a:rPr lang="en-GB" altLang="ko-KR" i="1"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r>
                      <a:rPr lang="en-GB" altLang="ko-KR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1.00</m:t>
                    </m:r>
                  </m:oMath>
                </a14:m>
                <a:endParaRPr lang="ko-KR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2DF262C-4474-2B12-58F7-D9BADE9C93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5733256"/>
                <a:ext cx="2663934" cy="391902"/>
              </a:xfrm>
              <a:prstGeom prst="rect">
                <a:avLst/>
              </a:prstGeom>
              <a:blipFill>
                <a:blip r:embed="rId3"/>
                <a:stretch>
                  <a:fillRect l="-1602" t="-1538" b="-123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4">
            <a:extLst>
              <a:ext uri="{FF2B5EF4-FFF2-40B4-BE49-F238E27FC236}">
                <a16:creationId xmlns:a16="http://schemas.microsoft.com/office/drawing/2014/main" id="{F1DEC416-2E99-422A-89CC-9CE4F31FA3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1640" y="1729502"/>
            <a:ext cx="6156770" cy="3691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098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891615-A3FE-F1E5-DC7A-BB27CF463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9DBB8-0A46-90BE-A63C-66E4FD4A7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Selective Group 3</a:t>
            </a:r>
            <a:endParaRPr lang="en-GB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0722152-2B73-2E4F-63B9-055B18755165}"/>
                  </a:ext>
                </a:extLst>
              </p:cNvPr>
              <p:cNvSpPr txBox="1"/>
              <p:nvPr/>
            </p:nvSpPr>
            <p:spPr>
              <a:xfrm>
                <a:off x="827584" y="5733256"/>
                <a:ext cx="2779351" cy="3919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ko-KR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h</m:t>
                        </m:r>
                        <m:r>
                          <a:rPr lang="en-GB" altLang="ko-KR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𝑔</m:t>
                        </m:r>
                      </m:sub>
                    </m:sSub>
                    <m:r>
                      <a:rPr lang="en-GB" altLang="ko-KR" i="1">
                        <a:latin typeface="Cambria Math" panose="02040503050406030204" pitchFamily="18" charset="0"/>
                        <a:cs typeface="Times New Roman" pitchFamily="18" charset="0"/>
                      </a:rPr>
                      <m:t>=0</m:t>
                    </m:r>
                    <m:r>
                      <a:rPr lang="en-GB" altLang="ko-KR" i="1">
                        <a:latin typeface="Cambria Math" panose="02040503050406030204" pitchFamily="18" charset="0"/>
                        <a:cs typeface="Times New Roman" pitchFamily="18" charset="0"/>
                      </a:rPr>
                      <m:t>.</m:t>
                    </m:r>
                    <m:r>
                      <a:rPr lang="en-GB" altLang="ko-KR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40</m:t>
                    </m:r>
                    <m:r>
                      <a:rPr lang="en-GB" altLang="ko-KR" i="1">
                        <a:latin typeface="Cambria Math" panose="02040503050406030204" pitchFamily="18" charset="0"/>
                        <a:cs typeface="Times New Roman" pitchFamily="18" charset="0"/>
                      </a:rPr>
                      <m:t>,  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𝐼</m:t>
                        </m:r>
                      </m:e>
                      <m:sub>
                        <m:r>
                          <a:rPr lang="en-GB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𝑙</m:t>
                        </m:r>
                        <m:r>
                          <a:rPr lang="en-GB" altLang="ko-KR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𝑔</m:t>
                        </m:r>
                      </m:sub>
                    </m:sSub>
                    <m:r>
                      <a:rPr lang="en-GB" altLang="ko-KR" i="1"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r>
                      <a:rPr lang="en-GB" altLang="ko-KR" i="1">
                        <a:latin typeface="Cambria Math" panose="02040503050406030204" pitchFamily="18" charset="0"/>
                        <a:cs typeface="Times New Roman" pitchFamily="18" charset="0"/>
                      </a:rPr>
                      <m:t>1.00</m:t>
                    </m:r>
                  </m:oMath>
                </a14:m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ko-KR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0722152-2B73-2E4F-63B9-055B187551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5733256"/>
                <a:ext cx="2779351" cy="391902"/>
              </a:xfrm>
              <a:prstGeom prst="rect">
                <a:avLst/>
              </a:prstGeom>
              <a:blipFill>
                <a:blip r:embed="rId3"/>
                <a:stretch>
                  <a:fillRect l="-1535" t="-1538" b="-123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2481A1DF-27D1-4AB2-7367-E7675DEA41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3615" y="1735213"/>
            <a:ext cx="6156770" cy="3691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0023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D4575-77C3-1853-0D48-E8F40A758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65244-84BF-0A31-7711-9972FA679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Revealed Preference Distance: </a:t>
            </a:r>
            <a:r>
              <a:rPr lang="en-US" sz="40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More Rational Individual</a:t>
            </a:r>
            <a:endParaRPr lang="en-GB" sz="40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02D9918-99C2-3151-64E4-7B08D17950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" y="1920240"/>
            <a:ext cx="4430268" cy="30175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E798B2B-E6C2-B7A4-B6EE-407EE8A874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920240"/>
            <a:ext cx="4430268" cy="301752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2DF262C-4474-2B12-58F7-D9BADE9C9314}"/>
                  </a:ext>
                </a:extLst>
              </p:cNvPr>
              <p:cNvSpPr txBox="1"/>
              <p:nvPr/>
            </p:nvSpPr>
            <p:spPr>
              <a:xfrm>
                <a:off x="827584" y="5589240"/>
                <a:ext cx="6796669" cy="3919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average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altLang="ko-KR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ko-KR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0.368 in the baseline and 0.299 in the </a:t>
                </a:r>
                <a:r>
                  <a:rPr lang="en-US" altLang="ko-KR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endline</a:t>
                </a:r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endParaRPr lang="ko-KR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="" xmlns:a16="http://schemas.microsoft.com/office/drawing/2014/main" id="{B2DF262C-4474-2B12-58F7-D9BADE9C93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5589240"/>
                <a:ext cx="6796669" cy="391902"/>
              </a:xfrm>
              <a:prstGeom prst="rect">
                <a:avLst/>
              </a:prstGeom>
              <a:blipFill rotWithShape="0">
                <a:blip r:embed="rId5"/>
                <a:stretch>
                  <a:fillRect l="-628" t="-9375" b="-1875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652690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20E93-C4D7-CBDE-606C-A6B75A80B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F5CE0-B215-4989-F1E9-6DF3C78B3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Revealed Preference Distance: </a:t>
            </a:r>
            <a:r>
              <a:rPr lang="en-US" sz="40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Less Rational Individual</a:t>
            </a:r>
            <a:endParaRPr lang="en-GB" sz="40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Picture 1">
            <a:extLst>
              <a:ext uri="{FF2B5EF4-FFF2-40B4-BE49-F238E27FC236}">
                <a16:creationId xmlns:a16="http://schemas.microsoft.com/office/drawing/2014/main" id="{112333FB-37C9-4795-C938-3F3397ADD2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78" y="1988840"/>
            <a:ext cx="4430268" cy="301752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4AAA2891-8791-FF98-C48A-100E29C096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6354" y="1988840"/>
            <a:ext cx="4430268" cy="301752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681F6E0-0872-940C-E29D-A485C02AD36F}"/>
                  </a:ext>
                </a:extLst>
              </p:cNvPr>
              <p:cNvSpPr txBox="1"/>
              <p:nvPr/>
            </p:nvSpPr>
            <p:spPr>
              <a:xfrm>
                <a:off x="827584" y="5733256"/>
                <a:ext cx="6751785" cy="3919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average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altLang="ko-KR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ko-KR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0.781 in the baseline and 0.774 in the </a:t>
                </a:r>
                <a:r>
                  <a:rPr lang="en-US" altLang="ko-KR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endline</a:t>
                </a:r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endParaRPr lang="ko-KR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="" xmlns:a16="http://schemas.microsoft.com/office/drawing/2014/main" id="{A681F6E0-0872-940C-E29D-A485C02AD3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5733256"/>
                <a:ext cx="6751785" cy="391902"/>
              </a:xfrm>
              <a:prstGeom prst="rect">
                <a:avLst/>
              </a:prstGeom>
              <a:blipFill rotWithShape="0">
                <a:blip r:embed="rId5"/>
                <a:stretch>
                  <a:fillRect l="-632" t="-7692" b="-1692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458201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AD0AA-AB5E-2B25-792E-D44F51DBD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59F9A-47B5-F32C-683E-AC712FCBC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Revealed Preference Distance</a:t>
            </a:r>
            <a:endParaRPr lang="en-GB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4">
                <a:extLst>
                  <a:ext uri="{FF2B5EF4-FFF2-40B4-BE49-F238E27FC236}">
                    <a16:creationId xmlns:a16="http://schemas.microsoft.com/office/drawing/2014/main" id="{889D783C-C2A8-EA3C-9675-531A873DB2BA}"/>
                  </a:ext>
                </a:extLst>
              </p:cNvPr>
              <p:cNvSpPr txBox="1"/>
              <p:nvPr/>
            </p:nvSpPr>
            <p:spPr>
              <a:xfrm>
                <a:off x="827584" y="5410071"/>
                <a:ext cx="7086388" cy="13634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Mean of a less rational individuals’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b="0" i="0" smtClean="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en-US" altLang="ko-KR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(i.e.,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en-US" altLang="ko-KR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altLang="ko-KR" sz="16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= 0.777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ko-KR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742950" lvl="1" indent="-285750">
                  <a:buFont typeface="Times New Roman" panose="02020603050405020304" pitchFamily="18" charset="0"/>
                  <a:buChar char="–"/>
                </a:pPr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On average,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en-US" altLang="ko-KR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altLang="ko-KR" sz="16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57.1% lower than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en-US" altLang="ko-KR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altLang="ko-KR" sz="16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within the same group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ko-KR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This rationality-based distance becomes larger in the </a:t>
                </a:r>
                <a:r>
                  <a:rPr lang="en-US" altLang="ko-KR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endline</a:t>
                </a:r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endParaRPr lang="ko-KR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extBox 4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889D783C-C2A8-EA3C-9675-531A873DB2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5410071"/>
                <a:ext cx="7086388" cy="1363450"/>
              </a:xfrm>
              <a:prstGeom prst="rect">
                <a:avLst/>
              </a:prstGeom>
              <a:blipFill rotWithShape="0">
                <a:blip r:embed="rId3"/>
                <a:stretch>
                  <a:fillRect l="-344" t="-1339" b="-49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4">
            <a:extLst>
              <a:ext uri="{FF2B5EF4-FFF2-40B4-BE49-F238E27FC236}">
                <a16:creationId xmlns:a16="http://schemas.microsoft.com/office/drawing/2014/main" id="{23BD8BEA-D846-4E6B-9FD2-412AE481D8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568" y="1556792"/>
            <a:ext cx="7682032" cy="3714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8404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Conclusion</a:t>
            </a:r>
            <a:endParaRPr lang="en-GB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rmAutofit/>
          </a:bodyPr>
          <a:lstStyle/>
          <a:p>
            <a:r>
              <a:rPr lang="en-US" altLang="ko-KR" sz="2000" dirty="0">
                <a:latin typeface="Times New Roman" pitchFamily="18" charset="0"/>
                <a:cs typeface="Times New Roman" pitchFamily="18" charset="0"/>
              </a:rPr>
              <a:t>Large-scale, panel experiments about individual and group decision-making</a:t>
            </a:r>
          </a:p>
          <a:p>
            <a:endParaRPr lang="en-US" altLang="ko-KR" sz="2000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altLang="ko-KR" sz="1600" dirty="0">
                <a:latin typeface="Times New Roman" pitchFamily="18" charset="0"/>
                <a:cs typeface="Times New Roman" pitchFamily="18" charset="0"/>
              </a:rPr>
              <a:t>Random group formation leads to infer the effects of individual rationality on the quality of group decision-making and individual power on group decision-making.</a:t>
            </a:r>
          </a:p>
          <a:p>
            <a:pPr marL="0" indent="0">
              <a:buNone/>
            </a:pPr>
            <a:endParaRPr lang="en-US" altLang="ko-KR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ko-KR" sz="2000" dirty="0">
                <a:latin typeface="Times New Roman" pitchFamily="18" charset="0"/>
                <a:cs typeface="Times New Roman" pitchFamily="18" charset="0"/>
              </a:rPr>
              <a:t>Provide a nonparametric, revealed preference measure of individual (bargaining) power on group decisions. </a:t>
            </a:r>
          </a:p>
          <a:p>
            <a:pPr marL="457200" lvl="1" indent="0">
              <a:buNone/>
            </a:pPr>
            <a:endParaRPr lang="en-US" altLang="ko-KR" sz="1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ko-KR" sz="2000" dirty="0">
                <a:latin typeface="Times New Roman" pitchFamily="18" charset="0"/>
                <a:cs typeface="Times New Roman" pitchFamily="18" charset="0"/>
              </a:rPr>
              <a:t>Findings</a:t>
            </a:r>
          </a:p>
          <a:p>
            <a:endParaRPr lang="en-US" altLang="ko-KR" sz="2000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altLang="ko-KR" sz="1600" dirty="0">
                <a:latin typeface="Times New Roman" pitchFamily="18" charset="0"/>
                <a:cs typeface="Times New Roman" pitchFamily="18" charset="0"/>
              </a:rPr>
              <a:t>The quality of group decisions increases in individual rationality and decreases in the difference in individual rationalities</a:t>
            </a:r>
          </a:p>
          <a:p>
            <a:pPr lvl="1"/>
            <a:r>
              <a:rPr lang="en-US" altLang="ko-KR" sz="1600" dirty="0">
                <a:latin typeface="Times New Roman" pitchFamily="18" charset="0"/>
                <a:cs typeface="Times New Roman" pitchFamily="18" charset="0"/>
              </a:rPr>
              <a:t>A more rational individual has a larger revealed (bargaining) power on group decision-making. </a:t>
            </a:r>
          </a:p>
          <a:p>
            <a:pPr marL="0" indent="0">
              <a:buNone/>
            </a:pPr>
            <a:endParaRPr lang="en-US" altLang="ko-KR" sz="2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63416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13618</TotalTime>
  <Words>1375</Words>
  <Application>Microsoft Office PowerPoint</Application>
  <PresentationFormat>On-screen Show (4:3)</PresentationFormat>
  <Paragraphs>231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Arial</vt:lpstr>
      <vt:lpstr>Calibri</vt:lpstr>
      <vt:lpstr>Cambria Math</vt:lpstr>
      <vt:lpstr>Times</vt:lpstr>
      <vt:lpstr>Times New Roman</vt:lpstr>
      <vt:lpstr>Wingdings</vt:lpstr>
      <vt:lpstr>Office Theme</vt:lpstr>
      <vt:lpstr>Rationality-Based  Preference Aggregation</vt:lpstr>
      <vt:lpstr>Introduction</vt:lpstr>
      <vt:lpstr>In This Paper</vt:lpstr>
      <vt:lpstr>Sampling</vt:lpstr>
      <vt:lpstr>Decision Problem</vt:lpstr>
      <vt:lpstr>Experimental Procedures</vt:lpstr>
      <vt:lpstr>Measuring Rationality</vt:lpstr>
      <vt:lpstr>Measuring Risk Preferences</vt:lpstr>
      <vt:lpstr>Balance Test</vt:lpstr>
      <vt:lpstr>Rationality Extension</vt:lpstr>
      <vt:lpstr>Rationality Extension</vt:lpstr>
      <vt:lpstr>Does Preference Aggregation Depend on Rationality?</vt:lpstr>
      <vt:lpstr>Does Preference Aggregation Depend on Rationality?</vt:lpstr>
      <vt:lpstr>Does Preference Aggregation Depend on Rationality?</vt:lpstr>
      <vt:lpstr>Revealed (Bargaining) Power</vt:lpstr>
      <vt:lpstr>Revealed (Bargaining) Power</vt:lpstr>
      <vt:lpstr>Revealed (Bargaining) Power</vt:lpstr>
      <vt:lpstr>Selective Group 1</vt:lpstr>
      <vt:lpstr>Selective Group 2</vt:lpstr>
      <vt:lpstr>Selective Group 3</vt:lpstr>
      <vt:lpstr>Revealed Preference Distance: More Rational Individual</vt:lpstr>
      <vt:lpstr>Revealed Preference Distance: Less Rational Individual</vt:lpstr>
      <vt:lpstr>Revealed Preference Distance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 Formation in Large Groups: New Tool and Applications</dc:title>
  <dc:creator>Choi Syngjoo</dc:creator>
  <cp:lastModifiedBy>Syngjoo Choi</cp:lastModifiedBy>
  <cp:revision>394</cp:revision>
  <cp:lastPrinted>2020-09-11T00:36:22Z</cp:lastPrinted>
  <dcterms:created xsi:type="dcterms:W3CDTF">2019-11-29T16:58:42Z</dcterms:created>
  <dcterms:modified xsi:type="dcterms:W3CDTF">2025-06-27T01:33:36Z</dcterms:modified>
</cp:coreProperties>
</file>