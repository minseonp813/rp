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929" r:id="rId2"/>
    <p:sldId id="930" r:id="rId3"/>
    <p:sldId id="932" r:id="rId4"/>
    <p:sldId id="935" r:id="rId5"/>
    <p:sldId id="933" r:id="rId6"/>
    <p:sldId id="934" r:id="rId7"/>
    <p:sldId id="936" r:id="rId8"/>
    <p:sldId id="950" r:id="rId9"/>
    <p:sldId id="954" r:id="rId10"/>
    <p:sldId id="937" r:id="rId11"/>
    <p:sldId id="938" r:id="rId12"/>
    <p:sldId id="951" r:id="rId13"/>
    <p:sldId id="952" r:id="rId14"/>
    <p:sldId id="949" r:id="rId15"/>
    <p:sldId id="939" r:id="rId16"/>
    <p:sldId id="942" r:id="rId17"/>
    <p:sldId id="959" r:id="rId18"/>
    <p:sldId id="945" r:id="rId19"/>
    <p:sldId id="943" r:id="rId20"/>
    <p:sldId id="957" r:id="rId21"/>
    <p:sldId id="958" r:id="rId22"/>
    <p:sldId id="956" r:id="rId23"/>
    <p:sldId id="944" r:id="rId24"/>
    <p:sldId id="948" r:id="rId25"/>
    <p:sldId id="955" r:id="rId26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70BE3D-FFC4-2C1A-84C9-38001BC16696}" name="Syngjoo Choi" initials="SC" userId="88f896864aa6879d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ungik" initials="E" lastIdx="2" clrIdx="0">
    <p:extLst>
      <p:ext uri="{19B8F6BF-5375-455C-9EA6-DF929625EA0E}">
        <p15:presenceInfo xmlns:p15="http://schemas.microsoft.com/office/powerpoint/2012/main" userId="Eungi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DA63"/>
    <a:srgbClr val="FAAB9A"/>
    <a:srgbClr val="617186"/>
    <a:srgbClr val="FF5050"/>
    <a:srgbClr val="E99833"/>
    <a:srgbClr val="FF73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64" autoAdjust="0"/>
    <p:restoredTop sz="50067" autoAdjust="0"/>
  </p:normalViewPr>
  <p:slideViewPr>
    <p:cSldViewPr>
      <p:cViewPr varScale="1">
        <p:scale>
          <a:sx n="90" d="100"/>
          <a:sy n="90" d="100"/>
        </p:scale>
        <p:origin x="1251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259D6-D95A-A642-B04C-599C4F6BFD72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56EE9-0783-8540-B302-D98D03794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7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236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155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88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961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1483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08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418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82DCB-5C0F-2C14-4116-E0F4EC72F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43947D-5F9C-3E3E-96E7-DB6E2E8311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9288ED-2AD8-DF0D-8053-D349A8418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C24921-0CE6-CD08-E30E-F19C22956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934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04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298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237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EF1F4-ABE0-AF9D-F23E-C213E222F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9312C0-BAED-5CAD-7C77-B9DA6CE43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F3A5FC-BCD5-10DF-7461-33F47EB66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1A4CDB-1ED3-713F-0BB8-EABA55DBBE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652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482CE-6BD2-A2D8-6D73-26EE86F20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97BDE3-1965-2020-14E9-332A59002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FBC2B6-C305-E10A-0DE2-5B373BEF0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EC254B-611B-0DE5-EDCD-DE8504673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174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39A24-844A-9875-BAA3-DEAA24E8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7B48A2-E1BD-8699-FA44-C05270441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59DDEF-09E3-896F-A469-607FE58E8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947AF2-F53B-0C7A-4A3C-160F8107C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795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621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B3513-BB57-1983-1465-A6C3E7007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50A8BA-00E3-F63C-BC7C-66542DCF9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DAC00D-A93F-214A-5973-0532630B3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B44F1-8805-E7C0-4006-1A907C261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5031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B3513-BB57-1983-1465-A6C3E7007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50A8BA-00E3-F63C-BC7C-66542DCF9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DAC00D-A93F-214A-5973-0532630B3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B44F1-8805-E7C0-4006-1A907C261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6277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2E54-38B1-6741-0EA7-EC35F7BDA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72409A-3EE7-2D70-0DBC-9B6AEA9EC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A7DA6B-94E5-391A-6E54-C97242ABC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59C444-3815-A8E0-EB81-FFEEB711B3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333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8726F-690B-8838-D15E-D26DD323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FD8F57-7A4F-BF92-34FD-E61EDD3DE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6FC163-66FF-2404-82BE-F45A0EF18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BFF194-73DB-52E1-7A2C-2E2C28313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267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8726F-690B-8838-D15E-D26DD323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FD8F57-7A4F-BF92-34FD-E61EDD3DE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6FC163-66FF-2404-82BE-F45A0EF18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BFF194-73DB-52E1-7A2C-2E2C28313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445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5DDA3-4CEB-4769-8C97-691FC7919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F33E9B-F497-05C2-73EC-AC4988A3B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F92422-DD77-B6EC-E860-E56B7B405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6880DC-9F4C-4A1C-8A22-07177024D6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1253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8726F-690B-8838-D15E-D26DD323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FD8F57-7A4F-BF92-34FD-E61EDD3DE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6FC163-66FF-2404-82BE-F45A0EF18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BFF194-73DB-52E1-7A2C-2E2C28313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197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71C08-9572-0A74-9680-BDC323205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E104A8-1C3F-72BC-7797-91FB434E8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C540B6-8A86-F555-C354-BFC5A68BA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039ED3-BF4D-3814-D1B5-F893116090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168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99E0A-552C-C8D7-E3F1-FCA8BB2A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6810C5-0039-38AE-3627-546121313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05BCF4-3B26-09C2-BDFB-6D47311F0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5BC16B-1D9A-7000-4596-3F4A9BC22E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9995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214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11/08/2025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5788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11/08/2025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608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11/08/2025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918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11/08/2025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568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11/08/2025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8586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11/08/2025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4543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11/08/2025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707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11/08/2025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292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11/08/2025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813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11/08/2025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626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11/08/2025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810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9E123-D8C4-4447-B39B-CB6328F8A714}" type="datetimeFigureOut">
              <a:rPr lang="en-GB" smtClean="0"/>
              <a:pPr/>
              <a:t>11/08/2025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417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3" y="1124744"/>
            <a:ext cx="8208912" cy="208823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Rationality-Based </a:t>
            </a:r>
            <a:b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Preference Aggregation</a:t>
            </a:r>
            <a:endParaRPr lang="en-GB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41779" y="5661248"/>
            <a:ext cx="22548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solidFill>
                  <a:srgbClr val="0000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August 15, 2025</a:t>
            </a:r>
          </a:p>
          <a:p>
            <a:pPr algn="ctr"/>
            <a:r>
              <a:rPr lang="en-US" altLang="ko-KR" sz="2000" dirty="0">
                <a:solidFill>
                  <a:srgbClr val="0000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9</a:t>
            </a:r>
            <a:r>
              <a:rPr lang="en-US" altLang="ko-KR" sz="2000" baseline="30000" dirty="0">
                <a:solidFill>
                  <a:srgbClr val="0000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th</a:t>
            </a:r>
            <a:r>
              <a:rPr lang="en-US" altLang="ko-KR" sz="2000" dirty="0">
                <a:solidFill>
                  <a:srgbClr val="0000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BEET Workshop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60394"/>
              </p:ext>
            </p:extLst>
          </p:nvPr>
        </p:nvGraphicFramePr>
        <p:xfrm>
          <a:off x="1259632" y="3789040"/>
          <a:ext cx="6624735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8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8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85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Syngjoo Choi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(SNU)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Byunghun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Hahn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(SNU)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Booyuel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Kim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(SNU)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Minseon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Park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(Michigan)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Yoonsoo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Park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(SMU)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Euncheol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Shin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(KAIST)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2029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Long-standing interests in group decision making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Households (e.g., </a:t>
            </a:r>
            <a:r>
              <a:rPr lang="en-US" altLang="ko-KR" sz="1600" dirty="0" err="1">
                <a:latin typeface="Times New Roman" pitchFamily="18" charset="0"/>
                <a:cs typeface="Times New Roman" pitchFamily="18" charset="0"/>
              </a:rPr>
              <a:t>McEloy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 and Horney, 1981; </a:t>
            </a:r>
            <a:r>
              <a:rPr lang="en-US" altLang="ko-KR" sz="1600" dirty="0" err="1">
                <a:latin typeface="Times New Roman" pitchFamily="18" charset="0"/>
                <a:cs typeface="Times New Roman" pitchFamily="18" charset="0"/>
              </a:rPr>
              <a:t>Chiappori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, 1992; Lundberg and Pollak, 1996); 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Committees (</a:t>
            </a:r>
            <a:r>
              <a:rPr lang="en-US" altLang="ko-KR" sz="1600" dirty="0" err="1">
                <a:latin typeface="Times New Roman" pitchFamily="18" charset="0"/>
                <a:cs typeface="Times New Roman" pitchFamily="18" charset="0"/>
              </a:rPr>
              <a:t>e.g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,, Austen-Smith and Banks, 1996; Feddersen and </a:t>
            </a:r>
            <a:r>
              <a:rPr lang="en-US" altLang="ko-KR" sz="1600" dirty="0" err="1">
                <a:latin typeface="Times New Roman" pitchFamily="18" charset="0"/>
                <a:cs typeface="Times New Roman" pitchFamily="18" charset="0"/>
              </a:rPr>
              <a:t>Pesendorfer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, 1998))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Social choice theory (e.g., Arrow, 1951; Sen, 1970), etc.</a:t>
            </a:r>
          </a:p>
          <a:p>
            <a:pPr marL="0" indent="0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Individual rationality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 is a foundational assumption in understanding group decision making. </a:t>
            </a:r>
          </a:p>
          <a:p>
            <a:pPr marL="0" indent="0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GB" altLang="ko-KR" sz="1600" dirty="0">
                <a:latin typeface="Times New Roman" pitchFamily="18" charset="0"/>
                <a:cs typeface="Times New Roman" pitchFamily="18" charset="0"/>
              </a:rPr>
              <a:t>Various determinants of group decision-making: 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outside options, information and resources controlled, rules of interaction</a:t>
            </a:r>
            <a:r>
              <a:rPr lang="en-US" altLang="ko-KR" sz="1800" dirty="0">
                <a:latin typeface="Times New Roman" pitchFamily="18" charset="0"/>
                <a:cs typeface="Times New Roman" pitchFamily="18" charset="0"/>
              </a:rPr>
              <a:t>, etc.</a:t>
            </a:r>
          </a:p>
          <a:p>
            <a:pPr lvl="1"/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We claim that </a:t>
            </a:r>
            <a:r>
              <a:rPr lang="en-US" altLang="ko-KR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the degree of individual rationality is one source of 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(1)</a:t>
            </a:r>
            <a:r>
              <a:rPr lang="en-US" altLang="ko-KR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the quality of group decision-making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 and (2) </a:t>
            </a:r>
            <a:r>
              <a:rPr lang="en-US" altLang="ko-KR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individual influence on it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848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 This Paper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ko-KR" sz="2000" dirty="0">
                <a:latin typeface="Times New Roman" pitchFamily="18" charset="0"/>
                <a:cs typeface="Times New Roman" pitchFamily="18" charset="0"/>
              </a:rPr>
              <a:t>Conduct large-scale panel experiments over two periods with a four-month interval</a:t>
            </a: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GB" altLang="ko-KR" sz="1600" dirty="0">
                <a:latin typeface="Times New Roman" pitchFamily="18" charset="0"/>
                <a:cs typeface="Times New Roman" pitchFamily="18" charset="0"/>
              </a:rPr>
              <a:t>Over 1,300 (final sample) individuals are randomly paired to make </a:t>
            </a:r>
            <a:r>
              <a:rPr lang="en-GB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individual and group decisions </a:t>
            </a:r>
            <a:r>
              <a:rPr lang="en-GB" altLang="ko-KR" sz="1600" dirty="0">
                <a:latin typeface="Times New Roman" pitchFamily="18" charset="0"/>
                <a:cs typeface="Times New Roman" pitchFamily="18" charset="0"/>
              </a:rPr>
              <a:t>in a portfolio allocation problem</a:t>
            </a:r>
          </a:p>
          <a:p>
            <a:pPr lvl="1"/>
            <a:endParaRPr lang="en-GB" altLang="ko-KR" sz="16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GB" altLang="ko-KR" sz="1600" dirty="0">
                <a:latin typeface="Times New Roman" pitchFamily="18" charset="0"/>
                <a:cs typeface="Times New Roman" pitchFamily="18" charset="0"/>
              </a:rPr>
              <a:t>Collect rich individual- and collective-level data suited to applying revealed preference analysis</a:t>
            </a:r>
          </a:p>
          <a:p>
            <a:pPr marL="0" indent="0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Propose a nonparametric, revealed preference measure of individual power on group decision making 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Make a causal inference on the effect of individual rationality on group outcomes. </a:t>
            </a:r>
          </a:p>
          <a:p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523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Sampling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ko-KR" sz="2000" dirty="0">
                <a:latin typeface="Times New Roman" pitchFamily="18" charset="0"/>
                <a:cs typeface="Times New Roman" pitchFamily="18" charset="0"/>
              </a:rPr>
              <a:t>1,573 students from 12 middle schools in South Korea in the baseline study (in August); 1,468 revisited in the endline study (in December) </a:t>
            </a:r>
          </a:p>
          <a:p>
            <a:pPr marL="0" indent="0">
              <a:buNone/>
            </a:pPr>
            <a:endParaRPr lang="en-GB" altLang="ko-KR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In each study, they completed two stages of decision making under risk at the individual level and at the collective level.  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Pairs were </a:t>
            </a:r>
            <a:r>
              <a:rPr lang="en-US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randomly formed 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within classroom for collective choices in the baseline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They were kept unchanged in the endline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Due to attrition or group mismatching, </a:t>
            </a:r>
            <a:r>
              <a:rPr lang="en-US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final sample consists of 652 groups (1,304 individuals) 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in both studies.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We also collected their individual characteristics (mover, height, gender, math score, </a:t>
            </a:r>
            <a:r>
              <a:rPr lang="en-US" altLang="ko-KR" sz="2000" dirty="0" err="1">
                <a:latin typeface="Times New Roman" pitchFamily="18" charset="0"/>
                <a:cs typeface="Times New Roman" pitchFamily="18" charset="0"/>
              </a:rPr>
              <a:t>etc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) and friendship information. </a:t>
            </a:r>
            <a:endParaRPr lang="en-US" altLang="ko-KR" sz="160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15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Decision Problem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Follow Choi et al. (2007)</a:t>
                </a:r>
              </a:p>
              <a:p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Allocate an income over two Arrow securities (associated with equally probably two states): choose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altLang="ko-KR" sz="1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ko-KR" sz="16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 subject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ko-KR" sz="1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altLang="ko-KR" sz="1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=1</m:t>
                    </m:r>
                  </m:oMath>
                </a14:m>
                <a:endParaRPr lang="en-GB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endParaRPr lang="en-US" altLang="ko-KR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3212976"/>
            <a:ext cx="3881247" cy="317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932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Experimental Procedures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65104"/>
          </a:xfrm>
        </p:spPr>
        <p:txBody>
          <a:bodyPr>
            <a:normAutofit/>
          </a:bodyPr>
          <a:lstStyle/>
          <a:p>
            <a:r>
              <a:rPr lang="en-GB" altLang="ko-KR" sz="2000" dirty="0">
                <a:latin typeface="Times New Roman" pitchFamily="18" charset="0"/>
                <a:cs typeface="Times New Roman" pitchFamily="18" charset="0"/>
              </a:rPr>
              <a:t>Participants: students from 12 middle schools in South Korea</a:t>
            </a: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07704" y="2708920"/>
            <a:ext cx="1636987" cy="646331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Stage 1</a:t>
            </a:r>
          </a:p>
          <a:p>
            <a:pPr algn="ctr"/>
            <a:r>
              <a:rPr lang="en-US" altLang="ko-KR" dirty="0"/>
              <a:t>(Individual DM)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961502" y="2708920"/>
            <a:ext cx="1306256" cy="646331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Stage 2</a:t>
            </a:r>
          </a:p>
          <a:p>
            <a:pPr algn="ctr"/>
            <a:r>
              <a:rPr lang="en-US" altLang="ko-KR" dirty="0"/>
              <a:t>(Group DM)</a:t>
            </a:r>
            <a:endParaRPr lang="ko-KR" altLang="en-US" dirty="0"/>
          </a:p>
        </p:txBody>
      </p:sp>
      <p:cxnSp>
        <p:nvCxnSpPr>
          <p:cNvPr id="7" name="직선 화살표 연결선 6"/>
          <p:cNvCxnSpPr>
            <a:endCxn id="5" idx="1"/>
          </p:cNvCxnSpPr>
          <p:nvPr/>
        </p:nvCxnSpPr>
        <p:spPr>
          <a:xfrm>
            <a:off x="3544691" y="3032085"/>
            <a:ext cx="2416811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11130" y="2721496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matching within classroom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576" y="3717032"/>
            <a:ext cx="36724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 rounds of individual choices with exogenous price variations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randomly selected round for payoffs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78426" y="3717032"/>
            <a:ext cx="404204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Randomly matched students in pair sit side by side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min 30 sec of discussion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 rounds of collective choices</a:t>
            </a: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exogenous price variations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randomly selected round for payoffs (doubled and divided equally)</a:t>
            </a:r>
          </a:p>
          <a:p>
            <a:endParaRPr lang="en-US" altLang="ko-KR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1560" y="5805264"/>
            <a:ext cx="77768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ko-KR" sz="1600" dirty="0">
                <a:latin typeface="Times New Roman" pitchFamily="18" charset="0"/>
                <a:cs typeface="Times New Roman" pitchFamily="18" charset="0"/>
              </a:rPr>
              <a:t>No feedback is given during the experiment, and subjects are informed only the sum of payoffs from the two stages at the end of the study</a:t>
            </a:r>
            <a:r>
              <a:rPr lang="en-US" altLang="ko-KR" dirty="0"/>
              <a:t>.</a:t>
            </a:r>
            <a:endParaRPr lang="en-GB" altLang="ko-KR" sz="1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046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Measuring Rationality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Test whether each choice data are consistent with utility maximization: Generalized Axiom of Revealed Preference (GARP) </a:t>
                </a:r>
              </a:p>
              <a:p>
                <a:pPr marL="0" indent="0">
                  <a:buNone/>
                </a:pPr>
                <a:endParaRPr lang="en-GB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 err="1">
                    <a:latin typeface="Times New Roman" pitchFamily="18" charset="0"/>
                    <a:cs typeface="Times New Roman" pitchFamily="18" charset="0"/>
                  </a:rPr>
                  <a:t>Afriat’s</a:t>
                </a:r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 Critical Cost Efficiency Index (CCEI) </a:t>
                </a:r>
              </a:p>
              <a:p>
                <a:pPr lvl="1"/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Measuring the exact amount by which each budget must be relaxed to remove all GARP violations;</a:t>
                </a: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CCEI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: the smaller it is, the more severe violation of GARP.  </a:t>
                </a:r>
              </a:p>
              <a:p>
                <a:pPr marL="0" indent="0">
                  <a:buNone/>
                </a:pPr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Basic statistics of individual and collective CCEIs</a:t>
                </a:r>
              </a:p>
              <a:p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endParaRPr lang="en-US" altLang="ko-KR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C4404B4C-EB53-42D6-8910-B9D6E6EBEA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9680" y="5013176"/>
            <a:ext cx="5724640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294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AAD86-DA6B-FD35-14F4-24B239583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FA2C5-5134-A599-CC7B-41078E92E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Measuring Risk Preferences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09EBA6-8FE7-5F0C-2152-ECC8169686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Simple nonparametric measure of risk aversion (RA)</a:t>
                </a:r>
              </a:p>
              <a:p>
                <a:pPr marL="0" indent="0">
                  <a:buNone/>
                </a:pPr>
                <a:endParaRPr lang="en-GB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For each budget, the fraction of money on a more expensive asset: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expensi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𝑣𝑒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For each individual and each group, compute the average of the fraction of money on a more expensive asset over 18 rounds</a:t>
                </a:r>
              </a:p>
              <a:p>
                <a:pPr lvl="1"/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RA</m:t>
                    </m:r>
                    <m: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0, 0.5</m:t>
                        </m:r>
                      </m:e>
                    </m:d>
                  </m:oMath>
                </a14:m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: higher (lower) degree of risk aversion when it is closer to 0.5 (0).  </a:t>
                </a:r>
              </a:p>
              <a:p>
                <a:pPr marL="0" indent="0">
                  <a:buNone/>
                </a:pPr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Basic statistics of individual and collective RAs</a:t>
                </a:r>
                <a:endParaRPr lang="en-US" altLang="ko-KR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09EBA6-8FE7-5F0C-2152-ECC8169686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6B8AF35-6897-4A9B-AF00-A05725985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680" y="4869160"/>
            <a:ext cx="5724640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849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Balance Test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7848" y="5971069"/>
            <a:ext cx="77768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Random group formation makes an individual’s CCEI and risk aversion not correlated with those of the other in the same group</a:t>
            </a:r>
            <a:r>
              <a:rPr lang="en-US" altLang="ko-KR" dirty="0">
                <a:solidFill>
                  <a:srgbClr val="C00000"/>
                </a:solidFill>
              </a:rPr>
              <a:t>.</a:t>
            </a:r>
            <a:endParaRPr lang="en-GB" altLang="ko-KR" sz="16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9B0920-FE80-41C9-99B6-C1466B713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48" y="1340768"/>
            <a:ext cx="7308304" cy="441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333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C9776DC-8B64-4936-ACA9-BED4CA451E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084" y="3685853"/>
            <a:ext cx="4056512" cy="28975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E9DB89-1DDF-4A03-95E1-2726398A456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86" y="3685853"/>
            <a:ext cx="4056514" cy="28975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Rationality Extension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altLang="ko-KR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Q1: Do more rational individuals make group decisions more rational?</a:t>
            </a: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altLang="ko-KR" sz="2000" dirty="0">
                <a:latin typeface="Times New Roman" pitchFamily="18" charset="0"/>
                <a:cs typeface="Times New Roman" pitchFamily="18" charset="0"/>
              </a:rPr>
              <a:t>Divide subjects into two groups 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w.r.t. individual CCEIs</a:t>
            </a:r>
          </a:p>
          <a:p>
            <a:pPr lvl="1"/>
            <a:endParaRPr lang="en-US" altLang="ko-KR" sz="1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High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ko-KR" sz="1600" b="1" dirty="0">
                <a:latin typeface="Times New Roman" pitchFamily="18" charset="0"/>
                <a:cs typeface="Times New Roman" pitchFamily="18" charset="0"/>
              </a:rPr>
              <a:t>Low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) group: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above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ko-KR" sz="1600" b="1" dirty="0">
                <a:latin typeface="Times New Roman" pitchFamily="18" charset="0"/>
                <a:cs typeface="Times New Roman" pitchFamily="18" charset="0"/>
              </a:rPr>
              <a:t>below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) the median of CCEI</a:t>
            </a:r>
          </a:p>
          <a:p>
            <a:pPr marL="0" indent="0">
              <a:buNone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ko-KR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63688" y="4509120"/>
            <a:ext cx="8931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44208" y="4509120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Endline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568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Rationality Extension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2C9D0F-0111-A311-CF27-53B82CE92AD3}"/>
              </a:ext>
            </a:extLst>
          </p:cNvPr>
          <p:cNvSpPr txBox="1"/>
          <p:nvPr/>
        </p:nvSpPr>
        <p:spPr>
          <a:xfrm>
            <a:off x="539552" y="5877272"/>
            <a:ext cx="8424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en-US" altLang="ko-KR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Collective CCEI increases in CCEI of a more rational individual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decreases in the difference between CCEIs of two individuals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even after controlling for preferences. 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62CB0F-F448-477C-A0AC-7E2F3F2EC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273" y="1340768"/>
            <a:ext cx="5343453" cy="438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907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22279-112E-4A02-1463-5322035F7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92C51-9D40-B958-7936-F92B9C6F0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Does Preference Aggregation Depend on Rationality?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59729F-E711-A610-5198-3BC32A4F63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altLang="ko-KR" sz="20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Q2: Is the preference of the group closer to that of a more rational individual?</a:t>
                </a:r>
              </a:p>
              <a:p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Individual with higher (lower) CCEI in the group: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h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high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a:rPr lang="en-US" altLang="ko-KR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𝑙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low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Two approaches:</a:t>
                </a:r>
              </a:p>
              <a:p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Compute </a:t>
                </a:r>
                <a:r>
                  <a:rPr lang="en-US" altLang="ko-KR" sz="1800" u="sng" dirty="0">
                    <a:latin typeface="Times New Roman" pitchFamily="18" charset="0"/>
                    <a:cs typeface="Times New Roman" pitchFamily="18" charset="0"/>
                  </a:rPr>
                  <a:t>the distance of risk aversion </a:t>
                </a:r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between individual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</m:oMath>
                </a14:m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 and the group</a:t>
                </a:r>
              </a:p>
              <a:p>
                <a:pPr marL="800100" lvl="1" indent="-342900">
                  <a:buFont typeface="+mj-lt"/>
                  <a:buAutoNum type="arabicPeriod"/>
                </a:pPr>
                <a:endParaRPr lang="en-US" altLang="ko-KR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ko-KR" sz="1800" u="sng" dirty="0">
                    <a:latin typeface="Times New Roman" pitchFamily="18" charset="0"/>
                    <a:cs typeface="Times New Roman" pitchFamily="18" charset="0"/>
                  </a:rPr>
                  <a:t>Revealed preference approach of individual (bargaining) power</a:t>
                </a:r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 on group decisions.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59729F-E711-A610-5198-3BC32A4F63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41" t="-8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4758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F4346-9DAA-63E8-7E91-689311EA7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AC1ED2-7CE7-48CB-B081-84A85ECB60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62" y="2431366"/>
            <a:ext cx="4330134" cy="30929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7C1859-94D0-48B1-BD07-0BE00D7C0E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232" y="2431366"/>
            <a:ext cx="4330133" cy="30929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5F95BC-0A60-CBFB-7999-B6F780BE6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Does Preference Aggregation Depend on Rationality?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8B6559-ECA9-1C5A-43F3-36F641D6E1BC}"/>
              </a:ext>
            </a:extLst>
          </p:cNvPr>
          <p:cNvSpPr txBox="1"/>
          <p:nvPr/>
        </p:nvSpPr>
        <p:spPr>
          <a:xfrm>
            <a:off x="2123728" y="4117281"/>
            <a:ext cx="8931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65FB34-379B-970B-861E-0CCE2F7CF451}"/>
              </a:ext>
            </a:extLst>
          </p:cNvPr>
          <p:cNvSpPr txBox="1"/>
          <p:nvPr/>
        </p:nvSpPr>
        <p:spPr>
          <a:xfrm>
            <a:off x="6588224" y="4117281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Endline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7800" y="5604568"/>
            <a:ext cx="77768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preference gap between a more rational individual and the group is smaller than that between a less rational individual and the group</a:t>
            </a:r>
            <a:r>
              <a:rPr lang="en-US" altLang="ko-KR" dirty="0">
                <a:solidFill>
                  <a:srgbClr val="C00000"/>
                </a:solidFill>
              </a:rPr>
              <a:t>.</a:t>
            </a:r>
            <a:endParaRPr lang="en-GB" altLang="ko-KR" sz="16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9F9F64-A539-18A0-1BDE-E2A9F720DDB6}"/>
                  </a:ext>
                </a:extLst>
              </p:cNvPr>
              <p:cNvSpPr txBox="1"/>
              <p:nvPr/>
            </p:nvSpPr>
            <p:spPr>
              <a:xfrm>
                <a:off x="747800" y="1755502"/>
                <a:ext cx="7776864" cy="391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altLang="ko-KR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Draw the distributions of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h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𝑙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9F9F64-A539-18A0-1BDE-E2A9F720D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800" y="1755502"/>
                <a:ext cx="7776864" cy="391902"/>
              </a:xfrm>
              <a:prstGeom prst="rect">
                <a:avLst/>
              </a:prstGeom>
              <a:blipFill>
                <a:blip r:embed="rId5"/>
                <a:stretch>
                  <a:fillRect l="-549" t="-9375" b="-203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4302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8607-FC18-B2AB-C501-47225357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E8877-3221-410A-06B1-C2F930DF4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Does Preference Aggregation Depend on Rationality?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F9D6DE-B472-7E2B-6EB2-950DD240FE05}"/>
              </a:ext>
            </a:extLst>
          </p:cNvPr>
          <p:cNvSpPr txBox="1"/>
          <p:nvPr/>
        </p:nvSpPr>
        <p:spPr>
          <a:xfrm>
            <a:off x="539552" y="5720961"/>
            <a:ext cx="84249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Collective risk preference is closer to the individual risk preference of a more rational individual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becomes stronger in the </a:t>
            </a:r>
            <a:r>
              <a:rPr lang="en-US" altLang="ko-KR" sz="16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endline</a:t>
            </a: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study. </a:t>
            </a:r>
            <a:endParaRPr lang="ko-KR" altLang="en-US" sz="16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39F210-C6CE-4E77-9D1B-1BC8F8B76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1417638"/>
            <a:ext cx="6156176" cy="417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416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(Bargaining) Power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덧셈 기호 4"/>
          <p:cNvSpPr>
            <a:spLocks noChangeAspect="1"/>
          </p:cNvSpPr>
          <p:nvPr/>
        </p:nvSpPr>
        <p:spPr>
          <a:xfrm>
            <a:off x="3077426" y="3941045"/>
            <a:ext cx="486462" cy="489397"/>
          </a:xfrm>
          <a:prstGeom prst="mathPlus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6"/>
          <p:cNvSpPr/>
          <p:nvPr/>
        </p:nvSpPr>
        <p:spPr>
          <a:xfrm>
            <a:off x="1205218" y="3717032"/>
            <a:ext cx="1440160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00FF"/>
                </a:solidFill>
              </a:rPr>
              <a:t>Group</a:t>
            </a:r>
            <a:r>
              <a:rPr lang="en-US" altLang="ko-KR" sz="1400" dirty="0">
                <a:solidFill>
                  <a:schemeClr val="tx1"/>
                </a:solidFill>
              </a:rPr>
              <a:t> choices</a:t>
            </a:r>
            <a:endParaRPr lang="ko-KR" altLang="en-US" sz="1400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3995936" y="3717032"/>
            <a:ext cx="1440160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Choices of </a:t>
            </a:r>
            <a:r>
              <a:rPr lang="en-US" altLang="ko-KR" sz="1400" dirty="0">
                <a:solidFill>
                  <a:srgbClr val="FF0000"/>
                </a:solidFill>
              </a:rPr>
              <a:t>more rational </a:t>
            </a:r>
            <a:r>
              <a:rPr lang="en-US" altLang="ko-KR" sz="1400" dirty="0">
                <a:solidFill>
                  <a:schemeClr val="tx1"/>
                </a:solidFill>
              </a:rPr>
              <a:t>individual</a:t>
            </a:r>
            <a:endParaRPr lang="ko-KR" altLang="en-US" sz="1400" dirty="0"/>
          </a:p>
        </p:txBody>
      </p:sp>
      <p:sp>
        <p:nvSpPr>
          <p:cNvPr id="9" name="오른쪽 화살표 8"/>
          <p:cNvSpPr>
            <a:spLocks noChangeAspect="1"/>
          </p:cNvSpPr>
          <p:nvPr/>
        </p:nvSpPr>
        <p:spPr>
          <a:xfrm>
            <a:off x="5957746" y="4025218"/>
            <a:ext cx="601677" cy="29802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081073" y="3941045"/>
                <a:ext cx="1016047" cy="4250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CCEI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ko-KR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1073" y="3941045"/>
                <a:ext cx="1016047" cy="425053"/>
              </a:xfrm>
              <a:prstGeom prst="rect">
                <a:avLst/>
              </a:prstGeom>
              <a:blipFill rotWithShape="0">
                <a:blip r:embed="rId3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덧셈 기호 10"/>
          <p:cNvSpPr>
            <a:spLocks noChangeAspect="1"/>
          </p:cNvSpPr>
          <p:nvPr/>
        </p:nvSpPr>
        <p:spPr>
          <a:xfrm>
            <a:off x="3079318" y="5473367"/>
            <a:ext cx="486462" cy="489397"/>
          </a:xfrm>
          <a:prstGeom prst="mathPlus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1207110" y="5249354"/>
            <a:ext cx="1440160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00FF"/>
                </a:solidFill>
              </a:rPr>
              <a:t>Group</a:t>
            </a:r>
            <a:r>
              <a:rPr lang="en-US" altLang="ko-KR" sz="1400" dirty="0">
                <a:solidFill>
                  <a:schemeClr val="tx1"/>
                </a:solidFill>
              </a:rPr>
              <a:t> choices</a:t>
            </a:r>
            <a:endParaRPr lang="ko-KR" altLang="en-US" sz="1400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3997828" y="5249354"/>
            <a:ext cx="1440160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Choices of </a:t>
            </a:r>
          </a:p>
          <a:p>
            <a:pPr algn="ctr"/>
            <a:r>
              <a:rPr lang="en-US" altLang="ko-KR" sz="1400" dirty="0">
                <a:solidFill>
                  <a:srgbClr val="FF0000"/>
                </a:solidFill>
              </a:rPr>
              <a:t>less rational </a:t>
            </a:r>
            <a:r>
              <a:rPr lang="en-US" altLang="ko-KR" sz="1400" dirty="0">
                <a:solidFill>
                  <a:schemeClr val="tx1"/>
                </a:solidFill>
              </a:rPr>
              <a:t>individual</a:t>
            </a:r>
            <a:endParaRPr lang="ko-KR" altLang="en-US" sz="1400" dirty="0"/>
          </a:p>
        </p:txBody>
      </p:sp>
      <p:sp>
        <p:nvSpPr>
          <p:cNvPr id="14" name="오른쪽 화살표 13"/>
          <p:cNvSpPr>
            <a:spLocks noChangeAspect="1"/>
          </p:cNvSpPr>
          <p:nvPr/>
        </p:nvSpPr>
        <p:spPr>
          <a:xfrm>
            <a:off x="5959638" y="5557540"/>
            <a:ext cx="601677" cy="29802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082965" y="5473367"/>
                <a:ext cx="964751" cy="4250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CCEI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ko-KR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2965" y="5473367"/>
                <a:ext cx="964751" cy="425053"/>
              </a:xfrm>
              <a:prstGeom prst="rect">
                <a:avLst/>
              </a:prstGeom>
              <a:blipFill rotWithShape="0">
                <a:blip r:embed="rId4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4C5345F-3CC4-ADCA-3317-F30E7940D6BA}"/>
              </a:ext>
            </a:extLst>
          </p:cNvPr>
          <p:cNvSpPr txBox="1"/>
          <p:nvPr/>
        </p:nvSpPr>
        <p:spPr>
          <a:xfrm>
            <a:off x="457200" y="1464334"/>
            <a:ext cx="85072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Revealed preference approach </a:t>
            </a:r>
          </a:p>
          <a:p>
            <a:pPr marL="742950" lvl="1" indent="-285750">
              <a:buFont typeface="Times New Roman" panose="02020603050405020304" pitchFamily="18" charset="0"/>
              <a:buChar char="–"/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Times New Roman" panose="02020603050405020304" pitchFamily="18" charset="0"/>
              <a:buChar char="–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close are an individual’s choices to group choices?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individual is said to </a:t>
            </a:r>
            <a:r>
              <a:rPr lang="en-US" altLang="ko-KR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a larger revealed (bargaining) power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her choice data is “closer” to the data of group choices. 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694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0643C-8153-B3EF-755B-577A8AEEC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E683A-8E88-E073-C299-19B3F9ED0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(Bargaining) Power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71453E-CA7B-DF9F-3396-CF56FEC05B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sz="1800" b="1" u="sng" dirty="0">
                    <a:latin typeface="Times New Roman" pitchFamily="18" charset="0"/>
                    <a:cs typeface="Times New Roman" pitchFamily="18" charset="0"/>
                  </a:rPr>
                  <a:t>Revealed preference distance </a:t>
                </a:r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between the group data and the combined data of group and </a:t>
                </a:r>
                <a:r>
                  <a:rPr lang="en-US" altLang="ko-KR" sz="18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more rational </a:t>
                </a:r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altLang="ko-KR" sz="18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less rational</a:t>
                </a:r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) individual choices, normalized by the distance between the group data and all combined data</a:t>
                </a:r>
                <a:r>
                  <a:rPr lang="en-GB" altLang="ko-KR" sz="1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GB" altLang="ko-KR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GB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GB" altLang="ko-KR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altLang="ko-KR" sz="22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2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2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 b="0" i="0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2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 b="0" i="0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</m:t>
                              </m:r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sz="2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</m:t>
                              </m:r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𝑙</m:t>
                              </m:r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den>
                      </m:f>
                      <m:r>
                        <a:rPr lang="en-US" altLang="ko-KR" sz="22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                </m:t>
                      </m:r>
                    </m:oMath>
                  </m:oMathPara>
                </a14:m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ko-KR" sz="2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sz="2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GB" altLang="ko-KR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altLang="ko-KR" sz="220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sz="2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𝑙</m:t>
                              </m:r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sz="2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h𝑙𝑔</m:t>
                              </m:r>
                            </m:sub>
                          </m:sSub>
                        </m:den>
                      </m:f>
                      <m:r>
                        <a:rPr lang="en-US" altLang="ko-KR" sz="22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                </m:t>
                      </m:r>
                    </m:oMath>
                  </m:oMathPara>
                </a14:m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71453E-CA7B-DF9F-3396-CF56FEC05B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44" t="-8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B7A5081-094C-89EF-C0D5-9CC68B60F9D3}"/>
              </a:ext>
            </a:extLst>
          </p:cNvPr>
          <p:cNvSpPr txBox="1"/>
          <p:nvPr/>
        </p:nvSpPr>
        <p:spPr>
          <a:xfrm>
            <a:off x="5940152" y="3356992"/>
            <a:ext cx="2423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rational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2E363-7B3F-6D25-C314-E18F763EBD42}"/>
              </a:ext>
            </a:extLst>
          </p:cNvPr>
          <p:cNvSpPr txBox="1"/>
          <p:nvPr/>
        </p:nvSpPr>
        <p:spPr>
          <a:xfrm>
            <a:off x="5940152" y="4846371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 rational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441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0643C-8153-B3EF-755B-577A8AEEC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E683A-8E88-E073-C299-19B3F9ED0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(Bargaining) Power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1453E-CA7B-DF9F-3396-CF56FEC05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147248" cy="1104290"/>
          </a:xfrm>
        </p:spPr>
        <p:txBody>
          <a:bodyPr>
            <a:normAutofit/>
          </a:bodyPr>
          <a:lstStyle/>
          <a:p>
            <a:r>
              <a:rPr lang="en-US" altLang="ko-KR" sz="1800" b="1" u="sng" dirty="0">
                <a:latin typeface="Times New Roman" pitchFamily="18" charset="0"/>
                <a:cs typeface="Times New Roman" pitchFamily="18" charset="0"/>
              </a:rPr>
              <a:t>Revealed preference distance </a:t>
            </a:r>
            <a:r>
              <a:rPr lang="en-US" altLang="ko-KR" sz="1800" dirty="0">
                <a:latin typeface="Times New Roman" pitchFamily="18" charset="0"/>
                <a:cs typeface="Times New Roman" pitchFamily="18" charset="0"/>
              </a:rPr>
              <a:t>between the group data and the combined data of group and </a:t>
            </a:r>
            <a:r>
              <a:rPr lang="en-US" altLang="ko-KR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more rational </a:t>
            </a:r>
            <a:r>
              <a:rPr lang="en-US" altLang="ko-KR" sz="18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sz="18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less rational</a:t>
            </a:r>
            <a:r>
              <a:rPr lang="en-US" altLang="ko-KR" sz="1800" dirty="0">
                <a:latin typeface="Times New Roman" pitchFamily="18" charset="0"/>
                <a:cs typeface="Times New Roman" pitchFamily="18" charset="0"/>
              </a:rPr>
              <a:t>) individual choices, normalized by the distance between the group data and all combined data</a:t>
            </a:r>
            <a:r>
              <a:rPr lang="en-GB" altLang="ko-KR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endParaRPr lang="en-GB" altLang="ko-KR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GB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8704976-BDD7-44ED-BE4D-F43F72C9252D}"/>
                  </a:ext>
                </a:extLst>
              </p:cNvPr>
              <p:cNvSpPr txBox="1"/>
              <p:nvPr/>
            </p:nvSpPr>
            <p:spPr>
              <a:xfrm>
                <a:off x="1043608" y="2795428"/>
                <a:ext cx="2664296" cy="10029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sz="18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𝑙</m:t>
                              </m:r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8704976-BDD7-44ED-BE4D-F43F72C92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2795428"/>
                <a:ext cx="2664296" cy="10029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9419F05-6440-4D49-9465-A9312C47A2F7}"/>
                  </a:ext>
                </a:extLst>
              </p:cNvPr>
              <p:cNvSpPr txBox="1"/>
              <p:nvPr/>
            </p:nvSpPr>
            <p:spPr>
              <a:xfrm>
                <a:off x="1043608" y="3991344"/>
                <a:ext cx="3456384" cy="4191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=1−</m:t>
                      </m:r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</m:sup>
                      </m:sSub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9419F05-6440-4D49-9465-A9312C47A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3991344"/>
                <a:ext cx="3456384" cy="419154"/>
              </a:xfrm>
              <a:prstGeom prst="rect">
                <a:avLst/>
              </a:prstGeom>
              <a:blipFill>
                <a:blip r:embed="rId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2D2FFE5-1E15-437C-B54C-E2F1DBD863FB}"/>
                  </a:ext>
                </a:extLst>
              </p:cNvPr>
              <p:cNvSpPr txBox="1"/>
              <p:nvPr/>
            </p:nvSpPr>
            <p:spPr>
              <a:xfrm>
                <a:off x="1043608" y="4947709"/>
                <a:ext cx="2664296" cy="582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1−</m:t>
                      </m:r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</m:sup>
                      </m:sSubSup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2D2FFE5-1E15-437C-B54C-E2F1DBD86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4947709"/>
                <a:ext cx="2664296" cy="5825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9A5AE78-69DB-4AB0-9470-B2374502167A}"/>
                  </a:ext>
                </a:extLst>
              </p:cNvPr>
              <p:cNvSpPr txBox="1"/>
              <p:nvPr/>
            </p:nvSpPr>
            <p:spPr>
              <a:xfrm>
                <a:off x="1043608" y="5661248"/>
                <a:ext cx="3456384" cy="6993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𝑙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h𝑙𝑔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9A5AE78-69DB-4AB0-9470-B23745021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5661248"/>
                <a:ext cx="3456384" cy="69935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3587685-EC1E-41B5-B627-72D26379E483}"/>
                  </a:ext>
                </a:extLst>
              </p:cNvPr>
              <p:cNvSpPr txBox="1"/>
              <p:nvPr/>
            </p:nvSpPr>
            <p:spPr>
              <a:xfrm>
                <a:off x="5436096" y="4105080"/>
                <a:ext cx="2448711" cy="4834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h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</m:sup>
                    </m:sSubSup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→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</m:sup>
                    </m:sSubSup>
                  </m:oMath>
                </a14:m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3587685-EC1E-41B5-B627-72D26379E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96" y="4105080"/>
                <a:ext cx="2448711" cy="483466"/>
              </a:xfrm>
              <a:prstGeom prst="rect">
                <a:avLst/>
              </a:prstGeom>
              <a:blipFill>
                <a:blip r:embed="rId7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967E5FF-F32F-4537-83E7-732FA649AD3E}"/>
                  </a:ext>
                </a:extLst>
              </p:cNvPr>
              <p:cNvSpPr txBox="1"/>
              <p:nvPr/>
            </p:nvSpPr>
            <p:spPr>
              <a:xfrm>
                <a:off x="5436096" y="4774333"/>
                <a:ext cx="2448711" cy="4834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𝑙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</m:sup>
                    </m:sSubSup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→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</m:sup>
                    </m:sSubSup>
                  </m:oMath>
                </a14:m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967E5FF-F32F-4537-83E7-732FA649A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96" y="4774333"/>
                <a:ext cx="2448711" cy="483466"/>
              </a:xfrm>
              <a:prstGeom prst="rect">
                <a:avLst/>
              </a:prstGeom>
              <a:blipFill>
                <a:blip r:embed="rId8"/>
                <a:stretch>
                  <a:fillRect b="-88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오른쪽 화살표 8">
            <a:extLst>
              <a:ext uri="{FF2B5EF4-FFF2-40B4-BE49-F238E27FC236}">
                <a16:creationId xmlns:a16="http://schemas.microsoft.com/office/drawing/2014/main" id="{8915476A-2AE5-432A-998E-8B69216AE197}"/>
              </a:ext>
            </a:extLst>
          </p:cNvPr>
          <p:cNvSpPr>
            <a:spLocks noChangeAspect="1"/>
          </p:cNvSpPr>
          <p:nvPr/>
        </p:nvSpPr>
        <p:spPr>
          <a:xfrm>
            <a:off x="4271161" y="4541442"/>
            <a:ext cx="601677" cy="29802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모서리가 둥근 직사각형 7">
            <a:extLst>
              <a:ext uri="{FF2B5EF4-FFF2-40B4-BE49-F238E27FC236}">
                <a16:creationId xmlns:a16="http://schemas.microsoft.com/office/drawing/2014/main" id="{8268294A-9956-46BD-800E-D905869201BB}"/>
              </a:ext>
            </a:extLst>
          </p:cNvPr>
          <p:cNvSpPr/>
          <p:nvPr/>
        </p:nvSpPr>
        <p:spPr>
          <a:xfrm>
            <a:off x="927785" y="2958078"/>
            <a:ext cx="2844316" cy="168050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7" name="모서리가 둥근 직사각형 7">
            <a:extLst>
              <a:ext uri="{FF2B5EF4-FFF2-40B4-BE49-F238E27FC236}">
                <a16:creationId xmlns:a16="http://schemas.microsoft.com/office/drawing/2014/main" id="{263467D3-DB92-4B70-A64D-1E8CB34204A3}"/>
              </a:ext>
            </a:extLst>
          </p:cNvPr>
          <p:cNvSpPr/>
          <p:nvPr/>
        </p:nvSpPr>
        <p:spPr>
          <a:xfrm>
            <a:off x="927785" y="4892171"/>
            <a:ext cx="2844316" cy="168050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3C2D92E-8DB9-48FF-9C32-9FAB5AF2F2E2}"/>
                  </a:ext>
                </a:extLst>
              </p:cNvPr>
              <p:cNvSpPr txBox="1"/>
              <p:nvPr/>
            </p:nvSpPr>
            <p:spPr>
              <a:xfrm>
                <a:off x="5364318" y="5989135"/>
                <a:ext cx="2592266" cy="391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dirty="0">
                    <a:cs typeface="Times New Roman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𝑁𝑜𝑡𝑒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: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=1)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3C2D92E-8DB9-48FF-9C32-9FAB5AF2F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318" y="5989135"/>
                <a:ext cx="2592266" cy="391902"/>
              </a:xfrm>
              <a:prstGeom prst="rect">
                <a:avLst/>
              </a:prstGeom>
              <a:blipFill>
                <a:blip r:embed="rId9"/>
                <a:stretch>
                  <a:fillRect l="-2118" t="-6154" b="-184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3445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F0E38-3892-8F61-C85E-B320154A9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034EB-4E0F-1CC9-5092-E0E7BD2C1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(Bargaining) Power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3856E6-F450-23B4-B90D-EBC7DF443C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These revealed preference distance measures,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GB" altLang="ko-KR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GB" altLang="ko-K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, range between 0 and 1. </a:t>
                </a:r>
              </a:p>
              <a:p>
                <a:endParaRPr lang="en-GB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The closer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 is to zero, the choice data of more rational individual are consistent with the group choice data. </a:t>
                </a:r>
              </a:p>
              <a:p>
                <a:pPr lvl="1"/>
                <a:endParaRPr lang="en-US" altLang="ko-KR" sz="1600" i="1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lvl="1"/>
                <a:r>
                  <a:rPr lang="en-GB" altLang="ko-KR" sz="16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US" altLang="ko-KR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GB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GB" altLang="ko-KR" sz="16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, a more rational individual is said to have a larger revealed (bargaining) power than a less rational individual. </a:t>
                </a:r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en-GB" altLang="ko-KR" sz="16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72% of the groups in the baseline data; 74% in the </a:t>
                </a:r>
                <a:r>
                  <a:rPr lang="en-GB" altLang="ko-KR" sz="1600" dirty="0" err="1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endline</a:t>
                </a:r>
                <a:r>
                  <a:rPr lang="en-GB" altLang="ko-KR" sz="16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 data</a:t>
                </a:r>
              </a:p>
              <a:p>
                <a:pPr marL="0" indent="0">
                  <a:buNone/>
                </a:pPr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These indices are not defined when</a:t>
                </a:r>
              </a:p>
              <a:p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All three datasets have a common preference; or</a:t>
                </a: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The group data contains the most severe violation of GARP </a:t>
                </a:r>
              </a:p>
              <a:p>
                <a:pPr lvl="1"/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About 50 pairs in each of baseline and endline samples</a:t>
                </a:r>
              </a:p>
              <a:p>
                <a:pPr marL="0" indent="0">
                  <a:buNone/>
                </a:pPr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3856E6-F450-23B4-B90D-EBC7DF443C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7" t="-1348" r="-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75516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D4575-77C3-1853-0D48-E8F40A75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65244-84BF-0A31-7711-9972FA67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Selective Group 1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262C-4474-2B12-58F7-D9BADE9C9314}"/>
                  </a:ext>
                </a:extLst>
              </p:cNvPr>
              <p:cNvSpPr txBox="1"/>
              <p:nvPr/>
            </p:nvSpPr>
            <p:spPr>
              <a:xfrm>
                <a:off x="827584" y="5733256"/>
                <a:ext cx="6994287" cy="9459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more rational individual (right; </a:t>
                </a:r>
                <a:r>
                  <a:rPr lang="en-GB" altLang="ko-KR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blue</a:t>
                </a:r>
                <a:r>
                  <a:rPr lang="en-GB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and the group behave the same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=0, 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GB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=0.97</m:t>
                    </m:r>
                  </m:oMath>
                </a14:m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262C-4474-2B12-58F7-D9BADE9C9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733256"/>
                <a:ext cx="6994287" cy="945900"/>
              </a:xfrm>
              <a:prstGeom prst="rect">
                <a:avLst/>
              </a:prstGeom>
              <a:blipFill>
                <a:blip r:embed="rId3"/>
                <a:stretch>
                  <a:fillRect l="-610" t="-3205" r="-697" b="-44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>
            <a:extLst>
              <a:ext uri="{FF2B5EF4-FFF2-40B4-BE49-F238E27FC236}">
                <a16:creationId xmlns:a16="http://schemas.microsoft.com/office/drawing/2014/main" id="{359CB011-F4BF-4EF7-883C-09C3190DF7D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729502"/>
            <a:ext cx="6156770" cy="369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9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D4575-77C3-1853-0D48-E8F40A75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65244-84BF-0A31-7711-9972FA67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Selective Group 2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262C-4474-2B12-58F7-D9BADE9C9314}"/>
                  </a:ext>
                </a:extLst>
              </p:cNvPr>
              <p:cNvSpPr txBox="1"/>
              <p:nvPr/>
            </p:nvSpPr>
            <p:spPr>
              <a:xfrm>
                <a:off x="827584" y="5733256"/>
                <a:ext cx="2663934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=0</m:t>
                    </m:r>
                    <m:r>
                      <a:rPr lang="en-GB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.03</m:t>
                    </m:r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GB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GB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1.00</m:t>
                    </m:r>
                  </m:oMath>
                </a14:m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262C-4474-2B12-58F7-D9BADE9C9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733256"/>
                <a:ext cx="2663934" cy="391902"/>
              </a:xfrm>
              <a:prstGeom prst="rect">
                <a:avLst/>
              </a:prstGeom>
              <a:blipFill>
                <a:blip r:embed="rId3"/>
                <a:stretch>
                  <a:fillRect l="-1602" t="-1538" b="-123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4">
            <a:extLst>
              <a:ext uri="{FF2B5EF4-FFF2-40B4-BE49-F238E27FC236}">
                <a16:creationId xmlns:a16="http://schemas.microsoft.com/office/drawing/2014/main" id="{F1DEC416-2E99-422A-89CC-9CE4F31FA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1729502"/>
            <a:ext cx="6156770" cy="369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098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91615-A3FE-F1E5-DC7A-BB27CF463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9DBB8-0A46-90BE-A63C-66E4FD4A7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Selective Group 3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722152-2B73-2E4F-63B9-055B18755165}"/>
                  </a:ext>
                </a:extLst>
              </p:cNvPr>
              <p:cNvSpPr txBox="1"/>
              <p:nvPr/>
            </p:nvSpPr>
            <p:spPr>
              <a:xfrm>
                <a:off x="827584" y="5733256"/>
                <a:ext cx="2779351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=0.</m:t>
                    </m:r>
                    <m:r>
                      <a:rPr lang="en-GB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40</m:t>
                    </m:r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GB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=1.00</m:t>
                    </m:r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722152-2B73-2E4F-63B9-055B187551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733256"/>
                <a:ext cx="2779351" cy="391902"/>
              </a:xfrm>
              <a:prstGeom prst="rect">
                <a:avLst/>
              </a:prstGeom>
              <a:blipFill>
                <a:blip r:embed="rId3"/>
                <a:stretch>
                  <a:fillRect l="-1535" t="-1538" b="-123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481A1DF-27D1-4AB2-7367-E7675DEA41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615" y="1735213"/>
            <a:ext cx="6156770" cy="369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0023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D4575-77C3-1853-0D48-E8F40A75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65244-84BF-0A31-7711-9972FA67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Preference Distance: </a:t>
            </a:r>
            <a:r>
              <a:rPr lang="en-US" sz="4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More Rational Individual</a:t>
            </a:r>
            <a:endParaRPr lang="en-GB" sz="4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262C-4474-2B12-58F7-D9BADE9C9314}"/>
                  </a:ext>
                </a:extLst>
              </p:cNvPr>
              <p:cNvSpPr txBox="1"/>
              <p:nvPr/>
            </p:nvSpPr>
            <p:spPr>
              <a:xfrm>
                <a:off x="827584" y="5589240"/>
                <a:ext cx="6796669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average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ko-KR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0.294 in the baseline and 0.263 in the </a:t>
                </a:r>
                <a:r>
                  <a:rPr lang="en-US" altLang="ko-KR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endline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262C-4474-2B12-58F7-D9BADE9C9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589240"/>
                <a:ext cx="6796669" cy="391902"/>
              </a:xfrm>
              <a:prstGeom prst="rect">
                <a:avLst/>
              </a:prstGeom>
              <a:blipFill>
                <a:blip r:embed="rId3"/>
                <a:stretch>
                  <a:fillRect l="-628" t="-9375" b="-187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82A7D6AC-40BB-4778-8F94-C5AF575D459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1937406"/>
            <a:ext cx="4176464" cy="29831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18A978-1196-4168-847C-D6348089CE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558" y="1937406"/>
            <a:ext cx="4190546" cy="299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2690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20E93-C4D7-CBDE-606C-A6B75A80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F5CE0-B215-4989-F1E9-6DF3C78B3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Preference Distance: </a:t>
            </a:r>
            <a:r>
              <a:rPr lang="en-US" sz="4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Less Rational Individual</a:t>
            </a:r>
            <a:endParaRPr lang="en-GB" sz="4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81F6E0-0872-940C-E29D-A485C02AD36F}"/>
                  </a:ext>
                </a:extLst>
              </p:cNvPr>
              <p:cNvSpPr txBox="1"/>
              <p:nvPr/>
            </p:nvSpPr>
            <p:spPr>
              <a:xfrm>
                <a:off x="827584" y="5733256"/>
                <a:ext cx="6751785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average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ko-KR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0.706 in the baseline and 0.737 in the </a:t>
                </a:r>
                <a:r>
                  <a:rPr lang="en-US" altLang="ko-KR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endline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81F6E0-0872-940C-E29D-A485C02AD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733256"/>
                <a:ext cx="6751785" cy="391902"/>
              </a:xfrm>
              <a:prstGeom prst="rect">
                <a:avLst/>
              </a:prstGeom>
              <a:blipFill>
                <a:blip r:embed="rId3"/>
                <a:stretch>
                  <a:fillRect l="-632" t="-7692" b="-169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8800BDE0-367C-4971-9926-B4191469D1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162" y="1988840"/>
            <a:ext cx="4176464" cy="29831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19444C-E8A2-4898-A7E7-BAD369FF05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84" y="1988840"/>
            <a:ext cx="4176464" cy="298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8201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AD0AA-AB5E-2B25-792E-D44F51DB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9F9A-47B5-F32C-683E-AC712FCBC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Preference Distance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4">
                <a:extLst>
                  <a:ext uri="{FF2B5EF4-FFF2-40B4-BE49-F238E27FC236}">
                    <a16:creationId xmlns:a16="http://schemas.microsoft.com/office/drawing/2014/main" id="{889D783C-C2A8-EA3C-9675-531A873DB2BA}"/>
                  </a:ext>
                </a:extLst>
              </p:cNvPr>
              <p:cNvSpPr txBox="1"/>
              <p:nvPr/>
            </p:nvSpPr>
            <p:spPr>
              <a:xfrm>
                <a:off x="827584" y="5410071"/>
                <a:ext cx="7086388" cy="13634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 of a less rational individuals’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1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0.722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Times New Roman" panose="02020603050405020304" pitchFamily="18" charset="0"/>
                  <a:buChar char="–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average,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sz="1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61.4% lower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1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within the same group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rationality-based distance becomes larger in the </a:t>
                </a:r>
                <a:r>
                  <a:rPr lang="en-US" altLang="ko-K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endline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ko-KR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4">
                <a:extLst>
                  <a:ext uri="{FF2B5EF4-FFF2-40B4-BE49-F238E27FC236}">
                    <a16:creationId xmlns:a16="http://schemas.microsoft.com/office/drawing/2014/main" id="{889D783C-C2A8-EA3C-9675-531A873DB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410071"/>
                <a:ext cx="7086388" cy="1363450"/>
              </a:xfrm>
              <a:prstGeom prst="rect">
                <a:avLst/>
              </a:prstGeom>
              <a:blipFill>
                <a:blip r:embed="rId3"/>
                <a:stretch>
                  <a:fillRect l="-344" t="-1339" b="-49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D270C2E-7608-4808-8E13-8F1D23FF9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770" y="1268760"/>
            <a:ext cx="6426460" cy="405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8404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Large-scale, panel experiments about individual and group decision-making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Random group formation leads to infer the effects of individual rationality on the quality of group decision-making and individual power on group decision-making.</a:t>
            </a:r>
          </a:p>
          <a:p>
            <a:pPr marL="0" indent="0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Provide a nonparametric, revealed preference measure of individual (bargaining) power on group decisions. </a:t>
            </a:r>
          </a:p>
          <a:p>
            <a:pPr marL="457200" lvl="1" indent="0">
              <a:buNone/>
            </a:pPr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Findings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The quality of group decisions increases in individual rationality and decreases in the difference in individual rationalities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A more rational individual has a larger revealed (bargaining) power on group decision-making. </a:t>
            </a: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341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14010</TotalTime>
  <Words>1445</Words>
  <Application>Microsoft Office PowerPoint</Application>
  <PresentationFormat>On-screen Show (4:3)</PresentationFormat>
  <Paragraphs>238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Cambria Math</vt:lpstr>
      <vt:lpstr>Times</vt:lpstr>
      <vt:lpstr>Times New Roman</vt:lpstr>
      <vt:lpstr>Wingdings</vt:lpstr>
      <vt:lpstr>Office Theme</vt:lpstr>
      <vt:lpstr>Rationality-Based  Preference Aggregation</vt:lpstr>
      <vt:lpstr>Introduction</vt:lpstr>
      <vt:lpstr>In This Paper</vt:lpstr>
      <vt:lpstr>Sampling</vt:lpstr>
      <vt:lpstr>Decision Problem</vt:lpstr>
      <vt:lpstr>Experimental Procedures</vt:lpstr>
      <vt:lpstr>Measuring Rationality</vt:lpstr>
      <vt:lpstr>Measuring Risk Preferences</vt:lpstr>
      <vt:lpstr>Balance Test</vt:lpstr>
      <vt:lpstr>Rationality Extension</vt:lpstr>
      <vt:lpstr>Rationality Extension</vt:lpstr>
      <vt:lpstr>Does Preference Aggregation Depend on Rationality?</vt:lpstr>
      <vt:lpstr>Does Preference Aggregation Depend on Rationality?</vt:lpstr>
      <vt:lpstr>Does Preference Aggregation Depend on Rationality?</vt:lpstr>
      <vt:lpstr>Revealed (Bargaining) Power</vt:lpstr>
      <vt:lpstr>Revealed (Bargaining) Power</vt:lpstr>
      <vt:lpstr>Revealed (Bargaining) Power</vt:lpstr>
      <vt:lpstr>Revealed (Bargaining) Power</vt:lpstr>
      <vt:lpstr>Selective Group 1</vt:lpstr>
      <vt:lpstr>Selective Group 2</vt:lpstr>
      <vt:lpstr>Selective Group 3</vt:lpstr>
      <vt:lpstr>Revealed Preference Distance: More Rational Individual</vt:lpstr>
      <vt:lpstr>Revealed Preference Distance: Less Rational Individual</vt:lpstr>
      <vt:lpstr>Revealed Preference Distance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Formation in Large Groups: New Tool and Applications</dc:title>
  <dc:creator>Choi Syngjoo</dc:creator>
  <cp:lastModifiedBy>Byunghun Hahn</cp:lastModifiedBy>
  <cp:revision>414</cp:revision>
  <cp:lastPrinted>2020-09-11T00:36:22Z</cp:lastPrinted>
  <dcterms:created xsi:type="dcterms:W3CDTF">2019-11-29T16:58:42Z</dcterms:created>
  <dcterms:modified xsi:type="dcterms:W3CDTF">2025-08-11T09:52:26Z</dcterms:modified>
</cp:coreProperties>
</file>