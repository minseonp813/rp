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61" r:id="rId17"/>
    <p:sldId id="962" r:id="rId18"/>
    <p:sldId id="963" r:id="rId19"/>
    <p:sldId id="959" r:id="rId20"/>
    <p:sldId id="945" r:id="rId21"/>
    <p:sldId id="943" r:id="rId22"/>
    <p:sldId id="957" r:id="rId23"/>
    <p:sldId id="958" r:id="rId24"/>
    <p:sldId id="956" r:id="rId25"/>
    <p:sldId id="944" r:id="rId26"/>
    <p:sldId id="948" r:id="rId27"/>
    <p:sldId id="955" r:id="rId2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114" d="100"/>
          <a:sy n="114" d="100"/>
        </p:scale>
        <p:origin x="11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60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60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38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27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4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795DDA3-4CEB-4769-8C97-691FC791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FAF33E9B-F497-05C2-73EC-AC4988A3B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00F92422-DD77-B6EC-E860-E56B7B40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A66880DC-9F4C-4A1C-8A22-07177024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3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2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212.png"/><Relationship Id="rId10" Type="http://schemas.openxmlformats.org/officeDocument/2006/relationships/image" Target="../media/image24.png"/><Relationship Id="rId4" Type="http://schemas.openxmlformats.org/officeDocument/2006/relationships/image" Target="../media/image181.png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3" y="1124744"/>
            <a:ext cx="8208912" cy="20882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Aggregation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1779" y="5661248"/>
            <a:ext cx="2254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August 15,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r>
              <a:rPr lang="en-US" altLang="ko-KR" sz="2000" baseline="30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</a:t>
            </a:r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BEET Workshop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0394"/>
              </p:ext>
            </p:extLst>
          </p:nvPr>
        </p:nvGraphicFramePr>
        <p:xfrm>
          <a:off x="1259632" y="3789040"/>
          <a:ext cx="662473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185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Syngjoo Choi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Byunghun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Hahn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Booyuel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5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Minseon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(Michigan)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Yoonsoo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Euncheol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Shin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(KAIST)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making (DM)</a:t>
            </a: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Growing evidence on the role of </a:t>
            </a:r>
            <a:r>
              <a:rPr lang="en-US" altLang="ko-KR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DM ability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sz="2000" dirty="0" err="1" smtClean="0">
                <a:latin typeface="Times New Roman" pitchFamily="18" charset="0"/>
                <a:cs typeface="Times New Roman" pitchFamily="18" charset="0"/>
              </a:rPr>
              <a:t>proxied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by education, cognitive ability, or financial literacy, in household outcomes</a:t>
            </a: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e.g.,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Behrma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n et al. (2012), </a:t>
            </a:r>
            <a:r>
              <a:rPr lang="en-US" altLang="ko-KR" sz="1600" dirty="0" err="1" smtClean="0">
                <a:latin typeface="Times New Roman" pitchFamily="18" charset="0"/>
                <a:cs typeface="Times New Roman" pitchFamily="18" charset="0"/>
              </a:rPr>
              <a:t>Yilmazer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et al. (2015), </a:t>
            </a:r>
            <a:r>
              <a:rPr lang="en-US" altLang="ko-KR" sz="1600" dirty="0" err="1" smtClean="0">
                <a:latin typeface="Times New Roman" pitchFamily="18" charset="0"/>
                <a:cs typeface="Times New Roman" pitchFamily="18" charset="0"/>
              </a:rPr>
              <a:t>Guiso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et al. (2023), </a:t>
            </a:r>
            <a:r>
              <a:rPr lang="en-US" altLang="ko-KR" sz="1600" dirty="0" err="1" smtClean="0">
                <a:latin typeface="Times New Roman" pitchFamily="18" charset="0"/>
                <a:cs typeface="Times New Roman" pitchFamily="18" charset="0"/>
              </a:rPr>
              <a:t>Gu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et al. (2023)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argue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of individual rationality is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an important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quality of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and (2)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(bargaining) power on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decision-making.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2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 smtClean="0">
                <a:latin typeface="Times New Roman" pitchFamily="18" charset="0"/>
                <a:cs typeface="Times New Roman" pitchFamily="18" charset="0"/>
              </a:rPr>
              <a:t>Conduct </a:t>
            </a:r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large-scale panel experiments over two periods with a four-month interval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power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1,573 students from 12 middle schools in South Korea in the baseline study (in August); 1,468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 or group mismatching,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652 groups (1,304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, gender, math score,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personality, </a:t>
            </a:r>
            <a:r>
              <a:rPr lang="en-US" altLang="ko-KR" sz="20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C4404B4C-EB53-42D6-8910-B9D6E6EBE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680" y="5013176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aversion (RA)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more expensive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expensi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𝑣𝑒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more expensive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RA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0, 0.5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(0).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RAs</a:t>
                </a: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6B8AF35-6897-4A9B-AF00-A05725985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680" y="4869160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848" y="5971069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makes an individual’s CCEI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/ RA / other variables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correlated with those of the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other individual </a:t>
            </a:r>
            <a:r>
              <a:rPr lang="en-GB" altLang="ko-KR" sz="16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the same group</a:t>
            </a:r>
            <a:r>
              <a:rPr lang="en-US" altLang="ko-KR" dirty="0" smtClean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D9B0920-FE80-41C9-99B6-C1466B71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1340768"/>
            <a:ext cx="7308304" cy="441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C9776DC-8B64-4936-ACA9-BED4CA451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084" y="3685853"/>
            <a:ext cx="4056512" cy="2897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0E9DB89-1DDF-4A03-95E1-2726398A45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6" y="3685853"/>
            <a:ext cx="4056514" cy="28975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877272"/>
            <a:ext cx="8424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CCEI of the group 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</a:t>
            </a:r>
            <a:r>
              <a:rPr lang="en-US" altLang="ko-KR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CCEI of </a:t>
            </a:r>
            <a:r>
              <a:rPr lang="en-US" altLang="ko-KR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 individual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</a:t>
            </a:r>
            <a:r>
              <a:rPr lang="en-US" altLang="ko-KR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</a:t>
            </a:r>
            <a:r>
              <a:rPr lang="en-US" altLang="ko-KR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CCEIs </a:t>
            </a:r>
            <a:r>
              <a:rPr lang="en-US" altLang="ko-KR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individuals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confounds.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062CB0F-F448-477C-A0AC-7E2F3F2E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73" y="1340768"/>
            <a:ext cx="5343453" cy="438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</a:t>
                </a:r>
                <a:r>
                  <a:rPr lang="en-GB" altLang="ko-KR" sz="2000" dirty="0" smtClean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Two approaches: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Compute </a:t>
                </a: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the distance of risk aversion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individual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Revealed preference approach of individual (bargaining) power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on group decisions.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41" t="-809" r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4AC1ED2-7CE7-48CB-B081-84A85ECB6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2" y="2431366"/>
            <a:ext cx="4330134" cy="309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37C1859-94D0-48B1-BD07-0BE00D7C0E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32" y="2431366"/>
            <a:ext cx="4330133" cy="3092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123728" y="4117281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588224" y="411728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F69F9F64-A539-18A0-1BDE-E2A9F720DDB6}"/>
                  </a:ext>
                </a:extLst>
              </p:cNvPr>
              <p:cNvSpPr txBox="1"/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Draw the distributions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blipFill>
                <a:blip r:embed="rId5"/>
                <a:stretch>
                  <a:fillRect l="-549" t="-9375" b="-203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720961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</a:t>
            </a:r>
            <a:r>
              <a:rPr lang="en-US" altLang="ko-KR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rational individual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stronger in the </a:t>
            </a:r>
            <a:r>
              <a:rPr lang="en-US" altLang="ko-KR" sz="1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study. </a:t>
            </a:r>
            <a:endParaRPr lang="ko-KR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B39F210-C6CE-4E77-9D1B-1BC8F8B7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17638"/>
            <a:ext cx="6156176" cy="417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 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distance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an individual’s choice data and the group choice data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ow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are an individual’s choices to group choices?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larger revealed (bargaining) power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</a:t>
            </a:r>
            <a:r>
              <a:rPr lang="en-US" sz="4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 rot="5400000">
            <a:off x="4132143" y="3868857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857179" y="3572557"/>
                <a:ext cx="2829621" cy="886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altLang="ko-KR" sz="2000" dirty="0" smtClean="0"/>
              </a:p>
              <a:p>
                <a:pPr/>
                <a:endParaRPr lang="en-US" altLang="ko-KR" sz="1000" dirty="0" smtClean="0"/>
              </a:p>
              <a:p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</a:t>
                </a:r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preference gap</a:t>
                </a: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179" y="3572557"/>
                <a:ext cx="2829621" cy="886718"/>
              </a:xfrm>
              <a:prstGeom prst="rect">
                <a:avLst/>
              </a:prstGeom>
              <a:blipFill rotWithShape="0">
                <a:blip r:embed="rId3"/>
                <a:stretch>
                  <a:fillRect l="-2371" r="-1509" b="-109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오른쪽 중괄호 2"/>
          <p:cNvSpPr/>
          <p:nvPr/>
        </p:nvSpPr>
        <p:spPr>
          <a:xfrm>
            <a:off x="5274932" y="2802632"/>
            <a:ext cx="449196" cy="242656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699792" y="2308244"/>
                <a:ext cx="81881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308244"/>
                <a:ext cx="818814" cy="391902"/>
              </a:xfrm>
              <a:prstGeom prst="rect">
                <a:avLst/>
              </a:prstGeom>
              <a:blipFill rotWithShape="0"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직사각형 4"/>
              <p:cNvSpPr/>
              <p:nvPr/>
            </p:nvSpPr>
            <p:spPr>
              <a:xfrm>
                <a:off x="2699792" y="5477358"/>
                <a:ext cx="992195" cy="391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477358"/>
                <a:ext cx="992195" cy="391902"/>
              </a:xfrm>
              <a:prstGeom prst="rect">
                <a:avLst/>
              </a:prstGeom>
              <a:blipFill rotWithShape="0"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69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</a:t>
            </a:r>
            <a:r>
              <a:rPr lang="en-US" sz="4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</a:t>
            </a:r>
            <a:r>
              <a:rPr lang="en-US" sz="4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 </a:t>
            </a:r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1967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</a:t>
            </a:r>
          </a:p>
          <a:p>
            <a:pPr algn="ctr"/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</a:t>
            </a:r>
            <a:r>
              <a:rPr lang="en-US" altLang="ko-KR" sz="1400" dirty="0" smtClean="0">
                <a:solidFill>
                  <a:srgbClr val="FF0000"/>
                </a:solidFill>
              </a:rPr>
              <a:t>more rational individual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오른쪽 화살표 12"/>
          <p:cNvSpPr>
            <a:spLocks noChangeAspect="1"/>
          </p:cNvSpPr>
          <p:nvPr/>
        </p:nvSpPr>
        <p:spPr>
          <a:xfrm rot="7740000">
            <a:off x="3208138" y="307832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>
            <a:spLocks noChangeAspect="1"/>
          </p:cNvSpPr>
          <p:nvPr/>
        </p:nvSpPr>
        <p:spPr>
          <a:xfrm rot="2760000">
            <a:off x="3134248" y="478390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직사각형 2"/>
              <p:cNvSpPr/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  <a:blipFill rotWithShape="0"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563888" y="3933056"/>
            <a:ext cx="529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Adding first the choice data of </a:t>
            </a:r>
            <a:r>
              <a:rPr lang="en-US" altLang="ko-KR" dirty="0" smtClean="0">
                <a:solidFill>
                  <a:srgbClr val="FF0000"/>
                </a:solidFill>
              </a:rPr>
              <a:t>more rational individual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13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</a:t>
            </a:r>
            <a:r>
              <a:rPr lang="en-US" sz="4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 </a:t>
            </a:r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1967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</a:t>
            </a:r>
          </a:p>
          <a:p>
            <a:pPr algn="ctr"/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</a:t>
            </a:r>
            <a:r>
              <a:rPr lang="en-US" altLang="ko-KR" sz="1400" dirty="0" smtClean="0">
                <a:solidFill>
                  <a:srgbClr val="FF0000"/>
                </a:solidFill>
              </a:rPr>
              <a:t>more rational individual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58011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choices </a:t>
            </a: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Choices of </a:t>
            </a:r>
            <a:r>
              <a:rPr lang="en-US" altLang="ko-KR" sz="1400" dirty="0" smtClean="0">
                <a:solidFill>
                  <a:srgbClr val="0000FF"/>
                </a:solidFill>
              </a:rPr>
              <a:t>less rational individual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sp>
        <p:nvSpPr>
          <p:cNvPr id="13" name="오른쪽 화살표 12"/>
          <p:cNvSpPr>
            <a:spLocks noChangeAspect="1"/>
          </p:cNvSpPr>
          <p:nvPr/>
        </p:nvSpPr>
        <p:spPr>
          <a:xfrm rot="7740000">
            <a:off x="3208138" y="307832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 rot="7740000">
            <a:off x="5105166" y="4776249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>
            <a:spLocks noChangeAspect="1"/>
          </p:cNvSpPr>
          <p:nvPr/>
        </p:nvSpPr>
        <p:spPr>
          <a:xfrm rot="2760000">
            <a:off x="5094124" y="3070665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>
            <a:spLocks noChangeAspect="1"/>
          </p:cNvSpPr>
          <p:nvPr/>
        </p:nvSpPr>
        <p:spPr>
          <a:xfrm rot="2760000">
            <a:off x="3134248" y="478390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630858" y="2442917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858" y="2442917"/>
                <a:ext cx="2621487" cy="69935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직사각형 2"/>
              <p:cNvSpPr/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  <a:blipFill rotWithShape="0"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직사각형 3"/>
              <p:cNvSpPr/>
              <p:nvPr/>
            </p:nvSpPr>
            <p:spPr>
              <a:xfrm>
                <a:off x="5747049" y="4952194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049" y="4952194"/>
                <a:ext cx="1833514" cy="419154"/>
              </a:xfrm>
              <a:prstGeom prst="rect">
                <a:avLst/>
              </a:prstGeom>
              <a:blipFill rotWithShape="0"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92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147248" cy="122693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1800" dirty="0" smtClean="0">
                    <a:latin typeface="Times New Roman" pitchFamily="18" charset="0"/>
                    <a:cs typeface="Times New Roman" pitchFamily="18" charset="0"/>
                  </a:rPr>
                  <a:t>We consider the path-independent measure of revealed preference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800" dirty="0" smtClean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800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147248" cy="1226933"/>
              </a:xfrm>
              <a:blipFill rotWithShape="0">
                <a:blip r:embed="rId3"/>
                <a:stretch>
                  <a:fillRect l="-449" t="-29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F8704976-BDD7-44ED-BE4D-F43F72C9252D}"/>
                  </a:ext>
                </a:extLst>
              </p:cNvPr>
              <p:cNvSpPr txBox="1"/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704976-BDD7-44ED-BE4D-F43F72C92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49419F05-6440-4D49-9465-A9312C47A2F7}"/>
                  </a:ext>
                </a:extLst>
              </p:cNvPr>
              <p:cNvSpPr txBox="1"/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419F05-6440-4D49-9465-A9312C47A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blipFill rotWithShape="0"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22D2FFE5-1E15-437C-B54C-E2F1DBD863FB}"/>
                  </a:ext>
                </a:extLst>
              </p:cNvPr>
              <p:cNvSpPr txBox="1"/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D2FFE5-1E15-437C-B54C-E2F1DBD86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F9A5AE78-69DB-4AB0-9470-B2374502167A}"/>
                  </a:ext>
                </a:extLst>
              </p:cNvPr>
              <p:cNvSpPr txBox="1"/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A5AE78-69DB-4AB0-9470-B23745021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A3587685-EC1E-41B5-B627-72D26379E483}"/>
                  </a:ext>
                </a:extLst>
              </p:cNvPr>
              <p:cNvSpPr txBox="1"/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587685-EC1E-41B5-B627-72D26379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blipFill>
                <a:blip r:embed="rId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="" xmlns:a16="http://schemas.microsoft.com/office/drawing/2014/main" id="{5967E5FF-F32F-4537-83E7-732FA649AD3E}"/>
                  </a:ext>
                </a:extLst>
              </p:cNvPr>
              <p:cNvSpPr txBox="1"/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67E5FF-F32F-4537-83E7-732FA649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blipFill>
                <a:blip r:embed="rId9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오른쪽 화살표 8">
            <a:extLst>
              <a:ext uri="{FF2B5EF4-FFF2-40B4-BE49-F238E27FC236}">
                <a16:creationId xmlns="" xmlns:a16="http://schemas.microsoft.com/office/drawing/2014/main" id="{8915476A-2AE5-432A-998E-8B69216AE197}"/>
              </a:ext>
            </a:extLst>
          </p:cNvPr>
          <p:cNvSpPr>
            <a:spLocks noChangeAspect="1"/>
          </p:cNvSpPr>
          <p:nvPr/>
        </p:nvSpPr>
        <p:spPr>
          <a:xfrm>
            <a:off x="4271161" y="454144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7">
            <a:extLst>
              <a:ext uri="{FF2B5EF4-FFF2-40B4-BE49-F238E27FC236}">
                <a16:creationId xmlns="" xmlns:a16="http://schemas.microsoft.com/office/drawing/2014/main" id="{8268294A-9956-46BD-800E-D905869201BB}"/>
              </a:ext>
            </a:extLst>
          </p:cNvPr>
          <p:cNvSpPr/>
          <p:nvPr/>
        </p:nvSpPr>
        <p:spPr>
          <a:xfrm>
            <a:off x="927785" y="2958078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="" xmlns:a16="http://schemas.microsoft.com/office/drawing/2014/main" id="{263467D3-DB92-4B70-A64D-1E8CB34204A3}"/>
              </a:ext>
            </a:extLst>
          </p:cNvPr>
          <p:cNvSpPr/>
          <p:nvPr/>
        </p:nvSpPr>
        <p:spPr>
          <a:xfrm>
            <a:off x="927785" y="4892171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63C2D92E-8DB9-48FF-9C32-9FAB5AF2F2E2}"/>
                  </a:ext>
                </a:extLst>
              </p:cNvPr>
              <p:cNvSpPr txBox="1"/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𝑁𝑜𝑡𝑒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C2D92E-8DB9-48FF-9C32-9FAB5AF2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blipFill>
                <a:blip r:embed="rId10"/>
                <a:stretch>
                  <a:fillRect l="-2118" t="-6154" b="-1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445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</a:t>
                </a:r>
                <a:r>
                  <a:rPr lang="en-GB" altLang="ko-KR" sz="1600" dirty="0" smtClean="0">
                    <a:latin typeface="Times New Roman" pitchFamily="18" charset="0"/>
                    <a:cs typeface="Times New Roman" pitchFamily="18" charset="0"/>
                  </a:rPr>
                  <a:t>more consistent 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with the group choice data. </a:t>
                </a: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0.5</m:t>
                    </m:r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), then </a:t>
                </a:r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the more rational individual </a:t>
                </a:r>
                <a:r>
                  <a:rPr lang="en-GB" altLang="ko-KR" sz="1600" dirty="0" smtClean="0">
                    <a:latin typeface="Times New Roman" pitchFamily="18" charset="0"/>
                    <a:cs typeface="Times New Roman" pitchFamily="18" charset="0"/>
                  </a:rPr>
                  <a:t>is said to make 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 larger revealed bargaining power on group decision-making than </a:t>
                </a: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less rational </a:t>
                </a:r>
                <a:r>
                  <a:rPr lang="en-GB" altLang="ko-KR" sz="1600" dirty="0" smtClean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individual</a:t>
                </a:r>
                <a:r>
                  <a:rPr lang="en-GB" altLang="ko-KR" sz="16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endParaRPr lang="en-GB" altLang="ko-KR" sz="16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GB" altLang="ko-KR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GB" altLang="ko-KR" sz="1600" dirty="0" smtClean="0">
                    <a:latin typeface="Times New Roman" pitchFamily="18" charset="0"/>
                    <a:cs typeface="Times New Roman" pitchFamily="18" charset="0"/>
                  </a:rPr>
                  <a:t>72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% of the groups in the baseline data; 74% in the </a:t>
                </a:r>
                <a:r>
                  <a:rPr lang="en-GB" altLang="ko-KR" sz="1600" dirty="0" err="1">
                    <a:latin typeface="Times New Roman" pitchFamily="18" charset="0"/>
                    <a:cs typeface="Times New Roman" pitchFamily="18" charset="0"/>
                  </a:rPr>
                  <a:t>endline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data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19" t="-1213" r="-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1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7257115" cy="945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GB" altLang="ko-K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 rational individual (right; </a:t>
                </a:r>
                <a:r>
                  <a:rPr lang="en-GB" altLang="ko-KR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group behave the same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=0.97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7257115" cy="945900"/>
              </a:xfrm>
              <a:prstGeom prst="rect">
                <a:avLst/>
              </a:prstGeom>
              <a:blipFill rotWithShape="0">
                <a:blip r:embed="rId3"/>
                <a:stretch>
                  <a:fillRect l="-588" t="-3205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359CB011-F4BF-4EF7-883C-09C3190DF7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2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.03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1.00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blipFill>
                <a:blip r:embed="rId3"/>
                <a:stretch>
                  <a:fillRect l="-1602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>
            <a:extLst>
              <a:ext uri="{FF2B5EF4-FFF2-40B4-BE49-F238E27FC236}">
                <a16:creationId xmlns="" xmlns:a16="http://schemas.microsoft.com/office/drawing/2014/main" id="{F1DEC416-2E99-422A-89CC-9CE4F31F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891615-A3FE-F1E5-DC7A-BB27CF46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F9DBB8-0A46-90BE-A63C-66E4FD4A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3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10722152-2B73-2E4F-63B9-055B18755165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=0.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=1.00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blipFill>
                <a:blip r:embed="rId3"/>
                <a:stretch>
                  <a:fillRect l="-1535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481A1DF-27D1-4AB2-7367-E7675DEA4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615" y="1735213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2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0.294 in the baseline and 0.263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>
                <a:blip r:embed="rId3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2A7D6AC-40BB-4778-8F94-C5AF575D45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937406"/>
            <a:ext cx="4176464" cy="2983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F418A978-1196-4168-847C-D6348089CE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58" y="1937406"/>
            <a:ext cx="4190546" cy="29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0.706 in the baseline and 0.737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>
                <a:blip r:embed="rId3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800BDE0-367C-4971-9926-B4191469D1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162" y="1988840"/>
            <a:ext cx="4176464" cy="2983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D19444C-E8A2-4898-A7E7-BAD369FF05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84" y="1988840"/>
            <a:ext cx="4176464" cy="298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4">
                <a:extLst>
                  <a:ext uri="{FF2B5EF4-FFF2-40B4-BE49-F238E27FC236}">
                    <a16:creationId xmlns=""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61.4%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becomes larger in the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 rotWithShape="0"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D270C2E-7608-4808-8E13-8F1D23FF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70" y="1268760"/>
            <a:ext cx="6426460" cy="405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group decision-making and individual power on group decision-making.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(bargaining) power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the CCEI of more rational one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and decreases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gap of CCEIs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between two individuals.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ko-KR" sz="16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more rational </a:t>
            </a:r>
            <a:r>
              <a:rPr lang="en-US" altLang="ko-KR" sz="1600">
                <a:latin typeface="Times New Roman" pitchFamily="18" charset="0"/>
                <a:cs typeface="Times New Roman" pitchFamily="18" charset="0"/>
              </a:rPr>
              <a:t>individual </a:t>
            </a:r>
            <a:r>
              <a:rPr lang="en-US" altLang="ko-KR" sz="1600" smtClean="0">
                <a:latin typeface="Times New Roman" pitchFamily="18" charset="0"/>
                <a:cs typeface="Times New Roman" pitchFamily="18" charset="0"/>
              </a:rPr>
              <a:t>makes</a:t>
            </a:r>
            <a:r>
              <a:rPr lang="en-US" altLang="ko-KR" sz="16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 larger revealed (bargaining) power on group decision-making.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14565</TotalTime>
  <Words>1107</Words>
  <Application>Microsoft Office PowerPoint</Application>
  <PresentationFormat>화면 슬라이드 쇼(4:3)</PresentationFormat>
  <Paragraphs>254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맑은 고딕</vt:lpstr>
      <vt:lpstr>Arial</vt:lpstr>
      <vt:lpstr>Calibri</vt:lpstr>
      <vt:lpstr>Cambria Math</vt:lpstr>
      <vt:lpstr>Times</vt:lpstr>
      <vt:lpstr>Times New Roman</vt:lpstr>
      <vt:lpstr>Wingdings</vt:lpstr>
      <vt:lpstr>Office Theme</vt:lpstr>
      <vt:lpstr>Rationality-Based  Preference Aggregation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Does Preference Aggregation Depend on Rationality?</vt:lpstr>
      <vt:lpstr>Does Preference Aggregation Depend on Rationality?</vt:lpstr>
      <vt:lpstr>Does Preference Aggregation Depend on Rationality?</vt:lpstr>
      <vt:lpstr>Revealed (Bargaining) Power</vt:lpstr>
      <vt:lpstr>Revealed Preference Distance</vt:lpstr>
      <vt:lpstr>Revealed Preference Distance</vt:lpstr>
      <vt:lpstr>Revealed Preference Distance</vt:lpstr>
      <vt:lpstr>Revealed (Bargaining) Power</vt:lpstr>
      <vt:lpstr>Revealed (Bargaining) Power</vt:lpstr>
      <vt:lpstr>Selective Group 1</vt:lpstr>
      <vt:lpstr>Selective Group 2</vt:lpstr>
      <vt:lpstr>Selective Group 3</vt:lpstr>
      <vt:lpstr>Revealed Preference Distance: More Rational Individual</vt:lpstr>
      <vt:lpstr>Revealed Preference Distance: Less Rational Individual</vt:lpstr>
      <vt:lpstr>Revealed Preference Distance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Choi Syngjoo</cp:lastModifiedBy>
  <cp:revision>436</cp:revision>
  <cp:lastPrinted>2020-09-11T00:36:22Z</cp:lastPrinted>
  <dcterms:created xsi:type="dcterms:W3CDTF">2019-11-29T16:58:42Z</dcterms:created>
  <dcterms:modified xsi:type="dcterms:W3CDTF">2025-08-14T04:49:59Z</dcterms:modified>
</cp:coreProperties>
</file>