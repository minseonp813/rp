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929" r:id="rId2"/>
    <p:sldId id="930" r:id="rId3"/>
    <p:sldId id="932" r:id="rId4"/>
    <p:sldId id="935" r:id="rId5"/>
    <p:sldId id="933" r:id="rId6"/>
    <p:sldId id="934" r:id="rId7"/>
    <p:sldId id="936" r:id="rId8"/>
    <p:sldId id="950" r:id="rId9"/>
    <p:sldId id="954" r:id="rId10"/>
    <p:sldId id="937" r:id="rId11"/>
    <p:sldId id="938" r:id="rId12"/>
    <p:sldId id="951" r:id="rId13"/>
    <p:sldId id="952" r:id="rId14"/>
    <p:sldId id="949" r:id="rId15"/>
    <p:sldId id="939" r:id="rId16"/>
    <p:sldId id="961" r:id="rId17"/>
    <p:sldId id="962" r:id="rId18"/>
    <p:sldId id="963" r:id="rId19"/>
    <p:sldId id="959" r:id="rId20"/>
    <p:sldId id="945" r:id="rId21"/>
    <p:sldId id="943" r:id="rId22"/>
    <p:sldId id="957" r:id="rId23"/>
    <p:sldId id="958" r:id="rId24"/>
    <p:sldId id="956" r:id="rId25"/>
    <p:sldId id="944" r:id="rId26"/>
    <p:sldId id="948" r:id="rId27"/>
    <p:sldId id="955" r:id="rId2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A63"/>
    <a:srgbClr val="0000FF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102" d="100"/>
          <a:sy n="102" d="100"/>
        </p:scale>
        <p:origin x="22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8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8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2DCB-5C0F-2C14-4116-E0F4EC7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3947D-5F9C-3E3E-96E7-DB6E2E831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288ED-2AD8-DF0D-8053-D349A841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24921-0CE6-CD08-E30E-F19C2295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2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F1F4-ABE0-AF9D-F23E-C213E222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312C0-BAED-5CAD-7C77-B9DA6CE4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3A5FC-BCD5-10DF-7461-33F47EB6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A4CDB-1ED3-713F-0BB8-EABA55DBB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5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82CE-6BD2-A2D8-6D73-26EE86F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7BDE3-1965-2020-14E9-332A59002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FBC2B6-C305-E10A-0DE2-5B373BEF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C254B-611B-0DE5-EDCD-DE8504673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60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60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38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27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2E54-38B1-6741-0EA7-EC35F7BD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2409A-3EE7-2D70-0DBC-9B6AEA9E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7DA6B-94E5-391A-6E54-C97242AB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59C444-3815-A8E0-EB81-FFEEB71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33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267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445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DDA3-4CEB-4769-8C97-691FC791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33E9B-F497-05C2-73EC-AC4988A3B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F92422-DD77-B6EC-E860-E56B7B40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880DC-9F4C-4A1C-8A22-07177024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53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9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14/08/2025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3" y="1124744"/>
            <a:ext cx="8208912" cy="20882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Aggregation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1779" y="5661248"/>
            <a:ext cx="2254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August 15, 2025</a:t>
            </a:r>
          </a:p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9</a:t>
            </a:r>
            <a:r>
              <a:rPr lang="en-US" altLang="ko-KR" sz="2000" baseline="30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</a:t>
            </a:r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BEET Workshop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0394"/>
              </p:ext>
            </p:extLst>
          </p:nvPr>
        </p:nvGraphicFramePr>
        <p:xfrm>
          <a:off x="1259632" y="3789040"/>
          <a:ext cx="662473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5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Syngjoo Choi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Byunghun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Hahn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Booyuel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Kim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Minseon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(Michigan)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Yoonsoo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(SMU)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Euncheol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Shin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(KAIST)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Long-standing interests in group decision making (DM)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Households (e.g.,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McEloy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and Horney, 1981;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Chiappori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1992; Lundberg and Pollak, 1996);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Committees (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,, Austen-Smith and Banks, 1996; Feddersen and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Pesendorfer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1998))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Social choice theory (e.g., Arrow, 1951; Sen, 1970), etc.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rationality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is a foundational assumption in understanding group decision making. </a:t>
            </a: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Growing evidence on the role of </a:t>
            </a:r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DM ability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proxied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by education, cognitive ability, or financial literacy, in household outcomes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e.g., Behrman et al. (2012),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Yilmazer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et al. (2015),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Guiso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et al. (2023),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Gu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et al. (2023)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This Paper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argue that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lack of individual rationality is an important source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the quality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and (2)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individual (bargaining) power on group decision-making.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Conduct large-scale panel experiments over two periods with a four-month interval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Propose a nonparametric, revealed preference measure of individual power on group decision making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Make a causal inference on the effect of individual rationality on group outcomes.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1,573 students from 12 middle schools in South Korea in the baseline study (in August); 1,468 revisited in the endline study (in December) </a:t>
            </a: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In each study, they completed two stages of decision making under risk at the individual level and at the collective level. 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Pairs were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randomly formed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within classroom for collective choices in the baseline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They were kept unchanged in the endline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Due to attrition or group mismatching,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final sample consists of 652 groups (1,304 individuals)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in both studies.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also collected their individual characteristics (height, gender, math score, personality, 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) and friendship information. </a:t>
            </a: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Problem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Follow Choi et al. (2007)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Allocate an income over two Arrow securities (associated with equally probably two states): choose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212976"/>
            <a:ext cx="3881247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3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Procedures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Participants: students from 12 middle schools in South Korea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2708920"/>
            <a:ext cx="1636987" cy="64633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1</a:t>
            </a:r>
          </a:p>
          <a:p>
            <a:pPr algn="ctr"/>
            <a:r>
              <a:rPr lang="en-US" altLang="ko-KR" dirty="0"/>
              <a:t>(Individual DM)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61502" y="2708920"/>
            <a:ext cx="1306256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2</a:t>
            </a:r>
          </a:p>
          <a:p>
            <a:pPr algn="ctr"/>
            <a:r>
              <a:rPr lang="en-US" altLang="ko-KR" dirty="0"/>
              <a:t>(Group DM)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>
            <a:off x="3544691" y="3032085"/>
            <a:ext cx="24168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11130" y="272149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matching within classroom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717032"/>
            <a:ext cx="367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individual choices 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8426" y="3717032"/>
            <a:ext cx="40420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matched students in pair sit side by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min 30 sec of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collective choices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 (doubled and divided equally)</a:t>
            </a:r>
          </a:p>
          <a:p>
            <a:endParaRPr lang="en-US" altLang="ko-KR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5805264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No feedback is given during the experiment, and subjects are informed only the sum of payoffs from the two stages at the end of the study</a:t>
            </a:r>
            <a:r>
              <a:rPr lang="en-US" altLang="ko-KR" dirty="0"/>
              <a:t>.</a:t>
            </a:r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4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Rationality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Test whether each choice data are consistent with utility maximization: Generalized Axiom of Revealed Preference (GARP)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 err="1">
                    <a:latin typeface="Times New Roman" pitchFamily="18" charset="0"/>
                    <a:cs typeface="Times New Roman" pitchFamily="18" charset="0"/>
                  </a:rPr>
                  <a:t>Afriat’s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Critical Cost Efficiency Index (CCEI)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Measuring the exact amount by which each budget must be relaxed to remove all GARP violations;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CCEI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the smaller it is, the more severe violation of GARP.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CCEIs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4404B4C-EB53-42D6-8910-B9D6E6EBE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680" y="5013176"/>
            <a:ext cx="5724640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AD86-DA6B-FD35-14F4-24B239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A2C5-5134-A599-CC7B-41078E9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Risk Preferences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Simple nonparametric measure of risk aversion (RA)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budget, the fraction of money on a more expensive asset: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expensi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𝑣𝑒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individual and each group, compute the average of the fraction of money on a more expensive asset over 18 rounds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RA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0, 0.5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higher (lower) degree of risk aversion when it is closer to 0.5 (0).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RAs</a:t>
                </a: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6B8AF35-6897-4A9B-AF00-A05725985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680" y="4869160"/>
            <a:ext cx="5724640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Balance Test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7848" y="5971069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group formation makes an individual’s CCEI / RA / other variables not correlated with those of the other individual in the same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B0920-FE80-41C9-99B6-C1466B71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1340768"/>
            <a:ext cx="7308304" cy="441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3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9776DC-8B64-4936-ACA9-BED4CA451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084" y="3685853"/>
            <a:ext cx="4056512" cy="2897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E9DB89-1DDF-4A03-95E1-2726398A45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86" y="3685853"/>
            <a:ext cx="4056514" cy="28975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Q1: Do more rational individuals make group decisions more rational?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Divide subjects into two groups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w.r.t. individual CCEIs</a:t>
            </a:r>
          </a:p>
          <a:p>
            <a:pPr lvl="1"/>
            <a:endParaRPr lang="en-US" altLang="ko-KR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group: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below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the median of CCEI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3688" y="4509120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4208" y="450912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C9D0F-0111-A311-CF27-53B82CE92AD3}"/>
              </a:ext>
            </a:extLst>
          </p:cNvPr>
          <p:cNvSpPr txBox="1"/>
          <p:nvPr/>
        </p:nvSpPr>
        <p:spPr>
          <a:xfrm>
            <a:off x="539552" y="5877272"/>
            <a:ext cx="8424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CCEI of the group increases with the CCEI of more rational individual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with the difference between the CCEIs of the two individuals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after controlling for confounds.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2CB0F-F448-477C-A0AC-7E2F3F2EC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73" y="1340768"/>
            <a:ext cx="5343453" cy="438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2279-112E-4A02-1463-5322035F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2C51-9D40-B958-7936-F92B9C6F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Q2: Is the preference of the group closer to that of the more rational individual?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Individual with higher (lower) CCEI in the group: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high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low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Two approaches: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Compute </a:t>
                </a: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the distance of risk aversion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individual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and the group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Revealed preference approach of individual (bargaining) power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on group decisions.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E59729F-E711-A610-5198-3BC32A4F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41" t="-809" r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4346-9DAA-63E8-7E91-689311E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AC1ED2-7CE7-48CB-B081-84A85ECB6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2" y="2431366"/>
            <a:ext cx="4330134" cy="3092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7C1859-94D0-48B1-BD07-0BE00D7C0E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32" y="2431366"/>
            <a:ext cx="4330133" cy="3092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5F95BC-0A60-CBFB-7999-B6F780B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6559-ECA9-1C5A-43F3-36F641D6E1BC}"/>
              </a:ext>
            </a:extLst>
          </p:cNvPr>
          <p:cNvSpPr txBox="1"/>
          <p:nvPr/>
        </p:nvSpPr>
        <p:spPr>
          <a:xfrm>
            <a:off x="2123728" y="4117281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5FB34-379B-970B-861E-0CCE2F7CF451}"/>
              </a:ext>
            </a:extLst>
          </p:cNvPr>
          <p:cNvSpPr txBox="1"/>
          <p:nvPr/>
        </p:nvSpPr>
        <p:spPr>
          <a:xfrm>
            <a:off x="6588224" y="4117281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800" y="5604568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preference gap between a more rational individual and the group is smaller than that between a less rational individual and the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/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Draw the distributions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blipFill>
                <a:blip r:embed="rId5"/>
                <a:stretch>
                  <a:fillRect l="-549" t="-9375" b="-203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3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9D6DE-B472-7E2B-6EB2-950DD240FE05}"/>
              </a:ext>
            </a:extLst>
          </p:cNvPr>
          <p:cNvSpPr txBox="1"/>
          <p:nvPr/>
        </p:nvSpPr>
        <p:spPr>
          <a:xfrm>
            <a:off x="539552" y="5720961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risk preference is closer to the individual risk preference of the more rational individual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stronger in the </a:t>
            </a:r>
            <a:r>
              <a:rPr lang="en-US" altLang="ko-KR" sz="1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study. </a:t>
            </a:r>
            <a:endParaRPr lang="ko-KR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9F210-C6CE-4E77-9D1B-1BC8F8B7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17638"/>
            <a:ext cx="6156176" cy="417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5345F-3CC4-ADCA-3317-F30E7940D6BA}"/>
              </a:ext>
            </a:extLst>
          </p:cNvPr>
          <p:cNvSpPr txBox="1"/>
          <p:nvPr/>
        </p:nvSpPr>
        <p:spPr>
          <a:xfrm>
            <a:off x="457200" y="1464334"/>
            <a:ext cx="85072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approach 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distance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an individual’s choice data and the group choice data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close are an individual’s choices to group choices?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is said to </a:t>
            </a:r>
            <a:r>
              <a:rPr lang="en-US" altLang="ko-K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a larger revealed (bargaining) power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her choice data is “closer” to the data of group choices.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9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12902" y="2046740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오른쪽 화살표 8"/>
          <p:cNvSpPr>
            <a:spLocks noChangeAspect="1"/>
          </p:cNvSpPr>
          <p:nvPr/>
        </p:nvSpPr>
        <p:spPr>
          <a:xfrm rot="5400000">
            <a:off x="4132143" y="3868857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3712902" y="5098020"/>
            <a:ext cx="1440160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two individuals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7179" y="3572557"/>
                <a:ext cx="2829621" cy="886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2000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altLang="ko-KR" sz="2000" dirty="0"/>
              </a:p>
              <a:p>
                <a:endParaRPr lang="en-US" altLang="ko-KR" sz="1000" dirty="0"/>
              </a:p>
              <a:p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preference gap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179" y="3572557"/>
                <a:ext cx="2829621" cy="886718"/>
              </a:xfrm>
              <a:prstGeom prst="rect">
                <a:avLst/>
              </a:prstGeom>
              <a:blipFill rotWithShape="0">
                <a:blip r:embed="rId3"/>
                <a:stretch>
                  <a:fillRect l="-2371" r="-1509" b="-109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오른쪽 중괄호 2"/>
          <p:cNvSpPr/>
          <p:nvPr/>
        </p:nvSpPr>
        <p:spPr>
          <a:xfrm>
            <a:off x="5274932" y="2802632"/>
            <a:ext cx="449196" cy="242656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99792" y="2308244"/>
                <a:ext cx="81881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308244"/>
                <a:ext cx="818814" cy="391902"/>
              </a:xfrm>
              <a:prstGeom prst="rect">
                <a:avLst/>
              </a:prstGeom>
              <a:blipFill rotWithShape="0"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2699792" y="5477358"/>
                <a:ext cx="992195" cy="391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477358"/>
                <a:ext cx="992195" cy="391902"/>
              </a:xfrm>
              <a:prstGeom prst="rect">
                <a:avLst/>
              </a:prstGeom>
              <a:blipFill rotWithShape="0"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969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12902" y="2046740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712902" y="5098020"/>
            <a:ext cx="1440160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 </a:t>
            </a:r>
            <a:r>
              <a:rPr lang="en-US" altLang="ko-KR" b="1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two individuals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619672" y="3501008"/>
            <a:ext cx="1656184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</a:p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FF0000"/>
                </a:solidFill>
              </a:rPr>
              <a:t>more rational individual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오른쪽 화살표 12"/>
          <p:cNvSpPr>
            <a:spLocks noChangeAspect="1"/>
          </p:cNvSpPr>
          <p:nvPr/>
        </p:nvSpPr>
        <p:spPr>
          <a:xfrm rot="7740000">
            <a:off x="3208138" y="307832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>
            <a:spLocks noChangeAspect="1"/>
          </p:cNvSpPr>
          <p:nvPr/>
        </p:nvSpPr>
        <p:spPr>
          <a:xfrm rot="2760000">
            <a:off x="3134248" y="478390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  <a:blipFill rotWithShape="0"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563888" y="3933056"/>
            <a:ext cx="529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Adding first the choice data of </a:t>
            </a:r>
            <a:r>
              <a:rPr lang="en-US" altLang="ko-KR" dirty="0">
                <a:solidFill>
                  <a:srgbClr val="FF0000"/>
                </a:solidFill>
              </a:rPr>
              <a:t>more rational individual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13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Path Dependence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12902" y="2046740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712902" y="5098020"/>
            <a:ext cx="1440160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 </a:t>
            </a:r>
            <a:r>
              <a:rPr lang="en-US" altLang="ko-KR" b="1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two individuals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619672" y="3501008"/>
            <a:ext cx="1656184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</a:t>
            </a:r>
          </a:p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FF0000"/>
                </a:solidFill>
              </a:rPr>
              <a:t>more rational individual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580112" y="3501008"/>
            <a:ext cx="1656184" cy="11505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DA63"/>
                </a:solidFill>
              </a:rPr>
              <a:t>Group</a:t>
            </a:r>
            <a:r>
              <a:rPr lang="en-US" altLang="ko-KR" sz="1400" dirty="0">
                <a:solidFill>
                  <a:srgbClr val="0000FF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choices 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0000FF"/>
                </a:solidFill>
              </a:rPr>
              <a:t>less rational individual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sp>
        <p:nvSpPr>
          <p:cNvPr id="13" name="오른쪽 화살표 12"/>
          <p:cNvSpPr>
            <a:spLocks noChangeAspect="1"/>
          </p:cNvSpPr>
          <p:nvPr/>
        </p:nvSpPr>
        <p:spPr>
          <a:xfrm rot="7740000">
            <a:off x="3208138" y="307832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>
            <a:spLocks noChangeAspect="1"/>
          </p:cNvSpPr>
          <p:nvPr/>
        </p:nvSpPr>
        <p:spPr>
          <a:xfrm rot="7740000">
            <a:off x="5105166" y="4776249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>
            <a:spLocks noChangeAspect="1"/>
          </p:cNvSpPr>
          <p:nvPr/>
        </p:nvSpPr>
        <p:spPr>
          <a:xfrm rot="2760000">
            <a:off x="5094124" y="3070665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>
            <a:spLocks noChangeAspect="1"/>
          </p:cNvSpPr>
          <p:nvPr/>
        </p:nvSpPr>
        <p:spPr>
          <a:xfrm rot="2760000">
            <a:off x="3134248" y="478390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36" y="2476611"/>
                <a:ext cx="2621487" cy="6993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30858" y="2442917"/>
                <a:ext cx="2621487" cy="699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858" y="2442917"/>
                <a:ext cx="2621487" cy="69935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568" y="5101498"/>
                <a:ext cx="1833514" cy="419154"/>
              </a:xfrm>
              <a:prstGeom prst="rect">
                <a:avLst/>
              </a:prstGeom>
              <a:blipFill rotWithShape="0"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5747049" y="4952194"/>
                <a:ext cx="1833514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049" y="4952194"/>
                <a:ext cx="1833514" cy="419154"/>
              </a:xfrm>
              <a:prstGeom prst="rect">
                <a:avLst/>
              </a:prstGeom>
              <a:blipFill rotWithShape="0"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92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147248" cy="1226933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We consider the path-independent measure of revealed preference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, by taking the average.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71453E-CA7B-DF9F-3396-CF56FEC05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147248" cy="1226933"/>
              </a:xfrm>
              <a:blipFill rotWithShape="0">
                <a:blip r:embed="rId3"/>
                <a:stretch>
                  <a:fillRect l="-449" t="-29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704976-BDD7-44ED-BE4D-F43F72C9252D}"/>
                  </a:ext>
                </a:extLst>
              </p:cNvPr>
              <p:cNvSpPr txBox="1"/>
              <p:nvPr/>
            </p:nvSpPr>
            <p:spPr>
              <a:xfrm>
                <a:off x="1043608" y="2795428"/>
                <a:ext cx="2664296" cy="1002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1800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8704976-BDD7-44ED-BE4D-F43F72C92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795428"/>
                <a:ext cx="2664296" cy="10029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9419F05-6440-4D49-9465-A9312C47A2F7}"/>
                  </a:ext>
                </a:extLst>
              </p:cNvPr>
              <p:cNvSpPr txBox="1"/>
              <p:nvPr/>
            </p:nvSpPr>
            <p:spPr>
              <a:xfrm>
                <a:off x="1043608" y="3991344"/>
                <a:ext cx="3456384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419F05-6440-4D49-9465-A9312C47A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991344"/>
                <a:ext cx="3456384" cy="419154"/>
              </a:xfrm>
              <a:prstGeom prst="rect">
                <a:avLst/>
              </a:prstGeom>
              <a:blipFill rotWithShape="0"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D2FFE5-1E15-437C-B54C-E2F1DBD863FB}"/>
                  </a:ext>
                </a:extLst>
              </p:cNvPr>
              <p:cNvSpPr txBox="1"/>
              <p:nvPr/>
            </p:nvSpPr>
            <p:spPr>
              <a:xfrm>
                <a:off x="1043608" y="4947709"/>
                <a:ext cx="2664296" cy="58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D2FFE5-1E15-437C-B54C-E2F1DBD86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947709"/>
                <a:ext cx="2664296" cy="58259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A5AE78-69DB-4AB0-9470-B2374502167A}"/>
                  </a:ext>
                </a:extLst>
              </p:cNvPr>
              <p:cNvSpPr txBox="1"/>
              <p:nvPr/>
            </p:nvSpPr>
            <p:spPr>
              <a:xfrm>
                <a:off x="1043608" y="5661248"/>
                <a:ext cx="3456384" cy="699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 smtClean="0">
                              <a:solidFill>
                                <a:srgbClr val="00DA63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 smtClean="0">
                                  <a:solidFill>
                                    <a:srgbClr val="00DA63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9A5AE78-69DB-4AB0-9470-B23745021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661248"/>
                <a:ext cx="3456384" cy="69935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587685-EC1E-41B5-B627-72D26379E483}"/>
                  </a:ext>
                </a:extLst>
              </p:cNvPr>
              <p:cNvSpPr txBox="1"/>
              <p:nvPr/>
            </p:nvSpPr>
            <p:spPr>
              <a:xfrm>
                <a:off x="5436096" y="4105080"/>
                <a:ext cx="2448711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altLang="ko-KR" b="0" i="1" smtClean="0">
                                <a:solidFill>
                                  <a:srgbClr val="00DA6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 smtClean="0">
                            <a:solidFill>
                              <a:srgbClr val="00DA6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 smtClean="0">
                            <a:solidFill>
                              <a:srgbClr val="00DA6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87685-EC1E-41B5-B627-72D26379E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105080"/>
                <a:ext cx="2448711" cy="483466"/>
              </a:xfrm>
              <a:prstGeom prst="rect">
                <a:avLst/>
              </a:prstGeom>
              <a:blipFill rotWithShape="0">
                <a:blip r:embed="rId8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67E5FF-F32F-4537-83E7-732FA649AD3E}"/>
                  </a:ext>
                </a:extLst>
              </p:cNvPr>
              <p:cNvSpPr txBox="1"/>
              <p:nvPr/>
            </p:nvSpPr>
            <p:spPr>
              <a:xfrm>
                <a:off x="5436096" y="4774333"/>
                <a:ext cx="2448711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  <m:r>
                              <a:rPr lang="en-US" altLang="ko-KR" b="0" i="1" smtClean="0">
                                <a:solidFill>
                                  <a:srgbClr val="00DA6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 smtClean="0">
                            <a:solidFill>
                              <a:srgbClr val="00DA6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 smtClean="0">
                            <a:solidFill>
                              <a:srgbClr val="00DA6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967E5FF-F32F-4537-83E7-732FA649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774333"/>
                <a:ext cx="2448711" cy="483466"/>
              </a:xfrm>
              <a:prstGeom prst="rect">
                <a:avLst/>
              </a:prstGeom>
              <a:blipFill rotWithShape="0">
                <a:blip r:embed="rId9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오른쪽 화살표 8">
            <a:extLst>
              <a:ext uri="{FF2B5EF4-FFF2-40B4-BE49-F238E27FC236}">
                <a16:creationId xmlns:a16="http://schemas.microsoft.com/office/drawing/2014/main" id="{8915476A-2AE5-432A-998E-8B69216AE197}"/>
              </a:ext>
            </a:extLst>
          </p:cNvPr>
          <p:cNvSpPr>
            <a:spLocks noChangeAspect="1"/>
          </p:cNvSpPr>
          <p:nvPr/>
        </p:nvSpPr>
        <p:spPr>
          <a:xfrm>
            <a:off x="4271161" y="454144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7">
            <a:extLst>
              <a:ext uri="{FF2B5EF4-FFF2-40B4-BE49-F238E27FC236}">
                <a16:creationId xmlns:a16="http://schemas.microsoft.com/office/drawing/2014/main" id="{8268294A-9956-46BD-800E-D905869201BB}"/>
              </a:ext>
            </a:extLst>
          </p:cNvPr>
          <p:cNvSpPr/>
          <p:nvPr/>
        </p:nvSpPr>
        <p:spPr>
          <a:xfrm>
            <a:off x="927785" y="2958078"/>
            <a:ext cx="2844316" cy="168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7" name="모서리가 둥근 직사각형 7">
            <a:extLst>
              <a:ext uri="{FF2B5EF4-FFF2-40B4-BE49-F238E27FC236}">
                <a16:creationId xmlns:a16="http://schemas.microsoft.com/office/drawing/2014/main" id="{263467D3-DB92-4B70-A64D-1E8CB34204A3}"/>
              </a:ext>
            </a:extLst>
          </p:cNvPr>
          <p:cNvSpPr/>
          <p:nvPr/>
        </p:nvSpPr>
        <p:spPr>
          <a:xfrm>
            <a:off x="927785" y="4892171"/>
            <a:ext cx="2844316" cy="168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C2D92E-8DB9-48FF-9C32-9FAB5AF2F2E2}"/>
                  </a:ext>
                </a:extLst>
              </p:cNvPr>
              <p:cNvSpPr txBox="1"/>
              <p:nvPr/>
            </p:nvSpPr>
            <p:spPr>
              <a:xfrm>
                <a:off x="5364318" y="5989135"/>
                <a:ext cx="2592266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𝑁𝑜𝑡𝑒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b="0" i="1" smtClean="0">
                            <a:solidFill>
                              <a:srgbClr val="00DA6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 smtClean="0">
                            <a:solidFill>
                              <a:srgbClr val="00DA6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C2D92E-8DB9-48FF-9C32-9FAB5AF2F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318" y="5989135"/>
                <a:ext cx="2592266" cy="391902"/>
              </a:xfrm>
              <a:prstGeom prst="rect">
                <a:avLst/>
              </a:prstGeom>
              <a:blipFill rotWithShape="0">
                <a:blip r:embed="rId10"/>
                <a:stretch>
                  <a:fillRect l="-2118" t="-6154" b="-1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445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0E38-3892-8F61-C85E-B320154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34EB-4E0F-1CC9-5092-E0E7BD2C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These revealed preference distance measures,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, range between 0 and 1. </a:t>
                </a:r>
              </a:p>
              <a:p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is to zero, the choice data of more rational individual are more consistent with the group choice data. </a:t>
                </a: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&lt;0.5</m:t>
                    </m:r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), then </a:t>
                </a:r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the more rational individual </a:t>
                </a: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is said to make a larger revealed bargaining power on group decision-making than </a:t>
                </a: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less rational individual</a:t>
                </a:r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72% of the groups in the baseline data; 74% in the </a:t>
                </a:r>
                <a:r>
                  <a:rPr lang="en-GB" altLang="ko-KR" sz="1600" dirty="0" err="1">
                    <a:latin typeface="Times New Roman" pitchFamily="18" charset="0"/>
                    <a:cs typeface="Times New Roman" pitchFamily="18" charset="0"/>
                  </a:rPr>
                  <a:t>endline</a:t>
                </a:r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data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These indices are not defined when</a:t>
                </a:r>
              </a:p>
              <a:p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All three datasets have a common preference; or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The group data contains the most severe violation of GARP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About 50 pairs in each of baseline and endline samples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856E6-F450-23B4-B90D-EBC7DF443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19" t="-1213" r="-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51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1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7257115" cy="945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more rational individual (right; </a:t>
                </a:r>
                <a:r>
                  <a:rPr lang="en-GB" altLang="ko-KR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blue</a:t>
                </a: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group behave the same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.02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=0.9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8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7257115" cy="945900"/>
              </a:xfrm>
              <a:prstGeom prst="rect">
                <a:avLst/>
              </a:prstGeom>
              <a:blipFill>
                <a:blip r:embed="rId3"/>
                <a:stretch>
                  <a:fillRect l="-588" t="-3205" b="-4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F3578CE-5859-49EC-9094-0843F95B65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753" y="1512817"/>
            <a:ext cx="6384775" cy="383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9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2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0.98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blipFill>
                <a:blip r:embed="rId3"/>
                <a:stretch>
                  <a:fillRect l="-1602" t="-1538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D82CD00-F5D7-4254-B59C-96FFF7BCD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646" y="1516438"/>
            <a:ext cx="6372708" cy="382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1615-A3FE-F1E5-DC7A-BB27CF46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DBB8-0A46-90BE-A63C-66E4FD4A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3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721642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0.80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721642" cy="391902"/>
              </a:xfrm>
              <a:prstGeom prst="rect">
                <a:avLst/>
              </a:prstGeom>
              <a:blipFill>
                <a:blip r:embed="rId3"/>
                <a:stretch>
                  <a:fillRect l="-1570" t="-1538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1CB2E2A-B763-44F1-81BD-38083E44E0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08" y="1522298"/>
            <a:ext cx="6353183" cy="381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02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0.294 in the baseline and 0.263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>
                <a:blip r:embed="rId3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2A7D6AC-40BB-4778-8F94-C5AF575D45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937406"/>
            <a:ext cx="4176464" cy="2983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18A978-1196-4168-847C-D6348089CE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58" y="1937406"/>
            <a:ext cx="4190546" cy="29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69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Less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0.706 in the baseline and 0.737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>
                <a:blip r:embed="rId3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800BDE0-367C-4971-9926-B4191469D1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162" y="1988840"/>
            <a:ext cx="4176464" cy="2983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19444C-E8A2-4898-A7E7-BAD369FF05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84" y="1988840"/>
            <a:ext cx="4176464" cy="298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Times New Roman" panose="02020603050405020304" pitchFamily="18" charset="0"/>
                  <a:buChar char="–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61.4%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rationality-based distance effect becomes larger in the endline. 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blipFill>
                <a:blip r:embed="rId3"/>
                <a:stretch>
                  <a:fillRect l="-344" t="-1339" b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D270C2E-7608-4808-8E13-8F1D23FF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770" y="1268760"/>
            <a:ext cx="6426460" cy="405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Large-scale, panel experiments about individual and group decision-making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Random group formation leads to infer the effects of individual rationality on the quality of group decision-making and individual power on group decision-making.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Provide a nonparametric, revealed preference measure of individual (bargaining) power on group decisions. </a:t>
            </a:r>
          </a:p>
          <a:p>
            <a:pPr marL="457200" lvl="1" indent="0">
              <a:buNone/>
            </a:pPr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Findings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quality of group decisions increases with the CCEI of more rational one and decreases with the gap of CCEIs between two individuals.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more rational individual makes a larger revealed (bargaining) power on group decision-making.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4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14592</TotalTime>
  <Words>1522</Words>
  <Application>Microsoft Office PowerPoint</Application>
  <PresentationFormat>화면 슬라이드 쇼(4:3)</PresentationFormat>
  <Paragraphs>254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Times</vt:lpstr>
      <vt:lpstr>Times New Roman</vt:lpstr>
      <vt:lpstr>Wingdings</vt:lpstr>
      <vt:lpstr>Office Theme</vt:lpstr>
      <vt:lpstr>Rationality-Based  Preference Aggregation</vt:lpstr>
      <vt:lpstr>Introduction</vt:lpstr>
      <vt:lpstr>In This Paper</vt:lpstr>
      <vt:lpstr>Sampling</vt:lpstr>
      <vt:lpstr>Decision Problem</vt:lpstr>
      <vt:lpstr>Experimental Procedures</vt:lpstr>
      <vt:lpstr>Measuring Rationality</vt:lpstr>
      <vt:lpstr>Measuring Risk Preferences</vt:lpstr>
      <vt:lpstr>Balance Test</vt:lpstr>
      <vt:lpstr>Rationality Extension</vt:lpstr>
      <vt:lpstr>Rationality Extension</vt:lpstr>
      <vt:lpstr>Does Preference Aggregation Depend on Rationality?</vt:lpstr>
      <vt:lpstr>Does Preference Aggregation Depend on Rationality?</vt:lpstr>
      <vt:lpstr>Does Preference Aggregation Depend on Rationality?</vt:lpstr>
      <vt:lpstr>Revealed (Bargaining) Power</vt:lpstr>
      <vt:lpstr>Revealed Preference Distance</vt:lpstr>
      <vt:lpstr>Revealed Preference Distance</vt:lpstr>
      <vt:lpstr>Revealed Preference Distance: Path Dependence</vt:lpstr>
      <vt:lpstr>Revealed (Bargaining) Power</vt:lpstr>
      <vt:lpstr>Revealed (Bargaining) Power</vt:lpstr>
      <vt:lpstr>Selective Group 1</vt:lpstr>
      <vt:lpstr>Selective Group 2</vt:lpstr>
      <vt:lpstr>Selective Group 3</vt:lpstr>
      <vt:lpstr>Revealed Preference Distance: More Rational Individual</vt:lpstr>
      <vt:lpstr>Revealed Preference Distance: Less Rational Individual</vt:lpstr>
      <vt:lpstr>Revealed Preference Distance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Syngjoo Choi</cp:lastModifiedBy>
  <cp:revision>442</cp:revision>
  <cp:lastPrinted>2020-09-11T00:36:22Z</cp:lastPrinted>
  <dcterms:created xsi:type="dcterms:W3CDTF">2019-11-29T16:58:42Z</dcterms:created>
  <dcterms:modified xsi:type="dcterms:W3CDTF">2025-08-14T10:52:23Z</dcterms:modified>
</cp:coreProperties>
</file>