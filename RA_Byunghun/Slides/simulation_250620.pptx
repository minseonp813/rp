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663" r:id="rId2"/>
    <p:sldId id="686" r:id="rId3"/>
    <p:sldId id="661" r:id="rId4"/>
    <p:sldId id="687" r:id="rId5"/>
    <p:sldId id="688" r:id="rId6"/>
    <p:sldId id="689" r:id="rId7"/>
    <p:sldId id="690" r:id="rId8"/>
    <p:sldId id="691" r:id="rId9"/>
    <p:sldId id="692" r:id="rId10"/>
    <p:sldId id="693" r:id="rId11"/>
    <p:sldId id="696" r:id="rId12"/>
    <p:sldId id="697" r:id="rId13"/>
    <p:sldId id="698" r:id="rId14"/>
    <p:sldId id="699" r:id="rId15"/>
    <p:sldId id="700" r:id="rId16"/>
    <p:sldId id="701" r:id="rId17"/>
    <p:sldId id="694" r:id="rId18"/>
    <p:sldId id="702" r:id="rId19"/>
    <p:sldId id="703" r:id="rId20"/>
    <p:sldId id="704" r:id="rId21"/>
    <p:sldId id="705" r:id="rId22"/>
    <p:sldId id="706" r:id="rId23"/>
    <p:sldId id="707" r:id="rId24"/>
    <p:sldId id="695" r:id="rId25"/>
    <p:sldId id="708" r:id="rId26"/>
    <p:sldId id="709" r:id="rId27"/>
    <p:sldId id="710" r:id="rId28"/>
    <p:sldId id="711" r:id="rId29"/>
    <p:sldId id="712" r:id="rId30"/>
    <p:sldId id="713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yunghun Hahn" initials="BH" lastIdx="1" clrIdx="0">
    <p:extLst>
      <p:ext uri="{19B8F6BF-5375-455C-9EA6-DF929625EA0E}">
        <p15:presenceInfo xmlns:p15="http://schemas.microsoft.com/office/powerpoint/2012/main" userId="5df8f655dd3e21a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52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71" autoAdjust="0"/>
    <p:restoredTop sz="94745" autoAdjust="0"/>
  </p:normalViewPr>
  <p:slideViewPr>
    <p:cSldViewPr snapToGrid="0">
      <p:cViewPr>
        <p:scale>
          <a:sx n="75" d="100"/>
          <a:sy n="75" d="100"/>
        </p:scale>
        <p:origin x="624" y="273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8383EF-293D-4EA2-AC03-73DDBE98D37E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9443E-C4B0-4397-8D74-785696C78C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19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5781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3961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14290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53839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01960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8753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94779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27876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3046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20595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9131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34632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33475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0987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31670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6231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18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0050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19132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49122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4341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73411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66360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67722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6107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2479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4902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14813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5209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5097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5228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4485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49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771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4643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2356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5436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6182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0009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480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B42B02-ABEC-4C35-B4C6-ED132273360C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543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>
            <a:alpha val="9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66269" y="1661984"/>
            <a:ext cx="81750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>
                <a:solidFill>
                  <a:schemeClr val="bg1"/>
                </a:solidFill>
                <a:latin typeface="Cambria" panose="02040503050406030204" pitchFamily="18" charset="0"/>
              </a:rPr>
              <a:t>RP Simulation</a:t>
            </a:r>
            <a:endParaRPr lang="ko-KR" altLang="en-US" sz="54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66269" y="3099487"/>
            <a:ext cx="81750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Byunghun</a:t>
            </a:r>
            <a:r>
              <a:rPr lang="en-US" altLang="ko-KR" sz="2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Hahn</a:t>
            </a:r>
          </a:p>
          <a:p>
            <a:pPr algn="ctr"/>
            <a:endParaRPr lang="en-US" altLang="ko-KR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altLang="ko-KR" sz="2800" dirty="0">
                <a:solidFill>
                  <a:schemeClr val="bg1"/>
                </a:solidFill>
                <a:latin typeface="Cambria" panose="02040503050406030204" pitchFamily="18" charset="0"/>
              </a:rPr>
              <a:t>2025-06-20</a:t>
            </a:r>
            <a:endParaRPr lang="ko-KR" altLang="en-US" sz="28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537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Simulation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A86A44-A7B2-4246-9D44-DB1215FF5CBE}"/>
              </a:ext>
            </a:extLst>
          </p:cNvPr>
          <p:cNvSpPr txBox="1"/>
          <p:nvPr/>
        </p:nvSpPr>
        <p:spPr>
          <a:xfrm>
            <a:off x="484569" y="1466073"/>
            <a:ext cx="11348427" cy="5024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This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file includes:</a:t>
            </a:r>
          </a:p>
          <a:p>
            <a:pPr>
              <a:lnSpc>
                <a:spcPct val="150000"/>
              </a:lnSpc>
            </a:pPr>
            <a:endParaRPr lang="en-US" altLang="ko-KR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b="1" kern="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Frequency of </a:t>
            </a:r>
            <a:r>
              <a:rPr lang="en-US" altLang="ko-KR" b="1" kern="1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CCEI_hg</a:t>
            </a:r>
            <a:r>
              <a:rPr lang="en-US" altLang="ko-KR" b="1" kern="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vs </a:t>
            </a:r>
            <a:r>
              <a:rPr lang="en-US" altLang="ko-KR" b="1" kern="1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CCEI_lg</a:t>
            </a:r>
            <a:endParaRPr lang="en-US" altLang="ko-KR" b="1" kern="10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b="1" kern="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Distributions of </a:t>
            </a:r>
            <a:r>
              <a:rPr lang="en-US" altLang="ko-KR" b="1" kern="1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I_hg</a:t>
            </a:r>
            <a:r>
              <a:rPr lang="en-US" altLang="ko-KR" b="1" kern="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and </a:t>
            </a:r>
            <a:r>
              <a:rPr lang="en-US" altLang="ko-KR" b="1" kern="1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I_lg</a:t>
            </a:r>
            <a:endParaRPr lang="en-US" altLang="ko-KR" b="1" kern="10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b="1" kern="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Counts of </a:t>
            </a:r>
            <a:r>
              <a:rPr lang="en-US" altLang="ko-KR" b="1" kern="1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CCEI_hg</a:t>
            </a:r>
            <a:r>
              <a:rPr lang="en-US" altLang="ko-KR" b="1" kern="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&gt; </a:t>
            </a:r>
            <a:r>
              <a:rPr lang="en-US" altLang="ko-KR" b="1" kern="1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CCEI_lg</a:t>
            </a:r>
            <a:r>
              <a:rPr lang="en-US" altLang="ko-KR" b="1" kern="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and </a:t>
            </a:r>
            <a:r>
              <a:rPr lang="en-US" altLang="ko-KR" b="1" kern="1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I_hg</a:t>
            </a:r>
            <a:r>
              <a:rPr lang="en-US" altLang="ko-KR" b="1" kern="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&gt; </a:t>
            </a:r>
            <a:r>
              <a:rPr lang="en-US" altLang="ko-KR" b="1" kern="1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I_lg</a:t>
            </a:r>
            <a:endParaRPr lang="en-US" altLang="ko-KR" b="1" kern="10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b="1" kern="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distributions of CCEI_A (=High), CCEI_B (=Low), CCEI_G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of 4 Cases</a:t>
            </a:r>
            <a:b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b="1" kern="1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Case 1: (</a:t>
            </a:r>
            <a:r>
              <a:rPr lang="en-US" altLang="ko-KR" b="1" kern="100" dirty="0" err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rho_h</a:t>
            </a:r>
            <a:r>
              <a:rPr lang="en-US" altLang="ko-KR" b="1" kern="1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0.1, </a:t>
            </a:r>
            <a:r>
              <a:rPr lang="en-US" altLang="ko-KR" b="1" kern="100" dirty="0" err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rho_g</a:t>
            </a:r>
            <a:r>
              <a:rPr lang="en-US" altLang="ko-KR" b="1" kern="1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0.3, </a:t>
            </a:r>
            <a:r>
              <a:rPr lang="en-US" altLang="ko-KR" b="1" kern="100" dirty="0" err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rho_l</a:t>
            </a:r>
            <a:r>
              <a:rPr lang="en-US" altLang="ko-KR" b="1" kern="1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1) and (</a:t>
            </a:r>
            <a:r>
              <a:rPr lang="en-US" altLang="ko-KR" b="1" kern="100" dirty="0" err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gamma_h</a:t>
            </a:r>
            <a:r>
              <a:rPr lang="en-US" altLang="ko-KR" b="1" kern="1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1, </a:t>
            </a:r>
            <a:r>
              <a:rPr lang="en-US" altLang="ko-KR" b="1" kern="100" dirty="0" err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gamma_g</a:t>
            </a:r>
            <a:r>
              <a:rPr lang="en-US" altLang="ko-KR" b="1" kern="1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1, </a:t>
            </a:r>
            <a:r>
              <a:rPr lang="en-US" altLang="ko-KR" b="1" kern="100" dirty="0" err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gamma_l</a:t>
            </a:r>
            <a:r>
              <a:rPr lang="en-US" altLang="ko-KR" b="1" kern="1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0.5)</a:t>
            </a:r>
          </a:p>
          <a:p>
            <a:pPr>
              <a:lnSpc>
                <a:spcPct val="150000"/>
              </a:lnSpc>
            </a:pPr>
            <a:r>
              <a:rPr lang="en-US" altLang="ko-KR" b="1" kern="1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Case 2: (</a:t>
            </a:r>
            <a:r>
              <a:rPr lang="en-US" altLang="ko-KR" b="1" kern="100" dirty="0" err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rho_h</a:t>
            </a:r>
            <a:r>
              <a:rPr lang="en-US" altLang="ko-KR" b="1" kern="1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1, </a:t>
            </a:r>
            <a:r>
              <a:rPr lang="en-US" altLang="ko-KR" b="1" kern="100" dirty="0" err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rho_g</a:t>
            </a:r>
            <a:r>
              <a:rPr lang="en-US" altLang="ko-KR" b="1" kern="1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0.8, </a:t>
            </a:r>
            <a:r>
              <a:rPr lang="en-US" altLang="ko-KR" b="1" kern="100" dirty="0" err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rho_l</a:t>
            </a:r>
            <a:r>
              <a:rPr lang="en-US" altLang="ko-KR" b="1" kern="1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0.1) and (</a:t>
            </a:r>
            <a:r>
              <a:rPr lang="en-US" altLang="ko-KR" b="1" kern="100" dirty="0" err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gamma_h</a:t>
            </a:r>
            <a:r>
              <a:rPr lang="en-US" altLang="ko-KR" b="1" kern="1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1, </a:t>
            </a:r>
            <a:r>
              <a:rPr lang="en-US" altLang="ko-KR" b="1" kern="100" dirty="0" err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gamma_g</a:t>
            </a:r>
            <a:r>
              <a:rPr lang="en-US" altLang="ko-KR" b="1" kern="1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1, </a:t>
            </a:r>
            <a:r>
              <a:rPr lang="en-US" altLang="ko-KR" b="1" kern="100" dirty="0" err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gamma_l</a:t>
            </a:r>
            <a:r>
              <a:rPr lang="en-US" altLang="ko-KR" b="1" kern="1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0.5)</a:t>
            </a:r>
          </a:p>
          <a:p>
            <a:pPr>
              <a:lnSpc>
                <a:spcPct val="150000"/>
              </a:lnSpc>
            </a:pPr>
            <a:r>
              <a:rPr lang="en-US" altLang="ko-KR" b="1" kern="1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Case 3: (</a:t>
            </a:r>
            <a:r>
              <a:rPr lang="en-US" altLang="ko-KR" b="1" kern="100" dirty="0" err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rho_h</a:t>
            </a:r>
            <a:r>
              <a:rPr lang="en-US" altLang="ko-KR" b="1" kern="1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0.1, </a:t>
            </a:r>
            <a:r>
              <a:rPr lang="en-US" altLang="ko-KR" b="1" kern="100" dirty="0" err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rho_g</a:t>
            </a:r>
            <a:r>
              <a:rPr lang="en-US" altLang="ko-KR" b="1" kern="1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0.3, </a:t>
            </a:r>
            <a:r>
              <a:rPr lang="en-US" altLang="ko-KR" b="1" kern="100" dirty="0" err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rho_l</a:t>
            </a:r>
            <a:r>
              <a:rPr lang="en-US" altLang="ko-KR" b="1" kern="1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1) and (</a:t>
            </a:r>
            <a:r>
              <a:rPr lang="en-US" altLang="ko-KR" b="1" kern="100" dirty="0" err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gamma_h</a:t>
            </a:r>
            <a:r>
              <a:rPr lang="en-US" altLang="ko-KR" b="1" kern="1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0.5, </a:t>
            </a:r>
            <a:r>
              <a:rPr lang="en-US" altLang="ko-KR" b="1" kern="100" dirty="0" err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gamma_g</a:t>
            </a:r>
            <a:r>
              <a:rPr lang="en-US" altLang="ko-KR" b="1" kern="1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0.5, </a:t>
            </a:r>
            <a:r>
              <a:rPr lang="en-US" altLang="ko-KR" b="1" kern="100" dirty="0" err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gamma_l</a:t>
            </a:r>
            <a:r>
              <a:rPr lang="en-US" altLang="ko-KR" b="1" kern="1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0.25)</a:t>
            </a:r>
          </a:p>
          <a:p>
            <a:pPr>
              <a:lnSpc>
                <a:spcPct val="150000"/>
              </a:lnSpc>
            </a:pPr>
            <a:r>
              <a:rPr lang="en-US" altLang="ko-KR" b="1" kern="1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Case 4: (</a:t>
            </a:r>
            <a:r>
              <a:rPr lang="en-US" altLang="ko-KR" b="1" kern="100" dirty="0" err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rho_h</a:t>
            </a:r>
            <a:r>
              <a:rPr lang="en-US" altLang="ko-KR" b="1" kern="1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1, </a:t>
            </a:r>
            <a:r>
              <a:rPr lang="en-US" altLang="ko-KR" b="1" kern="100" dirty="0" err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rho_g</a:t>
            </a:r>
            <a:r>
              <a:rPr lang="en-US" altLang="ko-KR" b="1" kern="1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0.8, </a:t>
            </a:r>
            <a:r>
              <a:rPr lang="en-US" altLang="ko-KR" b="1" kern="100" dirty="0" err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rho_l</a:t>
            </a:r>
            <a:r>
              <a:rPr lang="en-US" altLang="ko-KR" b="1" kern="1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0.1) and (</a:t>
            </a:r>
            <a:r>
              <a:rPr lang="en-US" altLang="ko-KR" b="1" kern="100" dirty="0" err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gamma_h</a:t>
            </a:r>
            <a:r>
              <a:rPr lang="en-US" altLang="ko-KR" b="1" kern="1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0.5, </a:t>
            </a:r>
            <a:r>
              <a:rPr lang="en-US" altLang="ko-KR" b="1" kern="100" dirty="0" err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gamma_g</a:t>
            </a:r>
            <a:r>
              <a:rPr lang="en-US" altLang="ko-KR" b="1" kern="1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0.5, </a:t>
            </a:r>
            <a:r>
              <a:rPr lang="en-US" altLang="ko-KR" b="1" kern="100" dirty="0" err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gamma_l</a:t>
            </a:r>
            <a:r>
              <a:rPr lang="en-US" altLang="ko-KR" b="1" kern="1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0.25)</a:t>
            </a:r>
          </a:p>
        </p:txBody>
      </p:sp>
    </p:spTree>
    <p:extLst>
      <p:ext uri="{BB962C8B-B14F-4D97-AF65-F5344CB8AC3E}">
        <p14:creationId xmlns:p14="http://schemas.microsoft.com/office/powerpoint/2010/main" val="2224782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Case 1 </a:t>
            </a:r>
            <a:r>
              <a:rPr lang="sv-SE" altLang="ko-KR" sz="2000" dirty="0">
                <a:solidFill>
                  <a:schemeClr val="bg1"/>
                </a:solidFill>
                <a:latin typeface="Cambria" panose="02040503050406030204" pitchFamily="18" charset="0"/>
              </a:rPr>
              <a:t>(rho_h = 0.1, rho_g = 0.3, rho_l = 1) and (gamma_h = 1, gamma_g = 1, gamma_l = 0.5)</a:t>
            </a:r>
            <a:endParaRPr lang="en-US" altLang="ko-KR" sz="44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1EEF90-53ED-4D08-B075-2E7ECDF31AE5}"/>
              </a:ext>
            </a:extLst>
          </p:cNvPr>
          <p:cNvSpPr txBox="1"/>
          <p:nvPr/>
        </p:nvSpPr>
        <p:spPr>
          <a:xfrm>
            <a:off x="693944" y="3068519"/>
            <a:ext cx="6096000" cy="1700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Frequencies of </a:t>
            </a:r>
            <a:r>
              <a:rPr lang="en-US" altLang="ko-KR" b="1" dirty="0" err="1"/>
              <a:t>CCEI_hg</a:t>
            </a:r>
            <a:r>
              <a:rPr lang="en-US" altLang="ko-KR" b="1" dirty="0"/>
              <a:t> vs </a:t>
            </a:r>
            <a:r>
              <a:rPr lang="en-US" altLang="ko-KR" b="1" dirty="0" err="1"/>
              <a:t>CCEI_lg</a:t>
            </a:r>
            <a:r>
              <a:rPr lang="en-US" altLang="ko-KR" b="1" dirty="0"/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  </a:t>
            </a:r>
            <a:r>
              <a:rPr lang="en-US" altLang="ko-KR" b="1" dirty="0" err="1"/>
              <a:t>CCEI_hg</a:t>
            </a:r>
            <a:r>
              <a:rPr lang="en-US" altLang="ko-KR" b="1" dirty="0"/>
              <a:t> &gt; </a:t>
            </a:r>
            <a:r>
              <a:rPr lang="en-US" altLang="ko-KR" b="1" dirty="0" err="1"/>
              <a:t>CCEI_lg</a:t>
            </a:r>
            <a:r>
              <a:rPr lang="en-US" altLang="ko-KR" b="1" dirty="0"/>
              <a:t>: 99.239%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  </a:t>
            </a:r>
            <a:r>
              <a:rPr lang="en-US" altLang="ko-KR" b="1" dirty="0" err="1"/>
              <a:t>CCEI_hg</a:t>
            </a:r>
            <a:r>
              <a:rPr lang="en-US" altLang="ko-KR" b="1" dirty="0"/>
              <a:t> = </a:t>
            </a:r>
            <a:r>
              <a:rPr lang="en-US" altLang="ko-KR" b="1" dirty="0" err="1"/>
              <a:t>CCEI_lg</a:t>
            </a:r>
            <a:r>
              <a:rPr lang="en-US" altLang="ko-KR" b="1" dirty="0"/>
              <a:t>: 0.609%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  </a:t>
            </a:r>
            <a:r>
              <a:rPr lang="en-US" altLang="ko-KR" b="1" dirty="0" err="1"/>
              <a:t>CCEI_hg</a:t>
            </a:r>
            <a:r>
              <a:rPr lang="en-US" altLang="ko-KR" b="1" dirty="0"/>
              <a:t> &lt; </a:t>
            </a:r>
            <a:r>
              <a:rPr lang="en-US" altLang="ko-KR" b="1" dirty="0" err="1"/>
              <a:t>CCEI_lg</a:t>
            </a:r>
            <a:r>
              <a:rPr lang="en-US" altLang="ko-KR" b="1" dirty="0"/>
              <a:t>: 0.152%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3A3DC7-15AD-4DEA-9B49-5D03750B3D8A}"/>
              </a:ext>
            </a:extLst>
          </p:cNvPr>
          <p:cNvSpPr txBox="1"/>
          <p:nvPr/>
        </p:nvSpPr>
        <p:spPr>
          <a:xfrm>
            <a:off x="693944" y="1737023"/>
            <a:ext cx="11060252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kern="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Case 1: (</a:t>
            </a:r>
            <a:r>
              <a:rPr lang="en-US" altLang="ko-KR" b="1" kern="1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rho_h</a:t>
            </a:r>
            <a:r>
              <a:rPr lang="en-US" altLang="ko-KR" b="1" kern="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0.1, </a:t>
            </a:r>
            <a:r>
              <a:rPr lang="en-US" altLang="ko-KR" b="1" kern="1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rho_g</a:t>
            </a:r>
            <a:r>
              <a:rPr lang="en-US" altLang="ko-KR" b="1" kern="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0.3, </a:t>
            </a:r>
            <a:r>
              <a:rPr lang="en-US" altLang="ko-KR" b="1" kern="1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rho_l</a:t>
            </a:r>
            <a:r>
              <a:rPr lang="en-US" altLang="ko-KR" b="1" kern="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1) and (</a:t>
            </a:r>
            <a:r>
              <a:rPr lang="en-US" altLang="ko-KR" b="1" kern="1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gamma_h</a:t>
            </a:r>
            <a:r>
              <a:rPr lang="en-US" altLang="ko-KR" b="1" kern="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1, </a:t>
            </a:r>
            <a:r>
              <a:rPr lang="en-US" altLang="ko-KR" b="1" kern="1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gamma_g</a:t>
            </a:r>
            <a:r>
              <a:rPr lang="en-US" altLang="ko-KR" b="1" kern="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1, </a:t>
            </a:r>
            <a:r>
              <a:rPr lang="en-US" altLang="ko-KR" b="1" kern="1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gamma_l</a:t>
            </a:r>
            <a:r>
              <a:rPr lang="en-US" altLang="ko-KR" b="1" kern="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0.5)</a:t>
            </a:r>
          </a:p>
        </p:txBody>
      </p:sp>
    </p:spTree>
    <p:extLst>
      <p:ext uri="{BB962C8B-B14F-4D97-AF65-F5344CB8AC3E}">
        <p14:creationId xmlns:p14="http://schemas.microsoft.com/office/powerpoint/2010/main" val="377061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Case 1 </a:t>
            </a:r>
            <a:r>
              <a:rPr kumimoji="0" lang="sv-SE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(rho_h = 0.1, rho_g = 0.3, rho_l = 1) and (gamma_h = 1, gamma_g = 1, gamma_l = 0.5)</a:t>
            </a:r>
            <a:endParaRPr kumimoji="0" lang="en-US" altLang="ko-KR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5CF01F9-6138-4E23-910F-41FCB20BFE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7" y="1238250"/>
            <a:ext cx="942022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3417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Case 1 </a:t>
            </a:r>
            <a:r>
              <a:rPr kumimoji="0" lang="sv-SE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(rho_h = 0.1, rho_g = 0.3, rho_l = 1) and (gamma_h = 1, gamma_g = 1, gamma_l = 0.5)</a:t>
            </a:r>
            <a:endParaRPr kumimoji="0" lang="en-US" altLang="ko-KR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7A8ADB1-8B45-47E5-ADB8-81538CB7AD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8670" y="1237103"/>
            <a:ext cx="942022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9865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Case 1 </a:t>
            </a:r>
            <a:r>
              <a:rPr kumimoji="0" lang="sv-SE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(rho_h = 0.1, rho_g = 0.3, rho_l = 1) and (gamma_h = 1, gamma_g = 1, gamma_l = 0.5)</a:t>
            </a:r>
            <a:endParaRPr kumimoji="0" lang="en-US" altLang="ko-KR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+mn-cs"/>
            </a:endParaRPr>
          </a:p>
          <a:p>
            <a:endParaRPr lang="en-US" altLang="ko-KR" sz="44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02E1A34-ED25-4634-B91A-BE3DF37FD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7" y="1178849"/>
            <a:ext cx="942022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7651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Case 1 </a:t>
            </a:r>
            <a:r>
              <a:rPr kumimoji="0" lang="sv-SE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(rho_h = 0.1, rho_g = 0.3, rho_l = 1) and (gamma_h = 1, gamma_g = 1, gamma_l = 0.5)</a:t>
            </a:r>
            <a:endParaRPr kumimoji="0" lang="en-US" altLang="ko-KR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743B0CC-98E5-4ACF-AD4B-EE2759D43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7" y="1184391"/>
            <a:ext cx="942022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3809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Case 1 </a:t>
            </a:r>
            <a:r>
              <a:rPr kumimoji="0" lang="sv-SE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(rho_h = 0.1, rho_g = 0.3, rho_l = 1) and (gamma_h = 1, gamma_g = 1, gamma_l = 0.5)</a:t>
            </a:r>
            <a:endParaRPr kumimoji="0" lang="en-US" altLang="ko-KR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DF06E64-7593-4F43-8610-D09E8028B6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7" y="1237103"/>
            <a:ext cx="942022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4283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Case 1 </a:t>
            </a:r>
            <a:r>
              <a:rPr kumimoji="0" lang="sv-SE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(rho_h = 0.1, rho_g = 0.3, rho_l = 1) and (gamma_h = 1, gamma_g = 1, gamma_l = 0.5)</a:t>
            </a:r>
            <a:endParaRPr kumimoji="0" lang="en-US" altLang="ko-KR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CF92A371-39CE-4B1B-B385-1B65BE6C3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" y="1793298"/>
            <a:ext cx="11325225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2550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Case 2 </a:t>
            </a:r>
            <a:r>
              <a:rPr kumimoji="0" lang="sv-SE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(rho_h = 1, rho_g = 0.8, rho_l = 0.1) and (gamma_h = 1, gamma_g = 1, gamma_l = 0.5)</a:t>
            </a:r>
            <a:endParaRPr kumimoji="0" lang="en-US" altLang="ko-KR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0987E8-515A-49DD-9385-EE8528D96C15}"/>
              </a:ext>
            </a:extLst>
          </p:cNvPr>
          <p:cNvSpPr txBox="1"/>
          <p:nvPr/>
        </p:nvSpPr>
        <p:spPr>
          <a:xfrm>
            <a:off x="693944" y="1737023"/>
            <a:ext cx="11060252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kern="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Case 2: (</a:t>
            </a:r>
            <a:r>
              <a:rPr lang="en-US" altLang="ko-KR" b="1" kern="1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rho_h</a:t>
            </a:r>
            <a:r>
              <a:rPr lang="en-US" altLang="ko-KR" b="1" kern="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1, </a:t>
            </a:r>
            <a:r>
              <a:rPr lang="en-US" altLang="ko-KR" b="1" kern="1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rho_g</a:t>
            </a:r>
            <a:r>
              <a:rPr lang="en-US" altLang="ko-KR" b="1" kern="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0.8, </a:t>
            </a:r>
            <a:r>
              <a:rPr lang="en-US" altLang="ko-KR" b="1" kern="1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rho_l</a:t>
            </a:r>
            <a:r>
              <a:rPr lang="en-US" altLang="ko-KR" b="1" kern="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0.1) and (</a:t>
            </a:r>
            <a:r>
              <a:rPr lang="en-US" altLang="ko-KR" b="1" kern="1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gamma_h</a:t>
            </a:r>
            <a:r>
              <a:rPr lang="en-US" altLang="ko-KR" b="1" kern="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1, </a:t>
            </a:r>
            <a:r>
              <a:rPr lang="en-US" altLang="ko-KR" b="1" kern="1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gamma_g</a:t>
            </a:r>
            <a:r>
              <a:rPr lang="en-US" altLang="ko-KR" b="1" kern="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1, </a:t>
            </a:r>
            <a:r>
              <a:rPr lang="en-US" altLang="ko-KR" b="1" kern="1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gamma_l</a:t>
            </a:r>
            <a:r>
              <a:rPr lang="en-US" altLang="ko-KR" b="1" kern="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0.5)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64CFFA-644C-4B98-BBE9-0B62B73812B7}"/>
              </a:ext>
            </a:extLst>
          </p:cNvPr>
          <p:cNvSpPr txBox="1"/>
          <p:nvPr/>
        </p:nvSpPr>
        <p:spPr>
          <a:xfrm>
            <a:off x="693944" y="3089186"/>
            <a:ext cx="6096000" cy="1700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Frequencies of </a:t>
            </a:r>
            <a:r>
              <a:rPr lang="en-US" altLang="ko-KR" b="1" dirty="0" err="1"/>
              <a:t>CCEI_hg</a:t>
            </a:r>
            <a:r>
              <a:rPr lang="en-US" altLang="ko-KR" b="1" dirty="0"/>
              <a:t> vs </a:t>
            </a:r>
            <a:r>
              <a:rPr lang="en-US" altLang="ko-KR" b="1" dirty="0" err="1"/>
              <a:t>CCEI_lg</a:t>
            </a:r>
            <a:r>
              <a:rPr lang="en-US" altLang="ko-KR" b="1" dirty="0"/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  </a:t>
            </a:r>
            <a:r>
              <a:rPr lang="en-US" altLang="ko-KR" b="1" dirty="0" err="1"/>
              <a:t>CCEI_hg</a:t>
            </a:r>
            <a:r>
              <a:rPr lang="en-US" altLang="ko-KR" b="1" dirty="0"/>
              <a:t> &gt; </a:t>
            </a:r>
            <a:r>
              <a:rPr lang="en-US" altLang="ko-KR" b="1" dirty="0" err="1"/>
              <a:t>CCEI_lg</a:t>
            </a:r>
            <a:r>
              <a:rPr lang="en-US" altLang="ko-KR" b="1" dirty="0"/>
              <a:t>: 6.088%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  </a:t>
            </a:r>
            <a:r>
              <a:rPr lang="en-US" altLang="ko-KR" b="1" dirty="0" err="1"/>
              <a:t>CCEI_hg</a:t>
            </a:r>
            <a:r>
              <a:rPr lang="en-US" altLang="ko-KR" b="1" dirty="0"/>
              <a:t> = </a:t>
            </a:r>
            <a:r>
              <a:rPr lang="en-US" altLang="ko-KR" b="1" dirty="0" err="1"/>
              <a:t>CCEI_lg</a:t>
            </a:r>
            <a:r>
              <a:rPr lang="en-US" altLang="ko-KR" b="1" dirty="0"/>
              <a:t>: 93.912%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  </a:t>
            </a:r>
            <a:r>
              <a:rPr lang="en-US" altLang="ko-KR" b="1" dirty="0" err="1"/>
              <a:t>CCEI_hg</a:t>
            </a:r>
            <a:r>
              <a:rPr lang="en-US" altLang="ko-KR" b="1" dirty="0"/>
              <a:t> &lt; </a:t>
            </a:r>
            <a:r>
              <a:rPr lang="en-US" altLang="ko-KR" b="1" dirty="0" err="1"/>
              <a:t>CCEI_lg</a:t>
            </a:r>
            <a:r>
              <a:rPr lang="en-US" altLang="ko-KR" b="1" dirty="0"/>
              <a:t>: 0.000%</a:t>
            </a:r>
          </a:p>
        </p:txBody>
      </p:sp>
    </p:spTree>
    <p:extLst>
      <p:ext uri="{BB962C8B-B14F-4D97-AF65-F5344CB8AC3E}">
        <p14:creationId xmlns:p14="http://schemas.microsoft.com/office/powerpoint/2010/main" val="3106513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Case 2 </a:t>
            </a:r>
            <a:r>
              <a:rPr kumimoji="0" lang="sv-SE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(rho_h = 1, rho_g = 0.8, rho_l = 0.1) and (gamma_h = 1, gamma_g = 1, gamma_l = 0.5)</a:t>
            </a:r>
            <a:endParaRPr kumimoji="0" lang="en-US" altLang="ko-KR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005ADD88-5916-46BA-8E6F-016D9A074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7" y="1238250"/>
            <a:ext cx="942022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3467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Case 2 </a:t>
            </a:r>
            <a:r>
              <a:rPr kumimoji="0" lang="sv-SE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(rho_h = 1, rho_g = 0.8, rho_l = 0.1) and (gamma_h = 1, gamma_g = 1, gamma_l = 0.5)</a:t>
            </a:r>
            <a:endParaRPr kumimoji="0" lang="en-US" altLang="ko-KR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4578" name="Picture 2">
            <a:extLst>
              <a:ext uri="{FF2B5EF4-FFF2-40B4-BE49-F238E27FC236}">
                <a16:creationId xmlns:a16="http://schemas.microsoft.com/office/drawing/2014/main" id="{D913B3D2-78D6-4B95-A601-00D619455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7" y="1184275"/>
            <a:ext cx="942022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6367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Case 2 </a:t>
            </a:r>
            <a:r>
              <a:rPr kumimoji="0" lang="sv-SE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(rho_h = 1, rho_g = 0.8, rho_l = 0.1) and (gamma_h = 1, gamma_g = 1, gamma_l = 0.5)</a:t>
            </a:r>
            <a:endParaRPr kumimoji="0" lang="en-US" altLang="ko-KR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5602" name="Picture 2">
            <a:extLst>
              <a:ext uri="{FF2B5EF4-FFF2-40B4-BE49-F238E27FC236}">
                <a16:creationId xmlns:a16="http://schemas.microsoft.com/office/drawing/2014/main" id="{5A30D316-9CF0-413B-8F54-9C86D8B32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8670" y="1165225"/>
            <a:ext cx="942022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9329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Case 2 </a:t>
            </a:r>
            <a:r>
              <a:rPr kumimoji="0" lang="sv-SE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(rho_h = 1, rho_g = 0.8, rho_l = 0.1) and (gamma_h = 1, gamma_g = 1, gamma_l = 0.5)</a:t>
            </a:r>
            <a:endParaRPr kumimoji="0" lang="en-US" altLang="ko-KR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6626" name="Picture 2">
            <a:extLst>
              <a:ext uri="{FF2B5EF4-FFF2-40B4-BE49-F238E27FC236}">
                <a16:creationId xmlns:a16="http://schemas.microsoft.com/office/drawing/2014/main" id="{E705A4DF-C846-49B4-B57D-B87D8E06F1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8670" y="1165225"/>
            <a:ext cx="942022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1933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Case 2 </a:t>
            </a:r>
            <a:r>
              <a:rPr kumimoji="0" lang="sv-SE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(rho_h = 1, rho_g = 0.8, rho_l = 0.1) and (gamma_h = 1, gamma_g = 1, gamma_l = 0.5)</a:t>
            </a:r>
            <a:endParaRPr kumimoji="0" lang="en-US" altLang="ko-KR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7650" name="Picture 2">
            <a:extLst>
              <a:ext uri="{FF2B5EF4-FFF2-40B4-BE49-F238E27FC236}">
                <a16:creationId xmlns:a16="http://schemas.microsoft.com/office/drawing/2014/main" id="{376DD6F9-BA1F-46CA-B8DA-C6279F4F6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5412" y="1177925"/>
            <a:ext cx="940117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4672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Case 2 </a:t>
            </a:r>
            <a:r>
              <a:rPr kumimoji="0" lang="sv-SE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(rho_h = 1, rho_g = 0.8, rho_l = 0.1) and (gamma_h = 1, gamma_g = 1, gamma_l = 0.5)</a:t>
            </a:r>
            <a:endParaRPr kumimoji="0" lang="en-US" altLang="ko-KR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8674" name="Picture 2">
            <a:extLst>
              <a:ext uri="{FF2B5EF4-FFF2-40B4-BE49-F238E27FC236}">
                <a16:creationId xmlns:a16="http://schemas.microsoft.com/office/drawing/2014/main" id="{D9D6945A-78A2-41A6-8068-A5298C7B5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819" y="1692275"/>
            <a:ext cx="11325225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204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Case 3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rho_h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0.1,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rho_g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0.3,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rho_l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1) and (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gamma_h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0.5,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gamma_g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0.5,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gamma_l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0.25)</a:t>
            </a:r>
            <a:endParaRPr kumimoji="0" lang="en-US" altLang="ko-KR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967320-B31B-49A8-9913-964489055115}"/>
              </a:ext>
            </a:extLst>
          </p:cNvPr>
          <p:cNvSpPr txBox="1"/>
          <p:nvPr/>
        </p:nvSpPr>
        <p:spPr>
          <a:xfrm>
            <a:off x="693944" y="1737023"/>
            <a:ext cx="11263106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kern="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Case 3: (</a:t>
            </a:r>
            <a:r>
              <a:rPr lang="en-US" altLang="ko-KR" b="1" kern="1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rho_h</a:t>
            </a:r>
            <a:r>
              <a:rPr lang="en-US" altLang="ko-KR" b="1" kern="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0.1, </a:t>
            </a:r>
            <a:r>
              <a:rPr lang="en-US" altLang="ko-KR" b="1" kern="1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rho_g</a:t>
            </a:r>
            <a:r>
              <a:rPr lang="en-US" altLang="ko-KR" b="1" kern="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0.3, </a:t>
            </a:r>
            <a:r>
              <a:rPr lang="en-US" altLang="ko-KR" b="1" kern="1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rho_l</a:t>
            </a:r>
            <a:r>
              <a:rPr lang="en-US" altLang="ko-KR" b="1" kern="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1) and (</a:t>
            </a:r>
            <a:r>
              <a:rPr lang="en-US" altLang="ko-KR" b="1" kern="1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gamma_h</a:t>
            </a:r>
            <a:r>
              <a:rPr lang="en-US" altLang="ko-KR" b="1" kern="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0.5, </a:t>
            </a:r>
            <a:r>
              <a:rPr lang="en-US" altLang="ko-KR" b="1" kern="1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gamma_g</a:t>
            </a:r>
            <a:r>
              <a:rPr lang="en-US" altLang="ko-KR" b="1" kern="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0.5, </a:t>
            </a:r>
            <a:r>
              <a:rPr lang="en-US" altLang="ko-KR" b="1" kern="1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gamma_l</a:t>
            </a:r>
            <a:r>
              <a:rPr lang="en-US" altLang="ko-KR" b="1" kern="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0.25)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09FA04-AF7F-4012-9766-960D4DA5D214}"/>
              </a:ext>
            </a:extLst>
          </p:cNvPr>
          <p:cNvSpPr txBox="1"/>
          <p:nvPr/>
        </p:nvSpPr>
        <p:spPr>
          <a:xfrm>
            <a:off x="990600" y="3095536"/>
            <a:ext cx="6096000" cy="1700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Frequencies of </a:t>
            </a:r>
            <a:r>
              <a:rPr lang="en-US" altLang="ko-KR" b="1" dirty="0" err="1"/>
              <a:t>CCEI_hg</a:t>
            </a:r>
            <a:r>
              <a:rPr lang="en-US" altLang="ko-KR" b="1" dirty="0"/>
              <a:t> vs </a:t>
            </a:r>
            <a:r>
              <a:rPr lang="en-US" altLang="ko-KR" b="1" dirty="0" err="1"/>
              <a:t>CCEI_lg</a:t>
            </a:r>
            <a:r>
              <a:rPr lang="en-US" altLang="ko-KR" b="1" dirty="0"/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  </a:t>
            </a:r>
            <a:r>
              <a:rPr lang="en-US" altLang="ko-KR" b="1" dirty="0" err="1"/>
              <a:t>CCEI_hg</a:t>
            </a:r>
            <a:r>
              <a:rPr lang="en-US" altLang="ko-KR" b="1" dirty="0"/>
              <a:t> &gt; </a:t>
            </a:r>
            <a:r>
              <a:rPr lang="en-US" altLang="ko-KR" b="1" dirty="0" err="1"/>
              <a:t>CCEI_lg</a:t>
            </a:r>
            <a:r>
              <a:rPr lang="en-US" altLang="ko-KR" b="1" dirty="0"/>
              <a:t>: 99.543%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  </a:t>
            </a:r>
            <a:r>
              <a:rPr lang="en-US" altLang="ko-KR" b="1" dirty="0" err="1"/>
              <a:t>CCEI_hg</a:t>
            </a:r>
            <a:r>
              <a:rPr lang="en-US" altLang="ko-KR" b="1" dirty="0"/>
              <a:t> = </a:t>
            </a:r>
            <a:r>
              <a:rPr lang="en-US" altLang="ko-KR" b="1" dirty="0" err="1"/>
              <a:t>CCEI_lg</a:t>
            </a:r>
            <a:r>
              <a:rPr lang="en-US" altLang="ko-KR" b="1" dirty="0"/>
              <a:t>: 0.304%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  </a:t>
            </a:r>
            <a:r>
              <a:rPr lang="en-US" altLang="ko-KR" b="1" dirty="0" err="1"/>
              <a:t>CCEI_hg</a:t>
            </a:r>
            <a:r>
              <a:rPr lang="en-US" altLang="ko-KR" b="1" dirty="0"/>
              <a:t> &lt; </a:t>
            </a:r>
            <a:r>
              <a:rPr lang="en-US" altLang="ko-KR" b="1" dirty="0" err="1"/>
              <a:t>CCEI_lg</a:t>
            </a:r>
            <a:r>
              <a:rPr lang="en-US" altLang="ko-KR" b="1" dirty="0"/>
              <a:t>: 0.152%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841926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Case 3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rho_h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0.1,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rho_g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0.3,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rho_l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1) and (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gamma_h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0.5,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gamma_g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0.5,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gamma_l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0.25)</a:t>
            </a:r>
            <a:endParaRPr kumimoji="0" lang="en-US" altLang="ko-KR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A93A8C96-57B7-45C3-8408-009DBF8FB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8670" y="1158875"/>
            <a:ext cx="942022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08817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Case 3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rho_h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0.1,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rho_g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0.3,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rho_l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1) and (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gamma_h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0.5,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gamma_g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0.5,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gamma_l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0.25)</a:t>
            </a:r>
            <a:endParaRPr kumimoji="0" lang="en-US" altLang="ko-KR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128DB80C-48EF-433B-B77D-181189CAE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7" y="1152525"/>
            <a:ext cx="942022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50205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Case 3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rho_h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0.1,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rho_g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0.3,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rho_l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1) and (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gamma_h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0.5,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gamma_g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0.5,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gamma_l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0.25)</a:t>
            </a:r>
            <a:endParaRPr kumimoji="0" lang="en-US" altLang="ko-KR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B0EBB189-2C97-4A5E-B971-FADD18256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7" y="1237103"/>
            <a:ext cx="942022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0182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Case 3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rho_h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0.1,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rho_g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0.3,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rho_l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1) and (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gamma_h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0.5,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gamma_g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0.5,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gamma_l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0.25)</a:t>
            </a:r>
            <a:endParaRPr kumimoji="0" lang="en-US" altLang="ko-KR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F173679A-0EA0-44E1-841B-CFC33CA73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8670" y="1127125"/>
            <a:ext cx="942022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96209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Case 3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rho_h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0.1,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rho_g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0.3,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rho_l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1) and (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gamma_h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0.5,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gamma_g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0.5,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gamma_l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0.25)</a:t>
            </a:r>
            <a:endParaRPr kumimoji="0" lang="en-US" altLang="ko-KR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35BC119B-5B1D-4A05-ABD2-3CF6652F1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7" y="1237103"/>
            <a:ext cx="942022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61378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Case 3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rho_h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0.1,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rho_g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0.3,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rho_l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1) and (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gamma_h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0.5,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gamma_g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0.5,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gamma_l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0.25)</a:t>
            </a:r>
            <a:endParaRPr kumimoji="0" lang="en-US" altLang="ko-KR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333BBB12-023A-4C14-BF70-A5C020DC1D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" y="1838325"/>
            <a:ext cx="11325225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65198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Case 4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rho_h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1,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rho_g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0.8,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rho_l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0.1) and (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gamma_h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0.5,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gamma_g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0.5,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gamma_l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0.25)</a:t>
            </a:r>
            <a:endParaRPr kumimoji="0" lang="en-US" altLang="ko-KR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FE7161-10B5-457C-B82F-75DE6FAE3B54}"/>
              </a:ext>
            </a:extLst>
          </p:cNvPr>
          <p:cNvSpPr txBox="1"/>
          <p:nvPr/>
        </p:nvSpPr>
        <p:spPr>
          <a:xfrm>
            <a:off x="693944" y="1737023"/>
            <a:ext cx="11307556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kern="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Case 4: (</a:t>
            </a:r>
            <a:r>
              <a:rPr lang="en-US" altLang="ko-KR" b="1" kern="1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rho_h</a:t>
            </a:r>
            <a:r>
              <a:rPr lang="en-US" altLang="ko-KR" b="1" kern="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1, </a:t>
            </a:r>
            <a:r>
              <a:rPr lang="en-US" altLang="ko-KR" b="1" kern="1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rho_g</a:t>
            </a:r>
            <a:r>
              <a:rPr lang="en-US" altLang="ko-KR" b="1" kern="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0.8, </a:t>
            </a:r>
            <a:r>
              <a:rPr lang="en-US" altLang="ko-KR" b="1" kern="1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rho_l</a:t>
            </a:r>
            <a:r>
              <a:rPr lang="en-US" altLang="ko-KR" b="1" kern="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0.1) and (</a:t>
            </a:r>
            <a:r>
              <a:rPr lang="en-US" altLang="ko-KR" b="1" kern="1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gamma_h</a:t>
            </a:r>
            <a:r>
              <a:rPr lang="en-US" altLang="ko-KR" b="1" kern="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0.5, </a:t>
            </a:r>
            <a:r>
              <a:rPr lang="en-US" altLang="ko-KR" b="1" kern="1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gamma_g</a:t>
            </a:r>
            <a:r>
              <a:rPr lang="en-US" altLang="ko-KR" b="1" kern="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0.5, </a:t>
            </a:r>
            <a:r>
              <a:rPr lang="en-US" altLang="ko-KR" b="1" kern="1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gamma_l</a:t>
            </a:r>
            <a:r>
              <a:rPr lang="en-US" altLang="ko-KR" b="1" kern="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0.25)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015CAD-76AA-4F03-9B96-2FBD2298353E}"/>
              </a:ext>
            </a:extLst>
          </p:cNvPr>
          <p:cNvSpPr txBox="1"/>
          <p:nvPr/>
        </p:nvSpPr>
        <p:spPr>
          <a:xfrm>
            <a:off x="1358900" y="3241586"/>
            <a:ext cx="6096000" cy="1700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Frequencies of </a:t>
            </a:r>
            <a:r>
              <a:rPr lang="en-US" altLang="ko-KR" b="1" dirty="0" err="1"/>
              <a:t>CCEI_hg</a:t>
            </a:r>
            <a:r>
              <a:rPr lang="en-US" altLang="ko-KR" b="1" dirty="0"/>
              <a:t> vs </a:t>
            </a:r>
            <a:r>
              <a:rPr lang="en-US" altLang="ko-KR" b="1" dirty="0" err="1"/>
              <a:t>CCEI_lg</a:t>
            </a:r>
            <a:r>
              <a:rPr lang="en-US" altLang="ko-KR" b="1" dirty="0"/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  </a:t>
            </a:r>
            <a:r>
              <a:rPr lang="en-US" altLang="ko-KR" b="1" dirty="0" err="1"/>
              <a:t>CCEI_hg</a:t>
            </a:r>
            <a:r>
              <a:rPr lang="en-US" altLang="ko-KR" b="1" dirty="0"/>
              <a:t> &gt; </a:t>
            </a:r>
            <a:r>
              <a:rPr lang="en-US" altLang="ko-KR" b="1" dirty="0" err="1"/>
              <a:t>CCEI_lg</a:t>
            </a:r>
            <a:r>
              <a:rPr lang="en-US" altLang="ko-KR" b="1" dirty="0"/>
              <a:t>: 2.588%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  </a:t>
            </a:r>
            <a:r>
              <a:rPr lang="en-US" altLang="ko-KR" b="1" dirty="0" err="1"/>
              <a:t>CCEI_hg</a:t>
            </a:r>
            <a:r>
              <a:rPr lang="en-US" altLang="ko-KR" b="1" dirty="0"/>
              <a:t> = </a:t>
            </a:r>
            <a:r>
              <a:rPr lang="en-US" altLang="ko-KR" b="1" dirty="0" err="1"/>
              <a:t>CCEI_lg</a:t>
            </a:r>
            <a:r>
              <a:rPr lang="en-US" altLang="ko-KR" b="1" dirty="0"/>
              <a:t>: 97.412%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  </a:t>
            </a:r>
            <a:r>
              <a:rPr lang="en-US" altLang="ko-KR" b="1" dirty="0" err="1"/>
              <a:t>CCEI_hg</a:t>
            </a:r>
            <a:r>
              <a:rPr lang="en-US" altLang="ko-KR" b="1" dirty="0"/>
              <a:t> &lt; </a:t>
            </a:r>
            <a:r>
              <a:rPr lang="en-US" altLang="ko-KR" b="1" dirty="0" err="1"/>
              <a:t>CCEI_lg</a:t>
            </a:r>
            <a:r>
              <a:rPr lang="en-US" altLang="ko-KR" b="1" dirty="0"/>
              <a:t>: 0.000%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6451210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Case 4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rho_h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1,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rho_g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0.8,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rho_l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0.1) and (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gamma_h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0.5,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gamma_g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0.5,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gamma_l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0.25)</a:t>
            </a:r>
            <a:endParaRPr kumimoji="0" lang="en-US" altLang="ko-KR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E36D822A-EDDD-4187-8981-08A897A1A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7" y="1165225"/>
            <a:ext cx="942022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5912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Case 4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rho_h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1,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rho_g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0.8,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rho_l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0.1) and (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gamma_h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0.5,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gamma_g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0.5,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gamma_l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0.25)</a:t>
            </a:r>
            <a:endParaRPr kumimoji="0" lang="en-US" altLang="ko-KR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05D58F58-805C-4E97-9D0A-E4484568D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8670" y="1237103"/>
            <a:ext cx="942022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5048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Case 4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rho_h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1,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rho_g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0.8,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rho_l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0.1) and (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gamma_h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0.5,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gamma_g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0.5,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gamma_l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0.25)</a:t>
            </a:r>
            <a:endParaRPr kumimoji="0" lang="en-US" altLang="ko-KR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40EBDE91-7069-4FF4-841F-AF6125C1F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7" y="1238250"/>
            <a:ext cx="942022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29762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Case 4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rho_h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1,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rho_g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0.8,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rho_l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0.1) and (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gamma_h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0.5,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gamma_g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0.5,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gamma_l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0.25)</a:t>
            </a:r>
            <a:endParaRPr kumimoji="0" lang="en-US" altLang="ko-KR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B85D826E-4DB4-4476-A676-EEE6560F8E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7" y="1190625"/>
            <a:ext cx="942022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29524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Case 4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rho_h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1,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rho_g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0.8,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rho_l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0.1) and (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gamma_h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0.5,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gamma_g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0.5,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gamma_l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0.25)</a:t>
            </a:r>
            <a:endParaRPr kumimoji="0" lang="en-US" altLang="ko-KR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610224D0-98CB-4DFE-A88E-7200247CD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650" y="1237103"/>
            <a:ext cx="9410700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82694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Case 4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rho_h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1,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rho_g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0.8,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rho_l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0.1) and (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gamma_h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0.5,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gamma_g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0.5,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gamma_l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맑은 고딕" panose="020B0503020000020004" pitchFamily="50" charset="-127"/>
                <a:cs typeface="+mn-cs"/>
              </a:rPr>
              <a:t> = 0.25)</a:t>
            </a:r>
            <a:endParaRPr kumimoji="0" lang="en-US" altLang="ko-KR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7C6F18AB-86FD-4573-B42B-0C1B0CA0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" y="1762125"/>
            <a:ext cx="11325225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5626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16220</TotalTime>
  <Words>1752</Words>
  <Application>Microsoft Office PowerPoint</Application>
  <PresentationFormat>Widescreen</PresentationFormat>
  <Paragraphs>93</Paragraphs>
  <Slides>30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맑은 고딕</vt:lpstr>
      <vt:lpstr>Arial</vt:lpstr>
      <vt:lpstr>Cambria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한병헌</dc:creator>
  <cp:lastModifiedBy>Byunghun Hahn</cp:lastModifiedBy>
  <cp:revision>1791</cp:revision>
  <dcterms:created xsi:type="dcterms:W3CDTF">2024-09-27T06:19:06Z</dcterms:created>
  <dcterms:modified xsi:type="dcterms:W3CDTF">2025-06-20T15:45:46Z</dcterms:modified>
</cp:coreProperties>
</file>