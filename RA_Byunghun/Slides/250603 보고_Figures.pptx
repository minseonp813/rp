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654" r:id="rId3"/>
    <p:sldId id="656" r:id="rId4"/>
    <p:sldId id="661" r:id="rId5"/>
    <p:sldId id="658" r:id="rId6"/>
    <p:sldId id="662" r:id="rId7"/>
    <p:sldId id="666" r:id="rId8"/>
    <p:sldId id="668" r:id="rId9"/>
    <p:sldId id="667" r:id="rId10"/>
    <p:sldId id="669" r:id="rId11"/>
    <p:sldId id="663" r:id="rId12"/>
    <p:sldId id="664" r:id="rId13"/>
    <p:sldId id="665" r:id="rId14"/>
    <p:sldId id="670" r:id="rId15"/>
    <p:sldId id="674" r:id="rId16"/>
    <p:sldId id="671" r:id="rId17"/>
    <p:sldId id="675" r:id="rId18"/>
    <p:sldId id="673" r:id="rId19"/>
    <p:sldId id="67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yunghun Hahn" initials="BH" lastIdx="1" clrIdx="0">
    <p:extLst>
      <p:ext uri="{19B8F6BF-5375-455C-9EA6-DF929625EA0E}">
        <p15:presenceInfo xmlns:p15="http://schemas.microsoft.com/office/powerpoint/2012/main" userId="5df8f655dd3e21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5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7" autoAdjust="0"/>
    <p:restoredTop sz="94745" autoAdjust="0"/>
  </p:normalViewPr>
  <p:slideViewPr>
    <p:cSldViewPr snapToGrid="0">
      <p:cViewPr varScale="1">
        <p:scale>
          <a:sx n="86" d="100"/>
          <a:sy n="86" d="100"/>
        </p:scale>
        <p:origin x="195" y="3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383EF-293D-4EA2-AC03-73DDBE98D37E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9443E-C4B0-4397-8D74-785696C78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989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575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178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531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835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045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21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206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595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079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853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585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075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113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768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683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601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806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09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22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48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4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7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64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35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43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1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00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42B02-ABEC-4C35-B4C6-ED132273360C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4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66269" y="1661984"/>
            <a:ext cx="8175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bg1"/>
                </a:solidFill>
                <a:latin typeface="Cambria" panose="02040503050406030204" pitchFamily="18" charset="0"/>
              </a:rPr>
              <a:t>RP </a:t>
            </a:r>
            <a:r>
              <a:rPr lang="ko-KR" altLang="en-US" sz="5400" dirty="0">
                <a:solidFill>
                  <a:schemeClr val="bg1"/>
                </a:solidFill>
                <a:latin typeface="Cambria" panose="02040503050406030204" pitchFamily="18" charset="0"/>
              </a:rPr>
              <a:t>진행상황 보고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6269" y="3099487"/>
            <a:ext cx="81750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Byunghun</a:t>
            </a:r>
            <a:r>
              <a:rPr lang="en-US" altLang="ko-KR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Hahn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altLang="ko-KR" sz="2800">
                <a:solidFill>
                  <a:schemeClr val="bg1"/>
                </a:solidFill>
                <a:latin typeface="Cambria" panose="02040503050406030204" pitchFamily="18" charset="0"/>
              </a:rPr>
              <a:t>2025-06-03</a:t>
            </a:r>
            <a:endParaRPr lang="ko-KR" altLang="en-US" sz="28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121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0898198-C661-429F-9553-F6F1BADD1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23051"/>
              </p:ext>
            </p:extLst>
          </p:nvPr>
        </p:nvGraphicFramePr>
        <p:xfrm>
          <a:off x="2816143" y="2793059"/>
          <a:ext cx="6685280" cy="2023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1320">
                  <a:extLst>
                    <a:ext uri="{9D8B030D-6E8A-4147-A177-3AD203B41FA5}">
                      <a16:colId xmlns:a16="http://schemas.microsoft.com/office/drawing/2014/main" val="409783142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3407673712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1462846462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737820431"/>
                    </a:ext>
                  </a:extLst>
                </a:gridCol>
              </a:tblGrid>
              <a:tr h="50588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Endline</a:t>
                      </a:r>
                      <a:r>
                        <a:rPr lang="en-US" altLang="ko-KR" dirty="0"/>
                        <a:t> Low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Endline</a:t>
                      </a:r>
                      <a:r>
                        <a:rPr lang="en-US" altLang="ko-KR" dirty="0"/>
                        <a:t> High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404862"/>
                  </a:ext>
                </a:extLst>
              </a:tr>
              <a:tr h="50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Baseline Low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461 (35%)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196 (15%)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657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9000"/>
                  </a:ext>
                </a:extLst>
              </a:tr>
              <a:tr h="50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Baseline High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196 (15%)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461 (35%)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657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187878"/>
                  </a:ext>
                </a:extLst>
              </a:tr>
              <a:tr h="5058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657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657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1314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3182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643E477-4F70-41C1-B19B-86B0D650CA47}"/>
              </a:ext>
            </a:extLst>
          </p:cNvPr>
          <p:cNvSpPr txBox="1"/>
          <p:nvPr/>
        </p:nvSpPr>
        <p:spPr>
          <a:xfrm>
            <a:off x="410592" y="1448366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 err="1">
                <a:solidFill>
                  <a:srgbClr val="002060"/>
                </a:solidFill>
              </a:rPr>
              <a:t>high_baseline</a:t>
            </a:r>
            <a:r>
              <a:rPr lang="en-US" altLang="ko-KR" b="1" dirty="0">
                <a:solidFill>
                  <a:srgbClr val="002060"/>
                </a:solidFill>
              </a:rPr>
              <a:t>, </a:t>
            </a:r>
            <a:r>
              <a:rPr lang="en-US" altLang="ko-KR" b="1" dirty="0" err="1">
                <a:solidFill>
                  <a:srgbClr val="002060"/>
                </a:solidFill>
              </a:rPr>
              <a:t>high_endline</a:t>
            </a:r>
            <a:r>
              <a:rPr lang="en-US" altLang="ko-KR" b="1" dirty="0">
                <a:solidFill>
                  <a:srgbClr val="002060"/>
                </a:solidFill>
              </a:rPr>
              <a:t>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9564A6-DED9-4917-9EF6-7F58B60464AC}"/>
              </a:ext>
            </a:extLst>
          </p:cNvPr>
          <p:cNvSpPr txBox="1"/>
          <p:nvPr/>
        </p:nvSpPr>
        <p:spPr>
          <a:xfrm>
            <a:off x="2776557" y="547484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002060"/>
                </a:solidFill>
              </a:rPr>
              <a:t>657</a:t>
            </a:r>
            <a:r>
              <a:rPr lang="ko-KR" altLang="en-US" b="1" dirty="0">
                <a:solidFill>
                  <a:srgbClr val="002060"/>
                </a:solidFill>
              </a:rPr>
              <a:t>쌍이므로 개인 데이터는 총 </a:t>
            </a:r>
            <a:r>
              <a:rPr lang="en-US" altLang="ko-KR" b="1" dirty="0">
                <a:solidFill>
                  <a:srgbClr val="002060"/>
                </a:solidFill>
              </a:rPr>
              <a:t>1314</a:t>
            </a:r>
            <a:r>
              <a:rPr lang="ko-KR" altLang="en-US" b="1" dirty="0">
                <a:solidFill>
                  <a:srgbClr val="002060"/>
                </a:solidFill>
              </a:rPr>
              <a:t>개입니다</a:t>
            </a:r>
            <a:r>
              <a:rPr lang="en-US" altLang="ko-KR" b="1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287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CDDD23-9E3E-4D61-8D11-E303581E7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532652"/>
              </p:ext>
            </p:extLst>
          </p:nvPr>
        </p:nvGraphicFramePr>
        <p:xfrm>
          <a:off x="2503042" y="2121926"/>
          <a:ext cx="7185916" cy="3389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6479">
                  <a:extLst>
                    <a:ext uri="{9D8B030D-6E8A-4147-A177-3AD203B41FA5}">
                      <a16:colId xmlns:a16="http://schemas.microsoft.com/office/drawing/2014/main" val="409783142"/>
                    </a:ext>
                  </a:extLst>
                </a:gridCol>
                <a:gridCol w="1796479">
                  <a:extLst>
                    <a:ext uri="{9D8B030D-6E8A-4147-A177-3AD203B41FA5}">
                      <a16:colId xmlns:a16="http://schemas.microsoft.com/office/drawing/2014/main" val="3407673712"/>
                    </a:ext>
                  </a:extLst>
                </a:gridCol>
                <a:gridCol w="1796479">
                  <a:extLst>
                    <a:ext uri="{9D8B030D-6E8A-4147-A177-3AD203B41FA5}">
                      <a16:colId xmlns:a16="http://schemas.microsoft.com/office/drawing/2014/main" val="1462846462"/>
                    </a:ext>
                  </a:extLst>
                </a:gridCol>
                <a:gridCol w="1796479">
                  <a:extLst>
                    <a:ext uri="{9D8B030D-6E8A-4147-A177-3AD203B41FA5}">
                      <a16:colId xmlns:a16="http://schemas.microsoft.com/office/drawing/2014/main" val="737820431"/>
                    </a:ext>
                  </a:extLst>
                </a:gridCol>
              </a:tblGrid>
              <a:tr h="98283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Endline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I_h1g &lt; I_l1g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Endline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I_h1g &gt;= I_l1g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404862"/>
                  </a:ext>
                </a:extLst>
              </a:tr>
              <a:tr h="7951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Baseline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I_h0g &lt; I_l0g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353 (63%)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86 (15%)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439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9000"/>
                  </a:ext>
                </a:extLst>
              </a:tr>
              <a:tr h="982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Baseline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I_h0g &gt;= I_l0g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99 (18%)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24 (4%)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123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187878"/>
                  </a:ext>
                </a:extLst>
              </a:tr>
              <a:tr h="6284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452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110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562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3182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CBA52D9-AD33-496F-823A-39E17F17D5DC}"/>
              </a:ext>
            </a:extLst>
          </p:cNvPr>
          <p:cNvSpPr txBox="1"/>
          <p:nvPr/>
        </p:nvSpPr>
        <p:spPr>
          <a:xfrm>
            <a:off x="1305017" y="5906884"/>
            <a:ext cx="10750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solidFill>
                  <a:srgbClr val="002060"/>
                </a:solidFill>
              </a:rPr>
              <a:t>CCEI_g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= </a:t>
            </a:r>
            <a:r>
              <a:rPr lang="en-US" altLang="ko-KR" b="1" dirty="0" err="1">
                <a:solidFill>
                  <a:srgbClr val="002060"/>
                </a:solidFill>
              </a:rPr>
              <a:t>CCEI_hlg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인 </a:t>
            </a:r>
            <a:r>
              <a:rPr lang="en-US" altLang="ko-KR" b="1" dirty="0">
                <a:solidFill>
                  <a:srgbClr val="002060"/>
                </a:solidFill>
              </a:rPr>
              <a:t>95</a:t>
            </a:r>
            <a:r>
              <a:rPr lang="ko-KR" altLang="en-US" b="1" dirty="0">
                <a:solidFill>
                  <a:srgbClr val="002060"/>
                </a:solidFill>
              </a:rPr>
              <a:t>쌍은 모두 빠졌습니다</a:t>
            </a:r>
            <a:r>
              <a:rPr lang="en-US" altLang="ko-KR" b="1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002060"/>
                </a:solidFill>
              </a:rPr>
              <a:t>I_h0, </a:t>
            </a:r>
            <a:r>
              <a:rPr lang="en-US" altLang="ko-KR" b="1" dirty="0" err="1">
                <a:solidFill>
                  <a:srgbClr val="002060"/>
                </a:solidFill>
              </a:rPr>
              <a:t>g_baseline</a:t>
            </a:r>
            <a:r>
              <a:rPr lang="en-US" altLang="ko-KR" b="1" dirty="0">
                <a:solidFill>
                  <a:srgbClr val="002060"/>
                </a:solidFill>
              </a:rPr>
              <a:t> &lt; I_ l0, </a:t>
            </a:r>
            <a:r>
              <a:rPr lang="en-US" altLang="ko-KR" b="1" dirty="0" err="1">
                <a:solidFill>
                  <a:srgbClr val="002060"/>
                </a:solidFill>
              </a:rPr>
              <a:t>g_baseline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여부와 </a:t>
            </a:r>
            <a:r>
              <a:rPr lang="en-US" altLang="ko-KR" b="1" dirty="0">
                <a:solidFill>
                  <a:srgbClr val="002060"/>
                </a:solidFill>
              </a:rPr>
              <a:t>I_h1, </a:t>
            </a:r>
            <a:r>
              <a:rPr lang="en-US" altLang="ko-KR" b="1" dirty="0" err="1">
                <a:solidFill>
                  <a:srgbClr val="002060"/>
                </a:solidFill>
              </a:rPr>
              <a:t>g_endline</a:t>
            </a:r>
            <a:r>
              <a:rPr lang="en-US" altLang="ko-KR" b="1" dirty="0">
                <a:solidFill>
                  <a:srgbClr val="002060"/>
                </a:solidFill>
              </a:rPr>
              <a:t> &lt; I_ l1, </a:t>
            </a:r>
            <a:r>
              <a:rPr lang="en-US" altLang="ko-KR" b="1" dirty="0" err="1">
                <a:solidFill>
                  <a:srgbClr val="002060"/>
                </a:solidFill>
              </a:rPr>
              <a:t>g_endline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여부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변수를 이용</a:t>
            </a:r>
            <a:endParaRPr lang="en-US" altLang="ko-KR" b="1" dirty="0">
              <a:solidFill>
                <a:srgbClr val="002060"/>
              </a:solidFill>
            </a:endParaRPr>
          </a:p>
        </p:txBody>
      </p:sp>
      <p:sp>
        <p:nvSpPr>
          <p:cNvPr id="9" name="직사각형 6">
            <a:extLst>
              <a:ext uri="{FF2B5EF4-FFF2-40B4-BE49-F238E27FC236}">
                <a16:creationId xmlns:a16="http://schemas.microsoft.com/office/drawing/2014/main" id="{0E968F9D-4019-4AD6-98DB-8B10222FE0F0}"/>
              </a:ext>
            </a:extLst>
          </p:cNvPr>
          <p:cNvSpPr/>
          <p:nvPr/>
        </p:nvSpPr>
        <p:spPr>
          <a:xfrm>
            <a:off x="367585" y="1346800"/>
            <a:ext cx="42399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2060"/>
                </a:solidFill>
              </a:rPr>
              <a:t>2.  </a:t>
            </a:r>
            <a:r>
              <a:rPr lang="en-US" altLang="ko-KR" b="1" dirty="0" err="1">
                <a:solidFill>
                  <a:srgbClr val="002060"/>
                </a:solidFill>
              </a:rPr>
              <a:t>I_hg</a:t>
            </a:r>
            <a:r>
              <a:rPr lang="en-US" altLang="ko-KR" b="1" dirty="0">
                <a:solidFill>
                  <a:srgbClr val="002060"/>
                </a:solidFill>
              </a:rPr>
              <a:t> &gt;= </a:t>
            </a:r>
            <a:r>
              <a:rPr lang="en-US" altLang="ko-KR" b="1" dirty="0" err="1">
                <a:solidFill>
                  <a:srgbClr val="002060"/>
                </a:solidFill>
              </a:rPr>
              <a:t>I_lg</a:t>
            </a:r>
            <a:r>
              <a:rPr lang="en-US" altLang="ko-KR" b="1" dirty="0">
                <a:solidFill>
                  <a:srgbClr val="002060"/>
                </a:solidFill>
              </a:rPr>
              <a:t>,   </a:t>
            </a:r>
            <a:r>
              <a:rPr lang="en-US" altLang="ko-KR" b="1" dirty="0" err="1">
                <a:solidFill>
                  <a:srgbClr val="002060"/>
                </a:solidFill>
              </a:rPr>
              <a:t>I_hg</a:t>
            </a:r>
            <a:r>
              <a:rPr lang="en-US" altLang="ko-KR" b="1" dirty="0">
                <a:solidFill>
                  <a:srgbClr val="002060"/>
                </a:solidFill>
              </a:rPr>
              <a:t> &lt; </a:t>
            </a:r>
            <a:r>
              <a:rPr lang="en-US" altLang="ko-KR" b="1" dirty="0" err="1">
                <a:solidFill>
                  <a:srgbClr val="002060"/>
                </a:solidFill>
              </a:rPr>
              <a:t>I_lg</a:t>
            </a:r>
            <a:r>
              <a:rPr lang="en-US" altLang="ko-KR" b="1" dirty="0">
                <a:solidFill>
                  <a:srgbClr val="002060"/>
                </a:solidFill>
              </a:rPr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19220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A52D9-AD33-496F-823A-39E17F17D5DC}"/>
              </a:ext>
            </a:extLst>
          </p:cNvPr>
          <p:cNvSpPr txBox="1"/>
          <p:nvPr/>
        </p:nvSpPr>
        <p:spPr>
          <a:xfrm>
            <a:off x="2585621" y="5531696"/>
            <a:ext cx="75082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2060"/>
                </a:solidFill>
              </a:rPr>
              <a:t>두 값이 같은 경우를 따로 빼서 </a:t>
            </a:r>
            <a:r>
              <a:rPr lang="en-US" altLang="ko-KR" b="1" dirty="0">
                <a:solidFill>
                  <a:srgbClr val="002060"/>
                </a:solidFill>
              </a:rPr>
              <a:t>3 by 3 </a:t>
            </a:r>
            <a:r>
              <a:rPr lang="ko-KR" altLang="en-US" b="1" dirty="0">
                <a:solidFill>
                  <a:srgbClr val="002060"/>
                </a:solidFill>
              </a:rPr>
              <a:t>으로 그린 그림입니다</a:t>
            </a:r>
            <a:r>
              <a:rPr lang="en-US" altLang="ko-KR" b="1" dirty="0">
                <a:solidFill>
                  <a:srgbClr val="002060"/>
                </a:solidFill>
              </a:rPr>
              <a:t>.</a:t>
            </a:r>
            <a:endParaRPr lang="en-US" altLang="ko-KR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0125E7FE-F3C9-4601-9E45-648FA6559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293262"/>
              </p:ext>
            </p:extLst>
          </p:nvPr>
        </p:nvGraphicFramePr>
        <p:xfrm>
          <a:off x="2441553" y="1545109"/>
          <a:ext cx="7796425" cy="3830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9285">
                  <a:extLst>
                    <a:ext uri="{9D8B030D-6E8A-4147-A177-3AD203B41FA5}">
                      <a16:colId xmlns:a16="http://schemas.microsoft.com/office/drawing/2014/main" val="214898445"/>
                    </a:ext>
                  </a:extLst>
                </a:gridCol>
                <a:gridCol w="1559285">
                  <a:extLst>
                    <a:ext uri="{9D8B030D-6E8A-4147-A177-3AD203B41FA5}">
                      <a16:colId xmlns:a16="http://schemas.microsoft.com/office/drawing/2014/main" val="3075657859"/>
                    </a:ext>
                  </a:extLst>
                </a:gridCol>
                <a:gridCol w="1559285">
                  <a:extLst>
                    <a:ext uri="{9D8B030D-6E8A-4147-A177-3AD203B41FA5}">
                      <a16:colId xmlns:a16="http://schemas.microsoft.com/office/drawing/2014/main" val="3701393992"/>
                    </a:ext>
                  </a:extLst>
                </a:gridCol>
                <a:gridCol w="1559285">
                  <a:extLst>
                    <a:ext uri="{9D8B030D-6E8A-4147-A177-3AD203B41FA5}">
                      <a16:colId xmlns:a16="http://schemas.microsoft.com/office/drawing/2014/main" val="2069708490"/>
                    </a:ext>
                  </a:extLst>
                </a:gridCol>
                <a:gridCol w="1559285">
                  <a:extLst>
                    <a:ext uri="{9D8B030D-6E8A-4147-A177-3AD203B41FA5}">
                      <a16:colId xmlns:a16="http://schemas.microsoft.com/office/drawing/2014/main" val="3344913100"/>
                    </a:ext>
                  </a:extLst>
                </a:gridCol>
              </a:tblGrid>
              <a:tr h="836513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/>
                        <a:t>Endline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I_h1g &lt; I_l1g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Endline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I_h1g = I_l1g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Endline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I_h1g &gt; I_l1g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55021"/>
                  </a:ext>
                </a:extLst>
              </a:tr>
              <a:tr h="8365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Baseline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I_h0g &lt; I_l0g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439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067155"/>
                  </a:ext>
                </a:extLst>
              </a:tr>
              <a:tr h="8365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Baseline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I_h0g = I_l0g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652593"/>
                  </a:ext>
                </a:extLst>
              </a:tr>
              <a:tr h="8365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Baseline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I_h0g &gt; I_l0g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871084"/>
                  </a:ext>
                </a:extLst>
              </a:tr>
              <a:tr h="484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562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820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17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CDCF63-AACE-47E6-82ED-1C59A3126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86628"/>
              </p:ext>
            </p:extLst>
          </p:nvPr>
        </p:nvGraphicFramePr>
        <p:xfrm>
          <a:off x="2397528" y="2112936"/>
          <a:ext cx="7396944" cy="32929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9236">
                  <a:extLst>
                    <a:ext uri="{9D8B030D-6E8A-4147-A177-3AD203B41FA5}">
                      <a16:colId xmlns:a16="http://schemas.microsoft.com/office/drawing/2014/main" val="409783142"/>
                    </a:ext>
                  </a:extLst>
                </a:gridCol>
                <a:gridCol w="1849236">
                  <a:extLst>
                    <a:ext uri="{9D8B030D-6E8A-4147-A177-3AD203B41FA5}">
                      <a16:colId xmlns:a16="http://schemas.microsoft.com/office/drawing/2014/main" val="3407673712"/>
                    </a:ext>
                  </a:extLst>
                </a:gridCol>
                <a:gridCol w="1849236">
                  <a:extLst>
                    <a:ext uri="{9D8B030D-6E8A-4147-A177-3AD203B41FA5}">
                      <a16:colId xmlns:a16="http://schemas.microsoft.com/office/drawing/2014/main" val="1462846462"/>
                    </a:ext>
                  </a:extLst>
                </a:gridCol>
                <a:gridCol w="1849236">
                  <a:extLst>
                    <a:ext uri="{9D8B030D-6E8A-4147-A177-3AD203B41FA5}">
                      <a16:colId xmlns:a16="http://schemas.microsoft.com/office/drawing/2014/main" val="737820431"/>
                    </a:ext>
                  </a:extLst>
                </a:gridCol>
              </a:tblGrid>
              <a:tr h="919470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Endline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Small Distance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Endline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Big Distance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404862"/>
                  </a:ext>
                </a:extLst>
              </a:tr>
              <a:tr h="866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Baseline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Small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344 (26%)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313 (24%)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657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9000"/>
                  </a:ext>
                </a:extLst>
              </a:tr>
              <a:tr h="9194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Baseline</a:t>
                      </a:r>
                      <a:br>
                        <a:rPr lang="en-US" altLang="ko-KR" sz="1800" dirty="0"/>
                      </a:br>
                      <a:r>
                        <a:rPr lang="en-US" altLang="ko-KR" sz="1800" dirty="0"/>
                        <a:t>Big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310 (24%)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347 (26%)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657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187878"/>
                  </a:ext>
                </a:extLst>
              </a:tr>
              <a:tr h="5879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654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660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1314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318209"/>
                  </a:ext>
                </a:extLst>
              </a:tr>
            </a:tbl>
          </a:graphicData>
        </a:graphic>
      </p:graphicFrame>
      <p:sp>
        <p:nvSpPr>
          <p:cNvPr id="6" name="직사각형 6">
            <a:extLst>
              <a:ext uri="{FF2B5EF4-FFF2-40B4-BE49-F238E27FC236}">
                <a16:creationId xmlns:a16="http://schemas.microsoft.com/office/drawing/2014/main" id="{3051F409-C787-4D57-B604-611E0D8ABDF4}"/>
              </a:ext>
            </a:extLst>
          </p:cNvPr>
          <p:cNvSpPr/>
          <p:nvPr/>
        </p:nvSpPr>
        <p:spPr>
          <a:xfrm>
            <a:off x="367584" y="1346801"/>
            <a:ext cx="11153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2060"/>
                </a:solidFill>
              </a:rPr>
              <a:t>3. </a:t>
            </a:r>
            <a:r>
              <a:rPr lang="en-US" altLang="ko-KR" b="1" dirty="0" err="1">
                <a:solidFill>
                  <a:srgbClr val="002060"/>
                </a:solidFill>
              </a:rPr>
              <a:t>big_distance_baseline</a:t>
            </a:r>
            <a:r>
              <a:rPr lang="en-US" altLang="ko-KR" b="1" dirty="0">
                <a:solidFill>
                  <a:srgbClr val="002060"/>
                </a:solidFill>
              </a:rPr>
              <a:t>, </a:t>
            </a:r>
            <a:r>
              <a:rPr lang="en-US" altLang="ko-KR" b="1" dirty="0" err="1">
                <a:solidFill>
                  <a:srgbClr val="002060"/>
                </a:solidFill>
              </a:rPr>
              <a:t>big_distance_endline</a:t>
            </a:r>
            <a:r>
              <a:rPr lang="en-US" altLang="ko-KR" b="1" dirty="0">
                <a:solidFill>
                  <a:srgbClr val="002060"/>
                </a:solidFill>
              </a:rPr>
              <a:t> (</a:t>
            </a:r>
            <a:r>
              <a:rPr lang="en-US" altLang="ko-KR" b="1" dirty="0" err="1">
                <a:solidFill>
                  <a:srgbClr val="002060"/>
                </a:solidFill>
              </a:rPr>
              <a:t>RT_i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–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 err="1">
                <a:solidFill>
                  <a:srgbClr val="002060"/>
                </a:solidFill>
              </a:rPr>
              <a:t>RT_g</a:t>
            </a:r>
            <a:r>
              <a:rPr lang="ko-KR" altLang="en-US" b="1" dirty="0">
                <a:solidFill>
                  <a:srgbClr val="002060"/>
                </a:solidFill>
              </a:rPr>
              <a:t> 의 절대값이 상대방보다 큰지 여부</a:t>
            </a:r>
            <a:r>
              <a:rPr lang="en-US" altLang="ko-KR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B6F7B-97A2-4CF7-8BCE-5F290D8ACEC2}"/>
              </a:ext>
            </a:extLst>
          </p:cNvPr>
          <p:cNvSpPr txBox="1"/>
          <p:nvPr/>
        </p:nvSpPr>
        <p:spPr>
          <a:xfrm>
            <a:off x="2495203" y="5869685"/>
            <a:ext cx="76684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n-NO" altLang="ko-KR" b="1" dirty="0">
                <a:solidFill>
                  <a:srgbClr val="002060"/>
                </a:solidFill>
              </a:rPr>
              <a:t>RT_1 – RT_g = RT_2 - RT_g</a:t>
            </a:r>
            <a:r>
              <a:rPr lang="ko-KR" altLang="en-US" b="1" dirty="0">
                <a:solidFill>
                  <a:srgbClr val="002060"/>
                </a:solidFill>
              </a:rPr>
              <a:t> 인 경우는 </a:t>
            </a:r>
            <a:r>
              <a:rPr lang="en-US" altLang="ko-KR" b="1" dirty="0">
                <a:solidFill>
                  <a:srgbClr val="002060"/>
                </a:solidFill>
              </a:rPr>
              <a:t>3</a:t>
            </a:r>
            <a:r>
              <a:rPr lang="ko-KR" altLang="en-US" b="1" dirty="0">
                <a:solidFill>
                  <a:srgbClr val="002060"/>
                </a:solidFill>
              </a:rPr>
              <a:t>건으로 거의 없습니다</a:t>
            </a:r>
            <a:r>
              <a:rPr lang="en-US" altLang="ko-KR" b="1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2060"/>
                </a:solidFill>
              </a:rPr>
              <a:t>같은 경우 둘 다 </a:t>
            </a:r>
            <a:r>
              <a:rPr lang="en-US" altLang="ko-KR" b="1" dirty="0">
                <a:solidFill>
                  <a:srgbClr val="002060"/>
                </a:solidFill>
              </a:rPr>
              <a:t>high </a:t>
            </a:r>
            <a:r>
              <a:rPr lang="ko-KR" altLang="en-US" b="1" dirty="0">
                <a:solidFill>
                  <a:srgbClr val="002060"/>
                </a:solidFill>
              </a:rPr>
              <a:t>로 취급</a:t>
            </a:r>
            <a:endParaRPr lang="en-US" altLang="ko-K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45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sp>
        <p:nvSpPr>
          <p:cNvPr id="6" name="직사각형 6">
            <a:extLst>
              <a:ext uri="{FF2B5EF4-FFF2-40B4-BE49-F238E27FC236}">
                <a16:creationId xmlns:a16="http://schemas.microsoft.com/office/drawing/2014/main" id="{A1D4BC71-6E86-4150-8952-F084169B342A}"/>
              </a:ext>
            </a:extLst>
          </p:cNvPr>
          <p:cNvSpPr/>
          <p:nvPr/>
        </p:nvSpPr>
        <p:spPr>
          <a:xfrm>
            <a:off x="367584" y="1346802"/>
            <a:ext cx="65375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2060"/>
                </a:solidFill>
              </a:rPr>
              <a:t>4. Baseline high/low </a:t>
            </a:r>
            <a:r>
              <a:rPr lang="ko-KR" altLang="en-US" b="1" dirty="0">
                <a:solidFill>
                  <a:srgbClr val="002060"/>
                </a:solidFill>
              </a:rPr>
              <a:t>에 대해 </a:t>
            </a:r>
            <a:r>
              <a:rPr lang="en-US" altLang="ko-KR" b="1" dirty="0" err="1">
                <a:solidFill>
                  <a:srgbClr val="002060"/>
                </a:solidFill>
              </a:rPr>
              <a:t>I_hg</a:t>
            </a:r>
            <a:r>
              <a:rPr lang="en-US" altLang="ko-KR" b="1" dirty="0">
                <a:solidFill>
                  <a:srgbClr val="002060"/>
                </a:solidFill>
              </a:rPr>
              <a:t> &lt; </a:t>
            </a:r>
            <a:r>
              <a:rPr lang="en-US" altLang="ko-KR" b="1" dirty="0" err="1">
                <a:solidFill>
                  <a:srgbClr val="002060"/>
                </a:solidFill>
              </a:rPr>
              <a:t>I_lg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빈도 체크    </a:t>
            </a:r>
            <a:endParaRPr lang="en-US" altLang="ko-KR" b="1" dirty="0">
              <a:solidFill>
                <a:srgbClr val="002060"/>
              </a:solidFill>
            </a:endParaRP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30B7217E-033B-46AC-9FA0-DDBEBC962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787287"/>
              </p:ext>
            </p:extLst>
          </p:nvPr>
        </p:nvGraphicFramePr>
        <p:xfrm>
          <a:off x="367584" y="2355325"/>
          <a:ext cx="5501200" cy="32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5300">
                  <a:extLst>
                    <a:ext uri="{9D8B030D-6E8A-4147-A177-3AD203B41FA5}">
                      <a16:colId xmlns:a16="http://schemas.microsoft.com/office/drawing/2014/main" val="4229957270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436770580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3665092132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3148284501"/>
                    </a:ext>
                  </a:extLst>
                </a:gridCol>
              </a:tblGrid>
              <a:tr h="89488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Baseline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I_h0g &lt; I_l0g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Baseline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I_h0g &gt;= I_l0g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068728"/>
                  </a:ext>
                </a:extLst>
              </a:tr>
              <a:tr h="894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Baseline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low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124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482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606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497362"/>
                  </a:ext>
                </a:extLst>
              </a:tr>
              <a:tr h="894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Baseline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high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124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482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606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0118"/>
                  </a:ext>
                </a:extLst>
              </a:tr>
              <a:tr h="5184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248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964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1212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672347"/>
                  </a:ext>
                </a:extLst>
              </a:tr>
            </a:tbl>
          </a:graphicData>
        </a:graphic>
      </p:graphicFrame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CE528125-1F4D-4D75-9D8E-E8C70A468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19573"/>
              </p:ext>
            </p:extLst>
          </p:nvPr>
        </p:nvGraphicFramePr>
        <p:xfrm>
          <a:off x="6323218" y="2355325"/>
          <a:ext cx="5501200" cy="32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5300">
                  <a:extLst>
                    <a:ext uri="{9D8B030D-6E8A-4147-A177-3AD203B41FA5}">
                      <a16:colId xmlns:a16="http://schemas.microsoft.com/office/drawing/2014/main" val="4229957270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436770580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3665092132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3148284501"/>
                    </a:ext>
                  </a:extLst>
                </a:gridCol>
              </a:tblGrid>
              <a:tr h="89488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Endline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I_h0g &lt; I_l0g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Endline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I_h0g &gt;= I_l0g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068728"/>
                  </a:ext>
                </a:extLst>
              </a:tr>
              <a:tr h="894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Baseline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low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312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295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607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497362"/>
                  </a:ext>
                </a:extLst>
              </a:tr>
              <a:tr h="894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Baseline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high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312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295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607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0118"/>
                  </a:ext>
                </a:extLst>
              </a:tr>
              <a:tr h="5184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624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590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1214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6723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E4B2E5F-8559-4A27-A88C-C47D1830E575}"/>
              </a:ext>
            </a:extLst>
          </p:cNvPr>
          <p:cNvSpPr txBox="1"/>
          <p:nvPr/>
        </p:nvSpPr>
        <p:spPr>
          <a:xfrm>
            <a:off x="367583" y="5828304"/>
            <a:ext cx="6654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solidFill>
                  <a:srgbClr val="002060"/>
                </a:solidFill>
              </a:rPr>
              <a:t>CCEI_g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= </a:t>
            </a:r>
            <a:r>
              <a:rPr lang="en-US" altLang="ko-KR" b="1" dirty="0" err="1">
                <a:solidFill>
                  <a:srgbClr val="002060"/>
                </a:solidFill>
              </a:rPr>
              <a:t>CCEI_hlg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인 </a:t>
            </a:r>
            <a:r>
              <a:rPr lang="en-US" altLang="ko-KR" b="1" dirty="0">
                <a:solidFill>
                  <a:srgbClr val="002060"/>
                </a:solidFill>
              </a:rPr>
              <a:t>91</a:t>
            </a:r>
            <a:r>
              <a:rPr lang="ko-KR" altLang="en-US" b="1" dirty="0">
                <a:solidFill>
                  <a:srgbClr val="002060"/>
                </a:solidFill>
              </a:rPr>
              <a:t>쌍은 빠졌습니다</a:t>
            </a:r>
            <a:r>
              <a:rPr lang="en-US" altLang="ko-KR" b="1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002060"/>
                </a:solidFill>
              </a:rPr>
              <a:t>high/low </a:t>
            </a:r>
            <a:r>
              <a:rPr lang="ko-KR" altLang="en-US" b="1" dirty="0">
                <a:solidFill>
                  <a:srgbClr val="002060"/>
                </a:solidFill>
              </a:rPr>
              <a:t>는 개인기준이고 </a:t>
            </a:r>
            <a:r>
              <a:rPr lang="en-US" altLang="ko-KR" b="1" dirty="0" err="1">
                <a:solidFill>
                  <a:srgbClr val="002060"/>
                </a:solidFill>
              </a:rPr>
              <a:t>I_hg</a:t>
            </a:r>
            <a:r>
              <a:rPr lang="en-US" altLang="ko-KR" b="1" dirty="0">
                <a:solidFill>
                  <a:srgbClr val="002060"/>
                </a:solidFill>
              </a:rPr>
              <a:t> &lt; </a:t>
            </a:r>
            <a:r>
              <a:rPr lang="en-US" altLang="ko-KR" b="1" dirty="0" err="1">
                <a:solidFill>
                  <a:srgbClr val="002060"/>
                </a:solidFill>
              </a:rPr>
              <a:t>I_lg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는 그룹 기준 </a:t>
            </a:r>
            <a:endParaRPr lang="en-US" altLang="ko-KR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E13635-69BE-4B74-80D7-72982EA70159}"/>
              </a:ext>
            </a:extLst>
          </p:cNvPr>
          <p:cNvSpPr txBox="1"/>
          <p:nvPr/>
        </p:nvSpPr>
        <p:spPr>
          <a:xfrm>
            <a:off x="6323218" y="5828304"/>
            <a:ext cx="5012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solidFill>
                  <a:srgbClr val="002060"/>
                </a:solidFill>
              </a:rPr>
              <a:t>CCEI_g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= </a:t>
            </a:r>
            <a:r>
              <a:rPr lang="en-US" altLang="ko-KR" b="1" dirty="0" err="1">
                <a:solidFill>
                  <a:srgbClr val="002060"/>
                </a:solidFill>
              </a:rPr>
              <a:t>CCEI_hlg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인 </a:t>
            </a:r>
            <a:r>
              <a:rPr lang="en-US" altLang="ko-KR" b="1" dirty="0">
                <a:solidFill>
                  <a:srgbClr val="002060"/>
                </a:solidFill>
              </a:rPr>
              <a:t>90</a:t>
            </a:r>
            <a:r>
              <a:rPr lang="ko-KR" altLang="en-US" b="1" dirty="0">
                <a:solidFill>
                  <a:srgbClr val="002060"/>
                </a:solidFill>
              </a:rPr>
              <a:t>쌍은 빠졌습니다</a:t>
            </a:r>
            <a:r>
              <a:rPr lang="en-US" altLang="ko-KR" b="1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1391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CA968-CB62-4B19-BEA5-E4EACE41C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45" y="1387914"/>
            <a:ext cx="7534127" cy="515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5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chemeClr val="accent4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(</a:t>
            </a:r>
            <a:r>
              <a:rPr lang="ko-KR" altLang="en-US" sz="4400" dirty="0">
                <a:solidFill>
                  <a:schemeClr val="bg1"/>
                </a:solidFill>
                <a:latin typeface="Cambria" panose="02040503050406030204" pitchFamily="18" charset="0"/>
              </a:rPr>
              <a:t>비교를 위해</a:t>
            </a:r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, </a:t>
            </a:r>
            <a:r>
              <a:rPr lang="ko-KR" altLang="en-US" sz="4400" dirty="0">
                <a:solidFill>
                  <a:schemeClr val="bg1"/>
                </a:solidFill>
                <a:latin typeface="Cambria" panose="02040503050406030204" pitchFamily="18" charset="0"/>
              </a:rPr>
              <a:t>기존 그림</a:t>
            </a:r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373FB-7EBC-4917-A03E-10319CC64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37" y="1654352"/>
            <a:ext cx="6825273" cy="4648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09F84B-0339-456F-849E-1369134C6477}"/>
              </a:ext>
            </a:extLst>
          </p:cNvPr>
          <p:cNvSpPr txBox="1"/>
          <p:nvPr/>
        </p:nvSpPr>
        <p:spPr>
          <a:xfrm>
            <a:off x="4406910" y="1727261"/>
            <a:ext cx="315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h0 </a:t>
            </a:r>
            <a:r>
              <a:rPr lang="ko-KR" altLang="en-US" b="1" dirty="0">
                <a:solidFill>
                  <a:srgbClr val="C00000"/>
                </a:solidFill>
              </a:rPr>
              <a:t>대신 </a:t>
            </a:r>
            <a:r>
              <a:rPr lang="en-US" altLang="ko-KR" b="1" dirty="0">
                <a:solidFill>
                  <a:srgbClr val="C00000"/>
                </a:solidFill>
              </a:rPr>
              <a:t>h1 </a:t>
            </a:r>
            <a:r>
              <a:rPr lang="ko-KR" altLang="en-US" b="1" dirty="0">
                <a:solidFill>
                  <a:srgbClr val="C00000"/>
                </a:solidFill>
              </a:rPr>
              <a:t>사용하였을 때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377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BDC0AF-1086-438E-9074-B10F4EA44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23" y="1414782"/>
            <a:ext cx="7287258" cy="49860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54B9D8-9660-40AA-84CB-A659D924F969}"/>
              </a:ext>
            </a:extLst>
          </p:cNvPr>
          <p:cNvSpPr txBox="1"/>
          <p:nvPr/>
        </p:nvSpPr>
        <p:spPr>
          <a:xfrm>
            <a:off x="7443113" y="3943301"/>
            <a:ext cx="4748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02060"/>
                </a:solidFill>
              </a:rPr>
              <a:t>이 그림에서는 </a:t>
            </a:r>
            <a:r>
              <a:rPr lang="en-US" altLang="ko-KR" sz="1600" b="1" dirty="0">
                <a:solidFill>
                  <a:srgbClr val="002060"/>
                </a:solidFill>
              </a:rPr>
              <a:t>1</a:t>
            </a:r>
            <a:r>
              <a:rPr lang="ko-KR" altLang="en-US" sz="1600" b="1" dirty="0">
                <a:solidFill>
                  <a:srgbClr val="002060"/>
                </a:solidFill>
              </a:rPr>
              <a:t>에 치우지지 않게 나왔습니다</a:t>
            </a:r>
            <a:r>
              <a:rPr lang="en-US" altLang="ko-KR" sz="1600" b="1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897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chemeClr val="accent4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(</a:t>
            </a:r>
            <a:r>
              <a:rPr lang="ko-KR" altLang="en-US" sz="4400" dirty="0">
                <a:solidFill>
                  <a:schemeClr val="bg1"/>
                </a:solidFill>
                <a:latin typeface="Cambria" panose="02040503050406030204" pitchFamily="18" charset="0"/>
              </a:rPr>
              <a:t>비교를 위해</a:t>
            </a:r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, </a:t>
            </a:r>
            <a:r>
              <a:rPr lang="ko-KR" altLang="en-US" sz="4400" dirty="0">
                <a:solidFill>
                  <a:schemeClr val="bg1"/>
                </a:solidFill>
                <a:latin typeface="Cambria" panose="02040503050406030204" pitchFamily="18" charset="0"/>
              </a:rPr>
              <a:t>기존 그림</a:t>
            </a:r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B5A48F-094F-4A04-AA63-8B06E3946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77" y="1592208"/>
            <a:ext cx="6890443" cy="46931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B01CA0-D1C0-4761-ADE1-42151B72B62F}"/>
              </a:ext>
            </a:extLst>
          </p:cNvPr>
          <p:cNvSpPr txBox="1"/>
          <p:nvPr/>
        </p:nvSpPr>
        <p:spPr>
          <a:xfrm>
            <a:off x="4406910" y="1727261"/>
            <a:ext cx="315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l0 </a:t>
            </a:r>
            <a:r>
              <a:rPr lang="ko-KR" altLang="en-US" b="1" dirty="0">
                <a:solidFill>
                  <a:srgbClr val="C00000"/>
                </a:solidFill>
              </a:rPr>
              <a:t>대신 </a:t>
            </a:r>
            <a:r>
              <a:rPr lang="en-US" altLang="ko-KR" b="1" dirty="0">
                <a:solidFill>
                  <a:srgbClr val="C00000"/>
                </a:solidFill>
              </a:rPr>
              <a:t>l1 </a:t>
            </a:r>
            <a:r>
              <a:rPr lang="ko-KR" altLang="en-US" b="1" dirty="0">
                <a:solidFill>
                  <a:srgbClr val="C00000"/>
                </a:solidFill>
              </a:rPr>
              <a:t>사용하였을 때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922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sp>
        <p:nvSpPr>
          <p:cNvPr id="6" name="직사각형 6">
            <a:extLst>
              <a:ext uri="{FF2B5EF4-FFF2-40B4-BE49-F238E27FC236}">
                <a16:creationId xmlns:a16="http://schemas.microsoft.com/office/drawing/2014/main" id="{A1D4BC71-6E86-4150-8952-F084169B342A}"/>
              </a:ext>
            </a:extLst>
          </p:cNvPr>
          <p:cNvSpPr/>
          <p:nvPr/>
        </p:nvSpPr>
        <p:spPr>
          <a:xfrm>
            <a:off x="367584" y="1346802"/>
            <a:ext cx="79340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2060"/>
                </a:solidFill>
              </a:rPr>
              <a:t>5. Baseline RT distance </a:t>
            </a:r>
            <a:r>
              <a:rPr lang="ko-KR" altLang="en-US" b="1" dirty="0">
                <a:solidFill>
                  <a:srgbClr val="002060"/>
                </a:solidFill>
              </a:rPr>
              <a:t>기준으로 그룹 나누고</a:t>
            </a:r>
            <a:r>
              <a:rPr lang="en-US" altLang="ko-KR" b="1" dirty="0">
                <a:solidFill>
                  <a:srgbClr val="002060"/>
                </a:solidFill>
              </a:rPr>
              <a:t>, </a:t>
            </a:r>
            <a:r>
              <a:rPr lang="en-US" altLang="ko-KR" b="1" dirty="0" err="1">
                <a:solidFill>
                  <a:srgbClr val="002060"/>
                </a:solidFill>
              </a:rPr>
              <a:t>I_hg</a:t>
            </a:r>
            <a:r>
              <a:rPr lang="en-US" altLang="ko-KR" b="1" dirty="0">
                <a:solidFill>
                  <a:srgbClr val="002060"/>
                </a:solidFill>
              </a:rPr>
              <a:t> &lt; </a:t>
            </a:r>
            <a:r>
              <a:rPr lang="en-US" altLang="ko-KR" b="1" dirty="0" err="1">
                <a:solidFill>
                  <a:srgbClr val="002060"/>
                </a:solidFill>
              </a:rPr>
              <a:t>I_lg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빈도 체크    </a:t>
            </a:r>
            <a:endParaRPr lang="en-US" altLang="ko-KR" b="1" dirty="0">
              <a:solidFill>
                <a:srgbClr val="002060"/>
              </a:solidFill>
            </a:endParaRP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30B7217E-033B-46AC-9FA0-DDBEBC962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229050"/>
              </p:ext>
            </p:extLst>
          </p:nvPr>
        </p:nvGraphicFramePr>
        <p:xfrm>
          <a:off x="367584" y="2355325"/>
          <a:ext cx="5501200" cy="32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5300">
                  <a:extLst>
                    <a:ext uri="{9D8B030D-6E8A-4147-A177-3AD203B41FA5}">
                      <a16:colId xmlns:a16="http://schemas.microsoft.com/office/drawing/2014/main" val="4229957270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436770580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3665092132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3148284501"/>
                    </a:ext>
                  </a:extLst>
                </a:gridCol>
              </a:tblGrid>
              <a:tr h="89488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Baseline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I_h0g &lt; I_l0g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Baseline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I_h0g &gt;= I_l0g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068728"/>
                  </a:ext>
                </a:extLst>
              </a:tr>
              <a:tr h="894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Baseline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small distance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238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368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606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497362"/>
                  </a:ext>
                </a:extLst>
              </a:tr>
              <a:tr h="894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Baseline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big distance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238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368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606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0118"/>
                  </a:ext>
                </a:extLst>
              </a:tr>
              <a:tr h="5184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476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736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1212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672347"/>
                  </a:ext>
                </a:extLst>
              </a:tr>
            </a:tbl>
          </a:graphicData>
        </a:graphic>
      </p:graphicFrame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CE528125-1F4D-4D75-9D8E-E8C70A468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779441"/>
              </p:ext>
            </p:extLst>
          </p:nvPr>
        </p:nvGraphicFramePr>
        <p:xfrm>
          <a:off x="6323218" y="2355325"/>
          <a:ext cx="5501200" cy="32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5300">
                  <a:extLst>
                    <a:ext uri="{9D8B030D-6E8A-4147-A177-3AD203B41FA5}">
                      <a16:colId xmlns:a16="http://schemas.microsoft.com/office/drawing/2014/main" val="4229957270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436770580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3665092132"/>
                    </a:ext>
                  </a:extLst>
                </a:gridCol>
                <a:gridCol w="1375300">
                  <a:extLst>
                    <a:ext uri="{9D8B030D-6E8A-4147-A177-3AD203B41FA5}">
                      <a16:colId xmlns:a16="http://schemas.microsoft.com/office/drawing/2014/main" val="3148284501"/>
                    </a:ext>
                  </a:extLst>
                </a:gridCol>
              </a:tblGrid>
              <a:tr h="89488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Endline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I_h0g &lt; I_l0g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Endline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I_h0g &gt;= I_l0g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068728"/>
                  </a:ext>
                </a:extLst>
              </a:tr>
              <a:tr h="894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Baseline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small distance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284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323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607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497362"/>
                  </a:ext>
                </a:extLst>
              </a:tr>
              <a:tr h="894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Baseline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big distance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284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323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607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0118"/>
                  </a:ext>
                </a:extLst>
              </a:tr>
              <a:tr h="5184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568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646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1214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672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517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0EA901-3384-44DF-B947-308F63C8F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22" y="1572620"/>
            <a:ext cx="7224475" cy="49430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BD4348-5DCF-41C0-A3B1-78934F88BE8D}"/>
              </a:ext>
            </a:extLst>
          </p:cNvPr>
          <p:cNvSpPr txBox="1"/>
          <p:nvPr/>
        </p:nvSpPr>
        <p:spPr>
          <a:xfrm>
            <a:off x="5497497" y="1572620"/>
            <a:ext cx="641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high/low </a:t>
            </a:r>
            <a:r>
              <a:rPr lang="ko-KR" altLang="en-US" b="1" dirty="0">
                <a:solidFill>
                  <a:srgbClr val="C00000"/>
                </a:solidFill>
              </a:rPr>
              <a:t>구분을 </a:t>
            </a:r>
            <a:r>
              <a:rPr lang="en-US" altLang="ko-KR" b="1" dirty="0">
                <a:solidFill>
                  <a:srgbClr val="C00000"/>
                </a:solidFill>
              </a:rPr>
              <a:t>RT </a:t>
            </a:r>
            <a:r>
              <a:rPr lang="ko-KR" altLang="en-US" b="1" dirty="0">
                <a:solidFill>
                  <a:srgbClr val="C00000"/>
                </a:solidFill>
              </a:rPr>
              <a:t>기준 </a:t>
            </a:r>
            <a:r>
              <a:rPr lang="en-US" altLang="ko-KR" b="1" dirty="0">
                <a:solidFill>
                  <a:srgbClr val="C00000"/>
                </a:solidFill>
              </a:rPr>
              <a:t>high distance </a:t>
            </a:r>
            <a:r>
              <a:rPr lang="ko-KR" altLang="en-US" b="1" dirty="0">
                <a:solidFill>
                  <a:srgbClr val="C00000"/>
                </a:solidFill>
              </a:rPr>
              <a:t>인지 여부로 사용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540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B77C04-F5C1-4D32-93DB-754C7401D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22" y="1521719"/>
            <a:ext cx="7368971" cy="50419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8D7D9E-E8CE-49AE-9B88-597260730960}"/>
              </a:ext>
            </a:extLst>
          </p:cNvPr>
          <p:cNvSpPr txBox="1"/>
          <p:nvPr/>
        </p:nvSpPr>
        <p:spPr>
          <a:xfrm>
            <a:off x="5506375" y="1521719"/>
            <a:ext cx="641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high/low </a:t>
            </a:r>
            <a:r>
              <a:rPr lang="ko-KR" altLang="en-US" b="1" dirty="0">
                <a:solidFill>
                  <a:srgbClr val="C00000"/>
                </a:solidFill>
              </a:rPr>
              <a:t>구분을 </a:t>
            </a:r>
            <a:r>
              <a:rPr lang="en-US" altLang="ko-KR" b="1" dirty="0">
                <a:solidFill>
                  <a:srgbClr val="C00000"/>
                </a:solidFill>
              </a:rPr>
              <a:t>RT </a:t>
            </a:r>
            <a:r>
              <a:rPr lang="ko-KR" altLang="en-US" b="1" dirty="0">
                <a:solidFill>
                  <a:srgbClr val="C00000"/>
                </a:solidFill>
              </a:rPr>
              <a:t>기준 </a:t>
            </a:r>
            <a:r>
              <a:rPr lang="en-US" altLang="ko-KR" b="1" dirty="0">
                <a:solidFill>
                  <a:srgbClr val="C00000"/>
                </a:solidFill>
              </a:rPr>
              <a:t>high distance </a:t>
            </a:r>
            <a:r>
              <a:rPr lang="ko-KR" altLang="en-US" b="1" dirty="0">
                <a:solidFill>
                  <a:srgbClr val="C00000"/>
                </a:solidFill>
              </a:rPr>
              <a:t>인지 여부로 사용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984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933A93-92A0-4CB5-8917-861A1509E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189" y="1327345"/>
            <a:ext cx="6256811" cy="4280976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333A4F-A23B-4FC8-826F-FF55E27CC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27346"/>
            <a:ext cx="6256811" cy="428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95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9AF8CE-205A-4A3F-98A8-85A8BBC3B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5" y="1835259"/>
            <a:ext cx="6096000" cy="4180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C9D9C2-2503-4BE8-83C9-7854C9B1D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665" y="1804856"/>
            <a:ext cx="6140335" cy="421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25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9A4D44-2C95-4467-A456-A2C109E02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" y="1830599"/>
            <a:ext cx="6096000" cy="41709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13AFE5-CB23-40D9-A28E-9FA8E3F63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217" y="1830599"/>
            <a:ext cx="6158783" cy="422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49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938380-77F3-404A-AF00-860F6A129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" y="1840801"/>
            <a:ext cx="6096000" cy="4180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8A15C4-1DED-4CB1-85F5-0F759FE1C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40801"/>
            <a:ext cx="6096000" cy="418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27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651A67-1DCD-4924-AD0B-A522019A7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27" y="1880887"/>
            <a:ext cx="5960773" cy="4087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15CB9D-8C14-44C4-9662-3432C98F5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834520"/>
            <a:ext cx="6096000" cy="418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70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4. Counts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A759F5-AFC2-4F79-A9F3-F2D4E0D0D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5135"/>
            <a:ext cx="6096000" cy="4180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83C03-6606-45EC-9EFE-DEA373CE2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40083"/>
            <a:ext cx="6096000" cy="418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12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15841</TotalTime>
  <Words>695</Words>
  <Application>Microsoft Office PowerPoint</Application>
  <PresentationFormat>Widescreen</PresentationFormat>
  <Paragraphs>189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Cambria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한병헌</dc:creator>
  <cp:lastModifiedBy>Byunghun Hahn</cp:lastModifiedBy>
  <cp:revision>1715</cp:revision>
  <dcterms:created xsi:type="dcterms:W3CDTF">2024-09-27T06:19:06Z</dcterms:created>
  <dcterms:modified xsi:type="dcterms:W3CDTF">2025-06-03T09:31:47Z</dcterms:modified>
</cp:coreProperties>
</file>