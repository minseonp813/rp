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937" r:id="rId2"/>
    <p:sldId id="966" r:id="rId3"/>
    <p:sldId id="951" r:id="rId4"/>
    <p:sldId id="964" r:id="rId5"/>
    <p:sldId id="965" r:id="rId6"/>
    <p:sldId id="952" r:id="rId7"/>
    <p:sldId id="955" r:id="rId8"/>
    <p:sldId id="956" r:id="rId9"/>
    <p:sldId id="953" r:id="rId10"/>
    <p:sldId id="961" r:id="rId11"/>
    <p:sldId id="954" r:id="rId12"/>
    <p:sldId id="962" r:id="rId13"/>
    <p:sldId id="963" r:id="rId14"/>
    <p:sldId id="958" r:id="rId15"/>
    <p:sldId id="957" r:id="rId16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D70BE3D-FFC4-2C1A-84C9-38001BC16696}" name="Syngjoo Choi" initials="SC" userId="88f896864aa6879d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ungik" initials="E" lastIdx="2" clrIdx="0">
    <p:extLst>
      <p:ext uri="{19B8F6BF-5375-455C-9EA6-DF929625EA0E}">
        <p15:presenceInfo xmlns:p15="http://schemas.microsoft.com/office/powerpoint/2012/main" userId="Eungi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DA63"/>
    <a:srgbClr val="FAAB9A"/>
    <a:srgbClr val="617186"/>
    <a:srgbClr val="FF5050"/>
    <a:srgbClr val="E99833"/>
    <a:srgbClr val="FF73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64" autoAdjust="0"/>
    <p:restoredTop sz="50067" autoAdjust="0"/>
  </p:normalViewPr>
  <p:slideViewPr>
    <p:cSldViewPr>
      <p:cViewPr varScale="1">
        <p:scale>
          <a:sx n="90" d="100"/>
          <a:sy n="90" d="100"/>
        </p:scale>
        <p:origin x="1251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259D6-D95A-A642-B04C-599C4F6BFD72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56EE9-0783-8540-B302-D98D03794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7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029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715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39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643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427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7196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0833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5516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4956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1542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9793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5547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5613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3736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822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08/07/2025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5788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08/07/2025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5608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08/07/2025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918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08/07/2025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568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08/07/2025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8586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08/07/2025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4543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08/07/2025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707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08/07/2025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292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08/07/2025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813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08/07/2025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626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08/07/2025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810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9E123-D8C4-4447-B39B-CB6328F8A714}" type="datetimeFigureOut">
              <a:rPr lang="en-GB" smtClean="0"/>
              <a:pPr/>
              <a:t>08/07/2025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417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F1D605A-B212-4816-AEAF-D451B458F50D}"/>
                  </a:ext>
                </a:extLst>
              </p:cNvPr>
              <p:cNvSpPr txBox="1"/>
              <p:nvPr/>
            </p:nvSpPr>
            <p:spPr>
              <a:xfrm>
                <a:off x="611560" y="1162546"/>
                <a:ext cx="8208912" cy="45329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altLang="ko-KR" sz="1800" dirty="0">
                    <a:latin typeface="+mj-ea"/>
                    <a:ea typeface="+mj-ea"/>
                    <a:cs typeface="Times New Roman" pitchFamily="18" charset="0"/>
                  </a:rPr>
                  <a:t>This</a:t>
                </a:r>
                <a:r>
                  <a:rPr lang="ko-KR" altLang="en-US" sz="1800" dirty="0">
                    <a:latin typeface="+mj-ea"/>
                    <a:ea typeface="+mj-ea"/>
                    <a:cs typeface="Times New Roman" pitchFamily="18" charset="0"/>
                  </a:rPr>
                  <a:t> </a:t>
                </a:r>
                <a:r>
                  <a:rPr lang="en-US" altLang="ko-KR" sz="1800" dirty="0">
                    <a:latin typeface="+mj-ea"/>
                    <a:ea typeface="+mj-ea"/>
                    <a:cs typeface="Times New Roman" pitchFamily="18" charset="0"/>
                  </a:rPr>
                  <a:t>file includes</a:t>
                </a:r>
              </a:p>
              <a:p>
                <a:pPr marL="0" indent="0">
                  <a:buNone/>
                </a:pPr>
                <a:endParaRPr lang="en-US" altLang="ko-KR" sz="1800" dirty="0">
                  <a:latin typeface="+mj-ea"/>
                  <a:ea typeface="+mj-ea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1800" dirty="0">
                  <a:latin typeface="+mj-ea"/>
                  <a:ea typeface="+mj-ea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sz="1800" b="1" dirty="0">
                    <a:latin typeface="+mj-ea"/>
                    <a:ea typeface="+mj-ea"/>
                    <a:cs typeface="Times New Roman" pitchFamily="18" charset="0"/>
                  </a:rPr>
                  <a:t>1. </a:t>
                </a:r>
                <a:r>
                  <a:rPr lang="ko-KR" altLang="en-US" sz="1800" b="1" dirty="0">
                    <a:latin typeface="+mj-ea"/>
                    <a:ea typeface="+mj-ea"/>
                    <a:cs typeface="Times New Roman" pitchFamily="18" charset="0"/>
                  </a:rPr>
                  <a:t>흥미로운 특성을 가진 </a:t>
                </a:r>
                <a:r>
                  <a:rPr lang="en-US" altLang="ko-KR" sz="1800" b="1" dirty="0">
                    <a:latin typeface="+mj-ea"/>
                    <a:ea typeface="+mj-ea"/>
                    <a:cs typeface="Times New Roman" pitchFamily="18" charset="0"/>
                  </a:rPr>
                  <a:t>Group </a:t>
                </a:r>
                <a:r>
                  <a:rPr lang="ko-KR" altLang="en-US" sz="1800" b="1" dirty="0">
                    <a:latin typeface="+mj-ea"/>
                    <a:ea typeface="+mj-ea"/>
                    <a:cs typeface="Times New Roman" pitchFamily="18" charset="0"/>
                  </a:rPr>
                  <a:t>들</a:t>
                </a:r>
                <a:endParaRPr lang="en-US" altLang="ko-KR" sz="1800" b="1" dirty="0">
                  <a:latin typeface="+mj-ea"/>
                  <a:ea typeface="+mj-ea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1800" dirty="0">
                  <a:latin typeface="+mj-ea"/>
                  <a:ea typeface="+mj-ea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sz="1800" dirty="0">
                    <a:latin typeface="+mj-ea"/>
                    <a:ea typeface="+mj-ea"/>
                    <a:cs typeface="Times New Roman" pitchFamily="18" charset="0"/>
                  </a:rPr>
                  <a:t>(1) ccei_1, ccei_2  &lt;  median </a:t>
                </a:r>
                <a:r>
                  <a:rPr lang="ko-KR" altLang="en-US" sz="1800" dirty="0">
                    <a:latin typeface="+mj-ea"/>
                    <a:ea typeface="+mj-ea"/>
                    <a:cs typeface="Times New Roman" pitchFamily="18" charset="0"/>
                  </a:rPr>
                  <a:t>인데 </a:t>
                </a:r>
                <a:r>
                  <a:rPr lang="en-US" altLang="ko-KR" sz="1800" dirty="0" err="1">
                    <a:latin typeface="+mj-ea"/>
                    <a:ea typeface="+mj-ea"/>
                    <a:cs typeface="Times New Roman" pitchFamily="18" charset="0"/>
                  </a:rPr>
                  <a:t>ccei_g</a:t>
                </a:r>
                <a:r>
                  <a:rPr lang="en-US" altLang="ko-KR" sz="1800" dirty="0">
                    <a:latin typeface="+mj-ea"/>
                    <a:ea typeface="+mj-ea"/>
                    <a:cs typeface="Times New Roman" pitchFamily="18" charset="0"/>
                  </a:rPr>
                  <a:t> = 1</a:t>
                </a:r>
                <a:r>
                  <a:rPr lang="ko-KR" altLang="en-US" sz="1800" dirty="0">
                    <a:latin typeface="+mj-ea"/>
                    <a:ea typeface="+mj-ea"/>
                    <a:cs typeface="Times New Roman" pitchFamily="18" charset="0"/>
                  </a:rPr>
                  <a:t>인 경우 </a:t>
                </a:r>
                <a:r>
                  <a:rPr lang="en-US" altLang="ko-KR" sz="1800" dirty="0">
                    <a:latin typeface="+mj-ea"/>
                    <a:ea typeface="+mj-ea"/>
                    <a:cs typeface="Times New Roman" pitchFamily="18" charset="0"/>
                  </a:rPr>
                  <a:t>(base 36</a:t>
                </a:r>
                <a:r>
                  <a:rPr lang="ko-KR" altLang="en-US" sz="1800" dirty="0">
                    <a:latin typeface="+mj-ea"/>
                    <a:ea typeface="+mj-ea"/>
                    <a:cs typeface="Times New Roman" pitchFamily="18" charset="0"/>
                  </a:rPr>
                  <a:t>쌍 </a:t>
                </a:r>
                <a:r>
                  <a:rPr lang="en-US" altLang="ko-KR" sz="1800" dirty="0">
                    <a:latin typeface="+mj-ea"/>
                    <a:ea typeface="+mj-ea"/>
                    <a:cs typeface="Times New Roman" pitchFamily="18" charset="0"/>
                  </a:rPr>
                  <a:t>/ end 62</a:t>
                </a:r>
                <a:r>
                  <a:rPr lang="ko-KR" altLang="en-US" sz="1800" dirty="0">
                    <a:latin typeface="+mj-ea"/>
                    <a:ea typeface="+mj-ea"/>
                    <a:cs typeface="Times New Roman" pitchFamily="18" charset="0"/>
                  </a:rPr>
                  <a:t>쌍</a:t>
                </a:r>
                <a:r>
                  <a:rPr lang="en-US" altLang="ko-KR" sz="1800" dirty="0">
                    <a:latin typeface="+mj-ea"/>
                    <a:ea typeface="+mj-ea"/>
                    <a:cs typeface="Times New Roman" pitchFamily="18" charset="0"/>
                  </a:rPr>
                  <a:t>)</a:t>
                </a:r>
              </a:p>
              <a:p>
                <a:pPr marL="0" indent="0">
                  <a:buNone/>
                </a:pPr>
                <a:endParaRPr lang="en-US" altLang="ko-KR" sz="1800" dirty="0">
                  <a:latin typeface="+mj-ea"/>
                  <a:ea typeface="+mj-ea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sz="1800" dirty="0">
                    <a:latin typeface="+mj-ea"/>
                    <a:ea typeface="+mj-ea"/>
                    <a:cs typeface="Times New Roman" pitchFamily="18" charset="0"/>
                  </a:rPr>
                  <a:t>(2) ccei_1, ccei_2 = 1 </a:t>
                </a:r>
                <a:r>
                  <a:rPr lang="ko-KR" altLang="en-US" sz="1800" dirty="0">
                    <a:latin typeface="+mj-ea"/>
                    <a:ea typeface="+mj-ea"/>
                    <a:cs typeface="Times New Roman" pitchFamily="18" charset="0"/>
                  </a:rPr>
                  <a:t>인데 </a:t>
                </a:r>
                <a:r>
                  <a:rPr lang="en-US" altLang="ko-KR" sz="1800" dirty="0" err="1">
                    <a:latin typeface="+mj-ea"/>
                    <a:ea typeface="+mj-ea"/>
                    <a:cs typeface="Times New Roman" pitchFamily="18" charset="0"/>
                  </a:rPr>
                  <a:t>ccei_g</a:t>
                </a:r>
                <a:r>
                  <a:rPr lang="en-US" altLang="ko-KR" sz="1800" dirty="0">
                    <a:latin typeface="+mj-ea"/>
                    <a:ea typeface="+mj-ea"/>
                    <a:cs typeface="Times New Roman" pitchFamily="18" charset="0"/>
                  </a:rPr>
                  <a:t> &lt; 1 </a:t>
                </a:r>
                <a:r>
                  <a:rPr lang="ko-KR" altLang="en-US" sz="1800" dirty="0">
                    <a:latin typeface="+mj-ea"/>
                    <a:ea typeface="+mj-ea"/>
                    <a:cs typeface="Times New Roman" pitchFamily="18" charset="0"/>
                  </a:rPr>
                  <a:t>인 경우 </a:t>
                </a:r>
                <a:r>
                  <a:rPr lang="en-US" altLang="ko-KR" sz="1800" dirty="0">
                    <a:latin typeface="+mj-ea"/>
                    <a:ea typeface="+mj-ea"/>
                    <a:cs typeface="Times New Roman" pitchFamily="18" charset="0"/>
                  </a:rPr>
                  <a:t>(base 23</a:t>
                </a:r>
                <a:r>
                  <a:rPr lang="ko-KR" altLang="en-US" sz="1800" dirty="0">
                    <a:latin typeface="+mj-ea"/>
                    <a:ea typeface="+mj-ea"/>
                    <a:cs typeface="Times New Roman" pitchFamily="18" charset="0"/>
                  </a:rPr>
                  <a:t>쌍 </a:t>
                </a:r>
                <a:r>
                  <a:rPr lang="en-US" altLang="ko-KR" sz="1800" dirty="0">
                    <a:latin typeface="+mj-ea"/>
                    <a:ea typeface="+mj-ea"/>
                    <a:cs typeface="Times New Roman" pitchFamily="18" charset="0"/>
                  </a:rPr>
                  <a:t>/ end 45</a:t>
                </a:r>
                <a:r>
                  <a:rPr lang="ko-KR" altLang="en-US" sz="1800" dirty="0">
                    <a:latin typeface="+mj-ea"/>
                    <a:ea typeface="+mj-ea"/>
                    <a:cs typeface="Times New Roman" pitchFamily="18" charset="0"/>
                  </a:rPr>
                  <a:t>쌍</a:t>
                </a:r>
                <a:r>
                  <a:rPr lang="en-US" altLang="ko-KR" sz="1800" dirty="0">
                    <a:latin typeface="+mj-ea"/>
                    <a:ea typeface="+mj-ea"/>
                    <a:cs typeface="Times New Roman" pitchFamily="18" charset="0"/>
                  </a:rPr>
                  <a:t>)</a:t>
                </a:r>
              </a:p>
              <a:p>
                <a:pPr marL="0" indent="0">
                  <a:buNone/>
                </a:pPr>
                <a:endParaRPr lang="en-US" altLang="ko-KR" sz="1800" dirty="0">
                  <a:latin typeface="+mj-ea"/>
                  <a:ea typeface="+mj-ea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dirty="0">
                    <a:latin typeface="+mj-ea"/>
                    <a:ea typeface="+mj-ea"/>
                    <a:cs typeface="Times New Roman" pitchFamily="18" charset="0"/>
                  </a:rPr>
                  <a:t> </a:t>
                </a:r>
                <a:r>
                  <a:rPr lang="ko-KR" altLang="en-US" dirty="0">
                    <a:latin typeface="+mj-ea"/>
                    <a:ea typeface="+mj-ea"/>
                    <a:cs typeface="Times New Roman" pitchFamily="18" charset="0"/>
                  </a:rPr>
                  <a:t>즉 종</a:t>
                </a:r>
                <a14:m>
                  <m:oMath xmlns:m="http://schemas.openxmlformats.org/officeDocument/2006/math">
                    <m:r>
                      <a:rPr lang="ko-KR" altLang="en-US" b="0" i="1" dirty="0">
                        <a:latin typeface="Cambria Math" panose="02040503050406030204" pitchFamily="18" charset="0"/>
                        <a:ea typeface="+mj-ea"/>
                        <a:cs typeface="Times New Roman" pitchFamily="18" charset="0"/>
                      </a:rPr>
                      <m:t>합</m:t>
                    </m:r>
                    <m:r>
                      <a:rPr lang="ko-KR" altLang="en-US" i="1" dirty="0" smtClean="0">
                        <a:latin typeface="Cambria Math" panose="02040503050406030204" pitchFamily="18" charset="0"/>
                        <a:ea typeface="+mj-ea"/>
                        <a:cs typeface="Times New Roman" pitchFamily="18" charset="0"/>
                      </a:rPr>
                      <m:t>하</m:t>
                    </m:r>
                    <m:r>
                      <a:rPr lang="ko-KR" altLang="en-US" i="1" dirty="0">
                        <a:latin typeface="Cambria Math" panose="02040503050406030204" pitchFamily="18" charset="0"/>
                        <a:ea typeface="+mj-ea"/>
                        <a:cs typeface="Times New Roman" pitchFamily="18" charset="0"/>
                      </a:rPr>
                      <m:t>면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j-ea"/>
                        <a:cs typeface="Times New Roman" pitchFamily="18" charset="0"/>
                      </a:rPr>
                      <m:t>, 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+mj-ea"/>
                        <a:cs typeface="Times New Roman" pitchFamily="18" charset="0"/>
                      </a:rPr>
                      <m:t>𝑐𝑐𝑒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+mj-ea"/>
                        <a:cs typeface="Times New Roman" pitchFamily="18" charset="0"/>
                      </a:rPr>
                      <m:t> ∉[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+mj-ea"/>
                        <a:cs typeface="Times New Roman" pitchFamily="18" charset="0"/>
                      </a:rPr>
                      <m:t>𝑐𝑐𝑒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𝑙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+mj-ea"/>
                        <a:cs typeface="Times New Roman" pitchFamily="18" charset="0"/>
                      </a:rPr>
                      <m:t>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+mj-ea"/>
                        <a:cs typeface="Times New Roman" pitchFamily="18" charset="0"/>
                      </a:rPr>
                      <m:t>𝑐𝑐𝑒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h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+mj-ea"/>
                        <a:cs typeface="Times New Roman" pitchFamily="18" charset="0"/>
                      </a:rPr>
                      <m:t>]</m:t>
                    </m:r>
                  </m:oMath>
                </a14:m>
                <a:r>
                  <a:rPr lang="en-US" altLang="ko-KR" dirty="0">
                    <a:latin typeface="+mj-ea"/>
                    <a:ea typeface="+mj-ea"/>
                    <a:cs typeface="Times New Roman" pitchFamily="18" charset="0"/>
                  </a:rPr>
                  <a:t> </a:t>
                </a:r>
                <a:r>
                  <a:rPr lang="ko-KR" altLang="en-US" dirty="0">
                    <a:latin typeface="+mj-ea"/>
                    <a:ea typeface="+mj-ea"/>
                    <a:cs typeface="Times New Roman" pitchFamily="18" charset="0"/>
                  </a:rPr>
                  <a:t> 경우들</a:t>
                </a:r>
                <a:endParaRPr lang="en-US" altLang="ko-KR" dirty="0">
                  <a:latin typeface="+mj-ea"/>
                  <a:ea typeface="+mj-ea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1800" dirty="0">
                  <a:latin typeface="+mj-ea"/>
                  <a:ea typeface="+mj-ea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1800" dirty="0">
                  <a:latin typeface="+mj-ea"/>
                  <a:ea typeface="+mj-ea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sz="1800" b="1" dirty="0">
                    <a:latin typeface="+mj-ea"/>
                    <a:ea typeface="+mj-ea"/>
                    <a:cs typeface="Times New Roman" pitchFamily="18" charset="0"/>
                  </a:rPr>
                  <a:t>2. |</a:t>
                </a:r>
                <a:r>
                  <a:rPr lang="en-US" altLang="ko-KR" sz="1800" b="1" dirty="0" err="1">
                    <a:latin typeface="+mj-ea"/>
                    <a:ea typeface="+mj-ea"/>
                    <a:cs typeface="Times New Roman" pitchFamily="18" charset="0"/>
                  </a:rPr>
                  <a:t>RT_i</a:t>
                </a:r>
                <a:r>
                  <a:rPr lang="ko-KR" altLang="en-US" sz="1800" b="1" dirty="0">
                    <a:latin typeface="+mj-ea"/>
                    <a:ea typeface="+mj-ea"/>
                    <a:cs typeface="Times New Roman" pitchFamily="18" charset="0"/>
                  </a:rPr>
                  <a:t> </a:t>
                </a:r>
                <a:r>
                  <a:rPr lang="en-US" altLang="ko-KR" sz="1800" b="1" dirty="0">
                    <a:latin typeface="+mj-ea"/>
                    <a:ea typeface="+mj-ea"/>
                    <a:cs typeface="Times New Roman" pitchFamily="18" charset="0"/>
                  </a:rPr>
                  <a:t>–</a:t>
                </a:r>
                <a:r>
                  <a:rPr lang="ko-KR" altLang="en-US" sz="1800" b="1" dirty="0">
                    <a:latin typeface="+mj-ea"/>
                    <a:ea typeface="+mj-ea"/>
                    <a:cs typeface="Times New Roman" pitchFamily="18" charset="0"/>
                  </a:rPr>
                  <a:t> </a:t>
                </a:r>
                <a:r>
                  <a:rPr lang="en-US" altLang="ko-KR" sz="1800" b="1" dirty="0" err="1">
                    <a:latin typeface="+mj-ea"/>
                    <a:ea typeface="+mj-ea"/>
                    <a:cs typeface="Times New Roman" pitchFamily="18" charset="0"/>
                  </a:rPr>
                  <a:t>RT_g</a:t>
                </a:r>
                <a:r>
                  <a:rPr lang="en-US" altLang="ko-KR" sz="1800" b="1" dirty="0">
                    <a:latin typeface="+mj-ea"/>
                    <a:ea typeface="+mj-ea"/>
                    <a:cs typeface="Times New Roman" pitchFamily="18" charset="0"/>
                  </a:rPr>
                  <a:t>| </a:t>
                </a:r>
                <a:r>
                  <a:rPr lang="ko-KR" altLang="en-US" sz="1800" b="1" dirty="0">
                    <a:latin typeface="+mj-ea"/>
                    <a:ea typeface="+mj-ea"/>
                    <a:cs typeface="Times New Roman" pitchFamily="18" charset="0"/>
                  </a:rPr>
                  <a:t>를 분석한 것과 같이</a:t>
                </a:r>
                <a:r>
                  <a:rPr lang="en-US" altLang="ko-KR" sz="1800" b="1" dirty="0">
                    <a:latin typeface="+mj-ea"/>
                    <a:ea typeface="+mj-ea"/>
                    <a:cs typeface="Times New Roman" pitchFamily="18" charset="0"/>
                  </a:rPr>
                  <a:t>, |</a:t>
                </a:r>
                <a:r>
                  <a:rPr lang="en-US" altLang="ko-KR" sz="1800" b="1" dirty="0" err="1">
                    <a:latin typeface="+mj-ea"/>
                    <a:ea typeface="+mj-ea"/>
                    <a:cs typeface="Times New Roman" pitchFamily="18" charset="0"/>
                  </a:rPr>
                  <a:t>ccei_i</a:t>
                </a:r>
                <a:r>
                  <a:rPr lang="ko-KR" altLang="en-US" sz="1800" b="1" dirty="0">
                    <a:latin typeface="+mj-ea"/>
                    <a:ea typeface="+mj-ea"/>
                    <a:cs typeface="Times New Roman" pitchFamily="18" charset="0"/>
                  </a:rPr>
                  <a:t> </a:t>
                </a:r>
                <a:r>
                  <a:rPr lang="en-US" altLang="ko-KR" sz="1800" b="1" dirty="0">
                    <a:latin typeface="+mj-ea"/>
                    <a:ea typeface="+mj-ea"/>
                    <a:cs typeface="Times New Roman" pitchFamily="18" charset="0"/>
                  </a:rPr>
                  <a:t>–</a:t>
                </a:r>
                <a:r>
                  <a:rPr lang="ko-KR" altLang="en-US" sz="1800" b="1" dirty="0">
                    <a:latin typeface="+mj-ea"/>
                    <a:ea typeface="+mj-ea"/>
                    <a:cs typeface="Times New Roman" pitchFamily="18" charset="0"/>
                  </a:rPr>
                  <a:t> </a:t>
                </a:r>
                <a:r>
                  <a:rPr lang="en-US" altLang="ko-KR" sz="1800" b="1" dirty="0" err="1">
                    <a:latin typeface="+mj-ea"/>
                    <a:ea typeface="+mj-ea"/>
                    <a:cs typeface="Times New Roman" pitchFamily="18" charset="0"/>
                  </a:rPr>
                  <a:t>ccei_g</a:t>
                </a:r>
                <a:r>
                  <a:rPr lang="en-US" altLang="ko-KR" sz="1800" b="1" dirty="0">
                    <a:latin typeface="+mj-ea"/>
                    <a:ea typeface="+mj-ea"/>
                    <a:cs typeface="Times New Roman" pitchFamily="18" charset="0"/>
                  </a:rPr>
                  <a:t>|</a:t>
                </a:r>
                <a:r>
                  <a:rPr lang="ko-KR" altLang="en-US" sz="1800" b="1" dirty="0">
                    <a:latin typeface="+mj-ea"/>
                    <a:ea typeface="+mj-ea"/>
                    <a:cs typeface="Times New Roman" pitchFamily="18" charset="0"/>
                  </a:rPr>
                  <a:t> 로도 분석 </a:t>
                </a:r>
                <a:r>
                  <a:rPr lang="en-US" altLang="ko-KR" sz="1800" b="1" dirty="0">
                    <a:latin typeface="+mj-ea"/>
                    <a:ea typeface="+mj-ea"/>
                    <a:cs typeface="Times New Roman" pitchFamily="18" charset="0"/>
                  </a:rPr>
                  <a:t>(</a:t>
                </a:r>
                <a:r>
                  <a:rPr lang="en-US" altLang="ko-KR" sz="1800" b="1" dirty="0" err="1">
                    <a:latin typeface="+mj-ea"/>
                    <a:ea typeface="+mj-ea"/>
                    <a:cs typeface="Times New Roman" pitchFamily="18" charset="0"/>
                  </a:rPr>
                  <a:t>cdf</a:t>
                </a:r>
                <a:r>
                  <a:rPr lang="en-US" altLang="ko-KR" sz="1800" b="1" dirty="0">
                    <a:latin typeface="+mj-ea"/>
                    <a:ea typeface="+mj-ea"/>
                    <a:cs typeface="Times New Roman" pitchFamily="18" charset="0"/>
                  </a:rPr>
                  <a:t>, reg)</a:t>
                </a:r>
              </a:p>
              <a:p>
                <a:pPr marL="0" indent="0">
                  <a:buNone/>
                </a:pPr>
                <a:endParaRPr lang="en-US" altLang="ko-KR" sz="1800" dirty="0">
                  <a:latin typeface="+mj-ea"/>
                  <a:ea typeface="+mj-ea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1800" dirty="0">
                  <a:latin typeface="+mj-ea"/>
                  <a:ea typeface="+mj-ea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b="1" dirty="0">
                    <a:latin typeface="+mj-ea"/>
                    <a:ea typeface="+mj-ea"/>
                    <a:cs typeface="Times New Roman" pitchFamily="18" charset="0"/>
                  </a:rPr>
                  <a:t>3</a:t>
                </a:r>
                <a:r>
                  <a:rPr lang="en-US" altLang="ko-KR" sz="1800" b="1" dirty="0">
                    <a:latin typeface="+mj-ea"/>
                    <a:ea typeface="+mj-ea"/>
                    <a:cs typeface="Times New Roman" pitchFamily="18" charset="0"/>
                  </a:rPr>
                  <a:t>. reg </a:t>
                </a:r>
                <a:r>
                  <a:rPr lang="en-US" altLang="ko-KR" sz="1800" b="1" dirty="0" err="1">
                    <a:latin typeface="+mj-ea"/>
                    <a:ea typeface="+mj-ea"/>
                    <a:cs typeface="Times New Roman" pitchFamily="18" charset="0"/>
                  </a:rPr>
                  <a:t>ccei_i</a:t>
                </a:r>
                <a:r>
                  <a:rPr lang="en-US" altLang="ko-KR" sz="1800" b="1" dirty="0">
                    <a:latin typeface="+mj-ea"/>
                    <a:ea typeface="+mj-ea"/>
                    <a:cs typeface="Times New Roman" pitchFamily="18" charset="0"/>
                  </a:rPr>
                  <a:t>  on </a:t>
                </a:r>
                <a:r>
                  <a:rPr lang="en-US" altLang="ko-KR" sz="1800" b="1" dirty="0" err="1">
                    <a:latin typeface="+mj-ea"/>
                    <a:ea typeface="+mj-ea"/>
                    <a:cs typeface="Times New Roman" pitchFamily="18" charset="0"/>
                  </a:rPr>
                  <a:t>RT_i</a:t>
                </a:r>
                <a:r>
                  <a:rPr lang="en-US" altLang="ko-KR" sz="1800" b="1" dirty="0">
                    <a:latin typeface="+mj-ea"/>
                    <a:ea typeface="+mj-ea"/>
                    <a:cs typeface="Times New Roman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F1D605A-B212-4816-AEAF-D451B458F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162546"/>
                <a:ext cx="8208912" cy="4532908"/>
              </a:xfrm>
              <a:prstGeom prst="rect">
                <a:avLst/>
              </a:prstGeom>
              <a:blipFill>
                <a:blip r:embed="rId3"/>
                <a:stretch>
                  <a:fillRect l="-594" t="-808" b="-18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3568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3">
            <a:extLst>
              <a:ext uri="{FF2B5EF4-FFF2-40B4-BE49-F238E27FC236}">
                <a16:creationId xmlns:a16="http://schemas.microsoft.com/office/drawing/2014/main" id="{E6B6356B-84CB-473A-B66C-4F96A2E622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771" y="1772816"/>
            <a:ext cx="3840488" cy="2743205"/>
          </a:xfrm>
          <a:prstGeom prst="rect">
            <a:avLst/>
          </a:prstGeom>
        </p:spPr>
      </p:pic>
      <p:pic>
        <p:nvPicPr>
          <p:cNvPr id="4" name="그림 8">
            <a:extLst>
              <a:ext uri="{FF2B5EF4-FFF2-40B4-BE49-F238E27FC236}">
                <a16:creationId xmlns:a16="http://schemas.microsoft.com/office/drawing/2014/main" id="{11096D12-5BFF-4B17-8071-B87AD6FBCF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1772816"/>
            <a:ext cx="3840488" cy="27432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4AC257-C9A9-4266-8B7C-2A1322169C72}"/>
              </a:ext>
            </a:extLst>
          </p:cNvPr>
          <p:cNvSpPr txBox="1"/>
          <p:nvPr/>
        </p:nvSpPr>
        <p:spPr>
          <a:xfrm>
            <a:off x="1835696" y="2564904"/>
            <a:ext cx="8931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0D6E52-1F24-423F-BF0F-5445F9CB7A0F}"/>
              </a:ext>
            </a:extLst>
          </p:cNvPr>
          <p:cNvSpPr txBox="1"/>
          <p:nvPr/>
        </p:nvSpPr>
        <p:spPr>
          <a:xfrm>
            <a:off x="6516216" y="2564904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Endline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601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922BE4-EFF9-464B-85EC-ADD73B2EB9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429565"/>
            <a:ext cx="8646042" cy="51845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2EC9EF-59DA-4D71-862D-50D402D9B823}"/>
              </a:ext>
            </a:extLst>
          </p:cNvPr>
          <p:cNvSpPr txBox="1"/>
          <p:nvPr/>
        </p:nvSpPr>
        <p:spPr>
          <a:xfrm>
            <a:off x="1259632" y="260648"/>
            <a:ext cx="7344816" cy="872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Example 1</a:t>
            </a:r>
            <a:r>
              <a:rPr lang="en-US" altLang="ko-KR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   low, low </a:t>
            </a:r>
            <a:r>
              <a:rPr lang="ko-KR" alt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인데 </a:t>
            </a:r>
            <a:r>
              <a:rPr lang="en-US" altLang="ko-KR" sz="1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ccei_g</a:t>
            </a:r>
            <a:r>
              <a:rPr lang="en-US" altLang="ko-KR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= 1 </a:t>
            </a:r>
            <a:r>
              <a:rPr lang="ko-KR" alt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인 경우</a:t>
            </a:r>
            <a:br>
              <a:rPr lang="en-US" altLang="ko-KR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ko-KR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ko-KR" alt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둘 모두 실제로 비합리적인데</a:t>
            </a:r>
            <a:r>
              <a:rPr lang="en-US" altLang="ko-KR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, group </a:t>
            </a:r>
            <a:r>
              <a:rPr lang="ko-KR" alt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은 신기하게 모두 합리적인 경우</a:t>
            </a:r>
            <a:endParaRPr lang="en-US" altLang="ko-K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719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A2EC9EF-59DA-4D71-862D-50D402D9B823}"/>
              </a:ext>
            </a:extLst>
          </p:cNvPr>
          <p:cNvSpPr txBox="1"/>
          <p:nvPr/>
        </p:nvSpPr>
        <p:spPr>
          <a:xfrm>
            <a:off x="323528" y="178072"/>
            <a:ext cx="8640960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Example 2</a:t>
            </a:r>
            <a:r>
              <a:rPr lang="en-US" altLang="ko-KR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   low, low </a:t>
            </a:r>
            <a:r>
              <a:rPr lang="ko-KR" alt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인데 </a:t>
            </a:r>
            <a:r>
              <a:rPr lang="en-US" altLang="ko-KR" sz="1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ccei_g</a:t>
            </a:r>
            <a:r>
              <a:rPr lang="en-US" altLang="ko-KR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= 1 </a:t>
            </a:r>
            <a:r>
              <a:rPr lang="ko-KR" alt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인 경우</a:t>
            </a:r>
            <a:br>
              <a:rPr lang="en-US" altLang="ko-KR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ko-KR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ko-KR" alt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사실 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오른쪽은 완벽히 합리적인데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한 번의 실수로 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(Click miss?) </a:t>
            </a:r>
            <a:r>
              <a:rPr lang="en-US" altLang="ko-K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ccei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가 크게 감소</a:t>
            </a: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-&gt; </a:t>
            </a:r>
            <a:r>
              <a:rPr lang="ko-KR" alt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가장 심각한 </a:t>
            </a:r>
            <a:r>
              <a:rPr lang="en-US" altLang="ko-KR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Violation </a:t>
            </a:r>
            <a:r>
              <a:rPr lang="ko-KR" alt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만을 고려하는 </a:t>
            </a:r>
            <a:r>
              <a:rPr lang="en-US" altLang="ko-KR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CCEI </a:t>
            </a:r>
            <a:r>
              <a:rPr lang="ko-KR" alt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계산 방식의 한계</a:t>
            </a:r>
            <a:endParaRPr lang="en-US" altLang="ko-K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675F02-DEC2-45F8-A979-CB814870EF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628800"/>
            <a:ext cx="8640960" cy="518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303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A2EC9EF-59DA-4D71-862D-50D402D9B823}"/>
              </a:ext>
            </a:extLst>
          </p:cNvPr>
          <p:cNvSpPr txBox="1"/>
          <p:nvPr/>
        </p:nvSpPr>
        <p:spPr>
          <a:xfrm>
            <a:off x="323528" y="178072"/>
            <a:ext cx="8640960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Example 3</a:t>
            </a:r>
            <a:r>
              <a:rPr lang="en-US" altLang="ko-KR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ccei_1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ccei_2 = 1 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이지만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ko-K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ccei_g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&lt; 1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인 경우</a:t>
            </a:r>
            <a:b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둘의 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Risk Aversion 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이 다른 경우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반반씩 의견이 반영되면 자연스럽게 </a:t>
            </a:r>
            <a:r>
              <a:rPr lang="en-US" altLang="ko-K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ccei_g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&lt; 1</a:t>
            </a:r>
            <a:endParaRPr lang="en-US" altLang="ko-K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18A2D6-255C-45B1-8432-10D07E7DEF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06" y="1467143"/>
            <a:ext cx="8973588" cy="538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149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658D04-B677-40CF-815D-AD57BD5B0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772816"/>
            <a:ext cx="7776864" cy="46661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8AA39F-1BEB-4773-8ACF-E5C7EBD04ADB}"/>
              </a:ext>
            </a:extLst>
          </p:cNvPr>
          <p:cNvSpPr txBox="1"/>
          <p:nvPr/>
        </p:nvSpPr>
        <p:spPr>
          <a:xfrm>
            <a:off x="1763688" y="548680"/>
            <a:ext cx="6543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ccei_1, ccei_2 = 1 </a:t>
            </a:r>
            <a:r>
              <a:rPr lang="ko-KR" alt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인데 </a:t>
            </a:r>
            <a:r>
              <a:rPr lang="en-US" altLang="ko-KR" sz="1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ccei_g</a:t>
            </a:r>
            <a:r>
              <a:rPr lang="en-US" altLang="ko-KR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&lt; 1 </a:t>
            </a:r>
            <a:r>
              <a:rPr lang="ko-KR" alt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인 경우 </a:t>
            </a:r>
            <a:r>
              <a:rPr lang="en-US" altLang="ko-KR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baseline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23</a:t>
            </a:r>
            <a:r>
              <a:rPr lang="ko-KR" alt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쌍</a:t>
            </a:r>
            <a:r>
              <a:rPr lang="en-US" altLang="ko-KR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endParaRPr lang="en-US" altLang="ko-K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ko-KR" sz="1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ccei_g</a:t>
            </a:r>
            <a:r>
              <a:rPr lang="ko-KR" alt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의 히스토그램을 그리면</a:t>
            </a:r>
            <a:r>
              <a:rPr lang="en-US" altLang="ko-KR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, 0.75 </a:t>
            </a:r>
            <a:r>
              <a:rPr lang="ko-KR" alt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이하인 경우들도 존재</a:t>
            </a:r>
            <a:endParaRPr lang="en-US" altLang="ko-K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083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080285-3EAD-4ECD-8529-10C460F1CE25}"/>
              </a:ext>
            </a:extLst>
          </p:cNvPr>
          <p:cNvSpPr txBox="1"/>
          <p:nvPr/>
        </p:nvSpPr>
        <p:spPr>
          <a:xfrm>
            <a:off x="1547664" y="476672"/>
            <a:ext cx="5652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RT 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분석처럼 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 altLang="ko-K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ccei_i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altLang="ko-K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ccei_g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로 분석해보면</a:t>
            </a:r>
            <a:b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altLang="ko-K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7B53FD-811E-40B5-9DFB-CC0EACFB6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73151"/>
            <a:ext cx="4572000" cy="3156520"/>
          </a:xfrm>
          <a:prstGeom prst="rect">
            <a:avLst/>
          </a:prstGeom>
        </p:spPr>
      </p:pic>
      <p:sp>
        <p:nvSpPr>
          <p:cNvPr id="4" name="AutoShape 6">
            <a:extLst>
              <a:ext uri="{FF2B5EF4-FFF2-40B4-BE49-F238E27FC236}">
                <a16:creationId xmlns:a16="http://schemas.microsoft.com/office/drawing/2014/main" id="{1493EAFC-C956-4894-A824-D1E917FA43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3FDD59-1832-43CB-860E-7C96F472D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071646"/>
            <a:ext cx="4572000" cy="315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804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4F1C85-A90B-4AFE-9C17-BB778BABBD10}"/>
              </a:ext>
            </a:extLst>
          </p:cNvPr>
          <p:cNvSpPr txBox="1"/>
          <p:nvPr/>
        </p:nvSpPr>
        <p:spPr>
          <a:xfrm>
            <a:off x="1547664" y="332656"/>
            <a:ext cx="56521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RT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처럼 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 altLang="ko-K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ccei_i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altLang="ko-K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ccei_g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로 분석해보면</a:t>
            </a:r>
            <a:b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전체 샘플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, reg)</a:t>
            </a:r>
            <a:endParaRPr lang="en-US" altLang="ko-K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E83C65-574C-4ED4-840F-A3C58C090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96" y="1340768"/>
            <a:ext cx="8244408" cy="537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651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E616B6-FF01-42A2-B5B8-9DE6A08EA6AE}"/>
              </a:ext>
            </a:extLst>
          </p:cNvPr>
          <p:cNvSpPr txBox="1"/>
          <p:nvPr/>
        </p:nvSpPr>
        <p:spPr>
          <a:xfrm>
            <a:off x="1331640" y="548680"/>
            <a:ext cx="7200800" cy="872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cce</a:t>
            </a:r>
            <a:r>
              <a:rPr lang="en-US" altLang="ko-K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i_g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와 구간 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ccei_l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ko-K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ccei_h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에 대해서</a:t>
            </a: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구간 안에 오는지 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/ 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그 구간보다 큰지 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/ 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그 구간보다 작은지를 나타낸 표</a:t>
            </a:r>
            <a:endParaRPr lang="en-US" altLang="ko-K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B69F99-9AA1-46AA-A420-332EA34AB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60" y="2108829"/>
            <a:ext cx="4176464" cy="20918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3AEA4F-EA8C-486A-BC62-0FAC514993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847" y="2108829"/>
            <a:ext cx="4176464" cy="206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301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E616B6-FF01-42A2-B5B8-9DE6A08EA6AE}"/>
              </a:ext>
            </a:extLst>
          </p:cNvPr>
          <p:cNvSpPr txBox="1"/>
          <p:nvPr/>
        </p:nvSpPr>
        <p:spPr>
          <a:xfrm>
            <a:off x="1547664" y="476672"/>
            <a:ext cx="56521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RT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처럼 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 altLang="ko-K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ccei_i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altLang="ko-K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ccei_g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로 분석해보면</a:t>
            </a:r>
            <a:b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ccei_g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가 두 명의 </a:t>
            </a:r>
            <a:r>
              <a:rPr lang="en-US" altLang="ko-K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ceci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사이에 오는 경우만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ko-K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2CF690-C123-4A78-BDBA-A16CCBD1C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67556"/>
            <a:ext cx="4572000" cy="31565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C934CD-D66B-4643-AB99-6A34A346E2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992" y="2067556"/>
            <a:ext cx="4572000" cy="315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115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DEF8B7-1849-4C08-BF3D-D71812087C60}"/>
              </a:ext>
            </a:extLst>
          </p:cNvPr>
          <p:cNvSpPr txBox="1"/>
          <p:nvPr/>
        </p:nvSpPr>
        <p:spPr>
          <a:xfrm>
            <a:off x="1619672" y="260648"/>
            <a:ext cx="56521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RT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처럼 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 altLang="ko-K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ccei_i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altLang="ko-K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ccei_g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로 분석해보면</a:t>
            </a:r>
            <a:b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ccei_g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가 두 명의 </a:t>
            </a:r>
            <a:r>
              <a:rPr lang="en-US" altLang="ko-K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ceci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사이에 오는 경우만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ko-K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0B8193-02F6-4ED6-83B5-FDB1DE7DC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50" y="1315152"/>
            <a:ext cx="8100900" cy="528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109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DEF8B7-1849-4C08-BF3D-D71812087C60}"/>
              </a:ext>
            </a:extLst>
          </p:cNvPr>
          <p:cNvSpPr txBox="1"/>
          <p:nvPr/>
        </p:nvSpPr>
        <p:spPr>
          <a:xfrm>
            <a:off x="1619672" y="260648"/>
            <a:ext cx="56521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RT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처럼 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 altLang="ko-K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ccei_i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altLang="ko-K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ccei_g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로 분석해보면</a:t>
            </a:r>
            <a:b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ccei_g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가 두 명의 </a:t>
            </a:r>
            <a:r>
              <a:rPr lang="en-US" altLang="ko-K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ceci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보다 모두 높은 경우만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ko-K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02FFD7-57A9-42EF-A028-A632C4933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45" y="1310739"/>
            <a:ext cx="8006910" cy="528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015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DEF8B7-1849-4C08-BF3D-D71812087C60}"/>
              </a:ext>
            </a:extLst>
          </p:cNvPr>
          <p:cNvSpPr txBox="1"/>
          <p:nvPr/>
        </p:nvSpPr>
        <p:spPr>
          <a:xfrm>
            <a:off x="1619672" y="260648"/>
            <a:ext cx="56521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RT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처럼 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 altLang="ko-K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ccei_i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altLang="ko-K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ccei_g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로 분석해보면</a:t>
            </a:r>
            <a:b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ccei_g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가 두 명의 </a:t>
            </a:r>
            <a:r>
              <a:rPr lang="en-US" altLang="ko-K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ceci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보다 모두 낮은 경우만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ko-K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DCA05B-4CB5-43E5-91DF-178712AA9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16" y="1340768"/>
            <a:ext cx="7884368" cy="541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053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6D90E8-3854-4959-8335-0BDA28913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497" y="1844824"/>
            <a:ext cx="6624736" cy="16970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82D087-B268-4FEA-BEFB-92387ECC7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176" y="4365104"/>
            <a:ext cx="7011378" cy="18766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3405E6-A5C5-4B30-89A3-F423213841CB}"/>
              </a:ext>
            </a:extLst>
          </p:cNvPr>
          <p:cNvSpPr txBox="1"/>
          <p:nvPr/>
        </p:nvSpPr>
        <p:spPr>
          <a:xfrm>
            <a:off x="988176" y="407707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+mj-ea"/>
                <a:ea typeface="+mj-ea"/>
                <a:cs typeface="Times New Roman" pitchFamily="18" charset="0"/>
              </a:rPr>
              <a:t>(</a:t>
            </a:r>
            <a:r>
              <a:rPr lang="en-US" altLang="ko-KR" b="1" dirty="0" err="1">
                <a:solidFill>
                  <a:srgbClr val="C00000"/>
                </a:solidFill>
                <a:latin typeface="+mj-ea"/>
                <a:ea typeface="+mj-ea"/>
                <a:cs typeface="Times New Roman" pitchFamily="18" charset="0"/>
              </a:rPr>
              <a:t>Endline</a:t>
            </a:r>
            <a:r>
              <a:rPr lang="en-US" altLang="ko-KR" b="1" dirty="0">
                <a:solidFill>
                  <a:srgbClr val="C00000"/>
                </a:solidFill>
                <a:latin typeface="+mj-ea"/>
                <a:ea typeface="+mj-ea"/>
                <a:cs typeface="Times New Roman" pitchFamily="18" charset="0"/>
              </a:rPr>
              <a:t>) Reg </a:t>
            </a:r>
            <a:r>
              <a:rPr lang="en-US" altLang="ko-KR" b="1" dirty="0" err="1">
                <a:solidFill>
                  <a:srgbClr val="C00000"/>
                </a:solidFill>
                <a:latin typeface="+mj-ea"/>
                <a:ea typeface="+mj-ea"/>
                <a:cs typeface="Times New Roman" pitchFamily="18" charset="0"/>
              </a:rPr>
              <a:t>CCEI_i</a:t>
            </a:r>
            <a:r>
              <a:rPr lang="en-US" altLang="ko-KR" b="1" dirty="0">
                <a:solidFill>
                  <a:srgbClr val="C00000"/>
                </a:solidFill>
                <a:latin typeface="+mj-ea"/>
                <a:ea typeface="+mj-ea"/>
                <a:cs typeface="Times New Roman" pitchFamily="18" charset="0"/>
              </a:rPr>
              <a:t> on </a:t>
            </a:r>
            <a:r>
              <a:rPr lang="en-US" altLang="ko-KR" b="1" dirty="0" err="1">
                <a:solidFill>
                  <a:srgbClr val="C00000"/>
                </a:solidFill>
                <a:latin typeface="+mj-ea"/>
                <a:ea typeface="+mj-ea"/>
                <a:cs typeface="Times New Roman" pitchFamily="18" charset="0"/>
              </a:rPr>
              <a:t>RT_i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0162A3-02D1-470F-9BBB-BB6C639A5B46}"/>
              </a:ext>
            </a:extLst>
          </p:cNvPr>
          <p:cNvSpPr txBox="1"/>
          <p:nvPr/>
        </p:nvSpPr>
        <p:spPr>
          <a:xfrm>
            <a:off x="988176" y="147549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+mj-ea"/>
                <a:ea typeface="+mj-ea"/>
                <a:cs typeface="Times New Roman" pitchFamily="18" charset="0"/>
              </a:rPr>
              <a:t>(Baseline) Reg </a:t>
            </a:r>
            <a:r>
              <a:rPr lang="en-US" altLang="ko-KR" b="1" dirty="0" err="1">
                <a:solidFill>
                  <a:srgbClr val="C00000"/>
                </a:solidFill>
                <a:latin typeface="+mj-ea"/>
                <a:ea typeface="+mj-ea"/>
                <a:cs typeface="Times New Roman" pitchFamily="18" charset="0"/>
              </a:rPr>
              <a:t>CCEI_i</a:t>
            </a:r>
            <a:r>
              <a:rPr lang="en-US" altLang="ko-KR" b="1" dirty="0">
                <a:solidFill>
                  <a:srgbClr val="C00000"/>
                </a:solidFill>
                <a:latin typeface="+mj-ea"/>
                <a:ea typeface="+mj-ea"/>
                <a:cs typeface="Times New Roman" pitchFamily="18" charset="0"/>
              </a:rPr>
              <a:t> on </a:t>
            </a:r>
            <a:r>
              <a:rPr lang="en-US" altLang="ko-KR" b="1" dirty="0" err="1">
                <a:solidFill>
                  <a:srgbClr val="C00000"/>
                </a:solidFill>
                <a:latin typeface="+mj-ea"/>
                <a:ea typeface="+mj-ea"/>
                <a:cs typeface="Times New Roman" pitchFamily="18" charset="0"/>
              </a:rPr>
              <a:t>RT_i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8ECF44-3EA7-49D7-94A3-763BC374A1EF}"/>
              </a:ext>
            </a:extLst>
          </p:cNvPr>
          <p:cNvSpPr txBox="1"/>
          <p:nvPr/>
        </p:nvSpPr>
        <p:spPr>
          <a:xfrm>
            <a:off x="988176" y="329068"/>
            <a:ext cx="72728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+mj-ea"/>
                <a:ea typeface="+mj-ea"/>
                <a:cs typeface="Times New Roman" pitchFamily="18" charset="0"/>
              </a:rPr>
              <a:t>Q.</a:t>
            </a:r>
            <a:r>
              <a:rPr lang="ko-KR" altLang="en-US" b="1" dirty="0">
                <a:solidFill>
                  <a:srgbClr val="C00000"/>
                </a:solidFill>
                <a:latin typeface="+mj-ea"/>
                <a:ea typeface="+mj-ea"/>
                <a:cs typeface="Times New Roman" pitchFamily="18" charset="0"/>
              </a:rPr>
              <a:t> </a:t>
            </a:r>
            <a:r>
              <a:rPr lang="en-US" altLang="ko-KR" b="1" dirty="0">
                <a:solidFill>
                  <a:srgbClr val="C00000"/>
                </a:solidFill>
                <a:latin typeface="+mj-ea"/>
                <a:ea typeface="+mj-ea"/>
                <a:cs typeface="Times New Roman" pitchFamily="18" charset="0"/>
              </a:rPr>
              <a:t>RT</a:t>
            </a:r>
            <a:r>
              <a:rPr lang="ko-KR" altLang="en-US" b="1" dirty="0">
                <a:solidFill>
                  <a:srgbClr val="C00000"/>
                </a:solidFill>
                <a:latin typeface="+mj-ea"/>
                <a:ea typeface="+mj-ea"/>
                <a:cs typeface="Times New Roman" pitchFamily="18" charset="0"/>
              </a:rPr>
              <a:t> </a:t>
            </a:r>
            <a:r>
              <a:rPr lang="en-US" altLang="ko-KR" b="1" dirty="0">
                <a:solidFill>
                  <a:srgbClr val="C00000"/>
                </a:solidFill>
                <a:latin typeface="+mj-ea"/>
                <a:ea typeface="+mj-ea"/>
                <a:cs typeface="Times New Roman" pitchFamily="18" charset="0"/>
              </a:rPr>
              <a:t>=</a:t>
            </a:r>
            <a:r>
              <a:rPr lang="ko-KR" altLang="en-US" b="1" dirty="0">
                <a:solidFill>
                  <a:srgbClr val="C00000"/>
                </a:solidFill>
                <a:latin typeface="+mj-ea"/>
                <a:ea typeface="+mj-ea"/>
                <a:cs typeface="Times New Roman" pitchFamily="18" charset="0"/>
              </a:rPr>
              <a:t> </a:t>
            </a:r>
            <a:r>
              <a:rPr lang="en-US" altLang="ko-KR" b="1" dirty="0">
                <a:solidFill>
                  <a:srgbClr val="C00000"/>
                </a:solidFill>
                <a:latin typeface="+mj-ea"/>
                <a:ea typeface="+mj-ea"/>
                <a:cs typeface="Times New Roman" pitchFamily="18" charset="0"/>
              </a:rPr>
              <a:t>1</a:t>
            </a:r>
            <a:r>
              <a:rPr lang="ko-KR" altLang="en-US" b="1" dirty="0">
                <a:solidFill>
                  <a:srgbClr val="C00000"/>
                </a:solidFill>
                <a:latin typeface="+mj-ea"/>
                <a:ea typeface="+mj-ea"/>
                <a:cs typeface="Times New Roman" pitchFamily="18" charset="0"/>
              </a:rPr>
              <a:t> 인 학생들이 현재는 매우 합리적이라고 간주되는데</a:t>
            </a:r>
            <a:r>
              <a:rPr lang="en-US" altLang="ko-KR" b="1" dirty="0">
                <a:solidFill>
                  <a:srgbClr val="C00000"/>
                </a:solidFill>
                <a:latin typeface="+mj-ea"/>
                <a:ea typeface="+mj-ea"/>
                <a:cs typeface="Times New Roman" pitchFamily="18" charset="0"/>
              </a:rPr>
              <a:t>,</a:t>
            </a:r>
          </a:p>
          <a:p>
            <a:r>
              <a:rPr lang="ko-KR" altLang="en-US" b="1" dirty="0">
                <a:solidFill>
                  <a:srgbClr val="C00000"/>
                </a:solidFill>
                <a:latin typeface="+mj-ea"/>
                <a:ea typeface="+mj-ea"/>
                <a:cs typeface="Times New Roman" pitchFamily="18" charset="0"/>
              </a:rPr>
              <a:t>과연 보험을 아예 들지 않는 학생을 합리적이라고 할 수 있을지</a:t>
            </a:r>
            <a:r>
              <a:rPr lang="en-US" altLang="ko-KR" b="1" dirty="0">
                <a:solidFill>
                  <a:srgbClr val="C00000"/>
                </a:solidFill>
                <a:latin typeface="+mj-ea"/>
                <a:ea typeface="+mj-ea"/>
                <a:cs typeface="Times New Roman" pitchFamily="18" charset="0"/>
              </a:rPr>
              <a:t>? </a:t>
            </a:r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48145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9C3341-00B5-4DAF-B5CB-06587266D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8" y="1772816"/>
            <a:ext cx="4464496" cy="30822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6FB586B-1836-43F3-9D39-4C36BF7617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2638" y="1772816"/>
            <a:ext cx="4464497" cy="3082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06CB7B-E190-41B9-98E7-D645A1724F8F}"/>
              </a:ext>
            </a:extLst>
          </p:cNvPr>
          <p:cNvSpPr txBox="1"/>
          <p:nvPr/>
        </p:nvSpPr>
        <p:spPr>
          <a:xfrm>
            <a:off x="2555776" y="98072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 err="1">
                <a:solidFill>
                  <a:srgbClr val="C00000"/>
                </a:solidFill>
                <a:latin typeface="+mj-ea"/>
                <a:ea typeface="+mj-ea"/>
                <a:cs typeface="Times New Roman" pitchFamily="18" charset="0"/>
              </a:rPr>
              <a:t>CCEI_i</a:t>
            </a:r>
            <a:r>
              <a:rPr lang="en-US" altLang="ko-KR" b="1" dirty="0">
                <a:solidFill>
                  <a:srgbClr val="C00000"/>
                </a:solidFill>
                <a:latin typeface="+mj-ea"/>
                <a:ea typeface="+mj-ea"/>
                <a:cs typeface="Times New Roman" pitchFamily="18" charset="0"/>
              </a:rPr>
              <a:t>  vs</a:t>
            </a:r>
            <a:r>
              <a:rPr lang="ko-KR" altLang="en-US" b="1" dirty="0">
                <a:solidFill>
                  <a:srgbClr val="C00000"/>
                </a:solidFill>
                <a:latin typeface="+mj-ea"/>
                <a:ea typeface="+mj-ea"/>
                <a:cs typeface="Times New Roman" pitchFamily="18" charset="0"/>
              </a:rPr>
              <a:t> </a:t>
            </a:r>
            <a:r>
              <a:rPr lang="en-US" altLang="ko-KR" b="1" dirty="0" err="1">
                <a:solidFill>
                  <a:srgbClr val="C00000"/>
                </a:solidFill>
                <a:latin typeface="+mj-ea"/>
                <a:ea typeface="+mj-ea"/>
                <a:cs typeface="Times New Roman" pitchFamily="18" charset="0"/>
              </a:rPr>
              <a:t>RT_i</a:t>
            </a:r>
            <a:r>
              <a:rPr lang="ko-KR" altLang="en-US" b="1" dirty="0">
                <a:solidFill>
                  <a:srgbClr val="C00000"/>
                </a:solidFill>
                <a:latin typeface="+mj-ea"/>
                <a:ea typeface="+mj-ea"/>
                <a:cs typeface="Times New Roman" pitchFamily="18" charset="0"/>
              </a:rPr>
              <a:t>  </a:t>
            </a:r>
            <a:r>
              <a:rPr lang="en-US" altLang="ko-KR" b="1" dirty="0">
                <a:solidFill>
                  <a:srgbClr val="C00000"/>
                </a:solidFill>
                <a:latin typeface="+mj-ea"/>
                <a:ea typeface="+mj-ea"/>
                <a:cs typeface="Times New Roman" pitchFamily="18" charset="0"/>
              </a:rPr>
              <a:t>Scatterplot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5062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14108</TotalTime>
  <Words>512</Words>
  <Application>Microsoft Office PowerPoint</Application>
  <PresentationFormat>On-screen Show (4:3)</PresentationFormat>
  <Paragraphs>53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맑은 고딕</vt:lpstr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Formation in Large Groups: New Tool and Applications</dc:title>
  <dc:creator>Choi Syngjoo</dc:creator>
  <cp:lastModifiedBy>Byunghun Hahn</cp:lastModifiedBy>
  <cp:revision>448</cp:revision>
  <cp:lastPrinted>2020-09-11T00:36:22Z</cp:lastPrinted>
  <dcterms:created xsi:type="dcterms:W3CDTF">2019-11-29T16:58:42Z</dcterms:created>
  <dcterms:modified xsi:type="dcterms:W3CDTF">2025-07-08T04:41:32Z</dcterms:modified>
</cp:coreProperties>
</file>