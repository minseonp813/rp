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949" r:id="rId2"/>
    <p:sldId id="956" r:id="rId3"/>
    <p:sldId id="950" r:id="rId4"/>
    <p:sldId id="951" r:id="rId5"/>
    <p:sldId id="952" r:id="rId6"/>
    <p:sldId id="953" r:id="rId7"/>
    <p:sldId id="954" r:id="rId8"/>
    <p:sldId id="955" r:id="rId9"/>
    <p:sldId id="957" r:id="rId10"/>
  </p:sldIdLst>
  <p:sldSz cx="9144000" cy="6858000" type="screen4x3"/>
  <p:notesSz cx="7099300" cy="102346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D70BE3D-FFC4-2C1A-84C9-38001BC16696}" name="Syngjoo Choi" initials="SC" userId="88f896864aa6879d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ungik" initials="E" lastIdx="2" clrIdx="0">
    <p:extLst>
      <p:ext uri="{19B8F6BF-5375-455C-9EA6-DF929625EA0E}">
        <p15:presenceInfo xmlns:p15="http://schemas.microsoft.com/office/powerpoint/2012/main" userId="Eungi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DA63"/>
    <a:srgbClr val="FAAB9A"/>
    <a:srgbClr val="617186"/>
    <a:srgbClr val="FF5050"/>
    <a:srgbClr val="E99833"/>
    <a:srgbClr val="FF73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964" autoAdjust="0"/>
    <p:restoredTop sz="50067" autoAdjust="0"/>
  </p:normalViewPr>
  <p:slideViewPr>
    <p:cSldViewPr>
      <p:cViewPr varScale="1">
        <p:scale>
          <a:sx n="90" d="100"/>
          <a:sy n="90" d="100"/>
        </p:scale>
        <p:origin x="1251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commentAuthors" Target="commentAuthors.xml"/><Relationship Id="rId17" Type="http://schemas.microsoft.com/office/2018/10/relationships/authors" Target="authors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0259D6-D95A-A642-B04C-599C4F6BFD72}" type="datetimeFigureOut">
              <a:rPr lang="en-US" smtClean="0"/>
              <a:t>6/26/2025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46188" y="1279525"/>
            <a:ext cx="4606925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9613" y="4926013"/>
            <a:ext cx="5680075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B56EE9-0783-8540-B302-D98D03794C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8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79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0507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932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5683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199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15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472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7096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39A24-844A-9875-BAA3-DEAA24E82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37B48A2-E1BD-8699-FA44-C052704411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D59DDEF-09E3-896F-A469-607FE58E88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947AF2-F53B-0C7A-4A3C-160F8107C5E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AB56EE9-0783-8540-B302-D98D03794C1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9372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5788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56081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19187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855689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8586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45434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17072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29203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6813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96266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8810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89E123-D8C4-4447-B39B-CB6328F8A714}" type="datetimeFigureOut">
              <a:rPr lang="en-GB" smtClean="0"/>
              <a:pPr/>
              <a:t>26/06/2025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B6774A-2067-4F97-BD1D-9A47AE00FB6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494170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248C4A-E482-4FD6-AE26-A21DCCD2C43A}"/>
              </a:ext>
            </a:extLst>
          </p:cNvPr>
          <p:cNvSpPr txBox="1"/>
          <p:nvPr/>
        </p:nvSpPr>
        <p:spPr>
          <a:xfrm>
            <a:off x="683568" y="980728"/>
            <a:ext cx="7200800" cy="3735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2000" b="1" dirty="0"/>
              <a:t>Baseline </a:t>
            </a:r>
            <a:r>
              <a:rPr lang="ko-KR" altLang="en-US" sz="2000" b="1" dirty="0"/>
              <a:t>에서 </a:t>
            </a:r>
            <a:r>
              <a:rPr lang="en-US" altLang="ko-KR" sz="2000" b="1" dirty="0" err="1"/>
              <a:t>I_hg</a:t>
            </a:r>
            <a:r>
              <a:rPr lang="en-US" altLang="ko-KR" sz="2000" b="1" dirty="0"/>
              <a:t> &lt; _</a:t>
            </a:r>
            <a:r>
              <a:rPr lang="en-US" altLang="ko-KR" sz="2000" b="1" dirty="0" err="1"/>
              <a:t>I_lg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인 그룹에 대해 </a:t>
            </a:r>
            <a:r>
              <a:rPr lang="en-US" altLang="ko-KR" sz="2000" b="1" dirty="0" err="1"/>
              <a:t>ScatterPlot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을 그리고</a:t>
            </a:r>
            <a:r>
              <a:rPr lang="en-US" altLang="ko-KR" sz="2000" b="1" dirty="0"/>
              <a:t>,</a:t>
            </a:r>
          </a:p>
          <a:p>
            <a:pPr>
              <a:lnSpc>
                <a:spcPct val="150000"/>
              </a:lnSpc>
            </a:pPr>
            <a:r>
              <a:rPr lang="ko-KR" altLang="en-US" sz="2000" b="1" dirty="0"/>
              <a:t>몇 가지 패턴을 보고드립니다</a:t>
            </a:r>
            <a:r>
              <a:rPr lang="en-US" altLang="ko-KR" sz="2000" b="1" dirty="0"/>
              <a:t>.</a:t>
            </a:r>
            <a:r>
              <a:rPr lang="ko-KR" altLang="en-US" sz="2000" b="1" dirty="0"/>
              <a:t> </a:t>
            </a:r>
            <a:endParaRPr lang="en-US" altLang="ko-KR" sz="2000" b="1" dirty="0"/>
          </a:p>
          <a:p>
            <a:pPr>
              <a:lnSpc>
                <a:spcPct val="150000"/>
              </a:lnSpc>
            </a:pPr>
            <a:endParaRPr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파란색 </a:t>
            </a:r>
            <a:r>
              <a:rPr lang="en-US" altLang="ko-KR" sz="2000" b="1" dirty="0"/>
              <a:t>O: High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빨간색 </a:t>
            </a:r>
            <a:r>
              <a:rPr lang="en-US" altLang="ko-KR" sz="2000" b="1" dirty="0"/>
              <a:t>O: Low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검정색 </a:t>
            </a:r>
            <a:r>
              <a:rPr lang="en-US" altLang="ko-KR" sz="2000" b="1" dirty="0"/>
              <a:t>X : Group Decision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2000" b="1" dirty="0"/>
              <a:t>표 하단에 </a:t>
            </a:r>
            <a:r>
              <a:rPr lang="en-US" altLang="ko-KR" sz="2000" b="1" dirty="0" err="1"/>
              <a:t>CCEI_i</a:t>
            </a:r>
            <a:r>
              <a:rPr lang="en-US" altLang="ko-KR" sz="2000" b="1" dirty="0"/>
              <a:t>, </a:t>
            </a:r>
            <a:r>
              <a:rPr lang="en-US" altLang="ko-KR" sz="2000" b="1" dirty="0" err="1"/>
              <a:t>CCEI_g</a:t>
            </a:r>
            <a:r>
              <a:rPr lang="en-US" altLang="ko-KR" sz="2000" b="1" dirty="0"/>
              <a:t>, </a:t>
            </a:r>
            <a:r>
              <a:rPr lang="en-US" altLang="ko-KR" sz="2000" b="1" dirty="0" err="1"/>
              <a:t>I_ig</a:t>
            </a:r>
            <a:r>
              <a:rPr lang="en-US" altLang="ko-KR" sz="2000" b="1" dirty="0"/>
              <a:t> </a:t>
            </a:r>
            <a:r>
              <a:rPr lang="ko-KR" altLang="en-US" sz="2000" b="1" dirty="0"/>
              <a:t>를 표기하였습니다</a:t>
            </a:r>
            <a:r>
              <a:rPr lang="en-US" altLang="ko-KR" sz="20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09416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4EEEB-6776-433C-82C2-4AAD96728B88}"/>
              </a:ext>
            </a:extLst>
          </p:cNvPr>
          <p:cNvSpPr txBox="1"/>
          <p:nvPr/>
        </p:nvSpPr>
        <p:spPr>
          <a:xfrm>
            <a:off x="467544" y="404665"/>
            <a:ext cx="8496944" cy="87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dirty="0"/>
              <a:t>Case 1 : Group Decision </a:t>
            </a:r>
            <a:r>
              <a:rPr lang="ko-KR" altLang="en-US" sz="1800" b="1" dirty="0"/>
              <a:t>을 </a:t>
            </a:r>
            <a:r>
              <a:rPr lang="en-US" altLang="ko-KR" sz="1800" b="1" dirty="0"/>
              <a:t>High </a:t>
            </a:r>
            <a:r>
              <a:rPr lang="ko-KR" altLang="en-US" sz="1800" b="1" dirty="0"/>
              <a:t>가 혼자 다 한 경우</a:t>
            </a:r>
            <a:endParaRPr lang="en-US" altLang="ko-KR" sz="1800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ko-KR" altLang="en-US" b="1" dirty="0"/>
              <a:t>즉 </a:t>
            </a:r>
            <a:r>
              <a:rPr lang="en-US" altLang="ko-KR" b="1" dirty="0"/>
              <a:t>CCEI_G = CCEI_H = CCEI_HG  &gt; CCEI_LG &gt;&gt;&gt;&gt;&gt; CCEI_L.  </a:t>
            </a:r>
            <a:r>
              <a:rPr lang="ko-KR" altLang="en-US" b="1" dirty="0"/>
              <a:t>이때 </a:t>
            </a:r>
            <a:r>
              <a:rPr lang="en-US" altLang="ko-KR" b="1" dirty="0" err="1"/>
              <a:t>I_hg</a:t>
            </a:r>
            <a:r>
              <a:rPr lang="en-US" altLang="ko-KR" b="1" dirty="0"/>
              <a:t> = 0, </a:t>
            </a:r>
            <a:r>
              <a:rPr lang="en-US" altLang="ko-KR" b="1" dirty="0" err="1"/>
              <a:t>I_lg</a:t>
            </a:r>
            <a:r>
              <a:rPr lang="en-US" altLang="ko-KR" b="1" dirty="0"/>
              <a:t> = 1</a:t>
            </a:r>
            <a:r>
              <a:rPr lang="ko-KR" altLang="en-US" b="1" dirty="0"/>
              <a:t> </a:t>
            </a:r>
            <a:endParaRPr lang="en-US" altLang="ko-KR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CB011-F4BF-4EF7-883C-09C3190DF7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18500"/>
            <a:ext cx="9144000" cy="54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26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4EEEB-6776-433C-82C2-4AAD96728B88}"/>
              </a:ext>
            </a:extLst>
          </p:cNvPr>
          <p:cNvSpPr txBox="1"/>
          <p:nvPr/>
        </p:nvSpPr>
        <p:spPr>
          <a:xfrm>
            <a:off x="467544" y="404665"/>
            <a:ext cx="8496944" cy="87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dirty="0"/>
              <a:t>Case 1 (</a:t>
            </a:r>
            <a:r>
              <a:rPr lang="ko-KR" altLang="en-US" b="1" dirty="0"/>
              <a:t>다른 예</a:t>
            </a:r>
            <a:r>
              <a:rPr lang="en-US" altLang="ko-KR" b="1" dirty="0"/>
              <a:t>)</a:t>
            </a:r>
            <a:r>
              <a:rPr lang="en-US" altLang="ko-KR" sz="1800" b="1" dirty="0"/>
              <a:t> : Group Decision </a:t>
            </a:r>
            <a:r>
              <a:rPr lang="ko-KR" altLang="en-US" sz="1800" b="1" dirty="0"/>
              <a:t>을 </a:t>
            </a:r>
            <a:r>
              <a:rPr lang="en-US" altLang="ko-KR" sz="1800" b="1" dirty="0"/>
              <a:t>High </a:t>
            </a:r>
            <a:r>
              <a:rPr lang="ko-KR" altLang="en-US" sz="1800" b="1" dirty="0"/>
              <a:t>가 혼자 다 한 경우</a:t>
            </a:r>
            <a:endParaRPr lang="en-US" altLang="ko-KR" sz="1800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ko-KR" altLang="en-US" b="1" dirty="0"/>
              <a:t>즉 </a:t>
            </a:r>
            <a:r>
              <a:rPr lang="en-US" altLang="ko-KR" b="1" dirty="0"/>
              <a:t>CCEI_G = CCEI_H = CCEI_HG  &gt; CCEI_LG &gt;&gt;&gt;&gt;&gt; CCEI_L.  </a:t>
            </a:r>
            <a:r>
              <a:rPr lang="ko-KR" altLang="en-US" b="1" dirty="0"/>
              <a:t>이때 </a:t>
            </a:r>
            <a:r>
              <a:rPr lang="en-US" altLang="ko-KR" b="1" dirty="0" err="1"/>
              <a:t>I_hg</a:t>
            </a:r>
            <a:r>
              <a:rPr lang="en-US" altLang="ko-KR" b="1" dirty="0"/>
              <a:t> = 0, </a:t>
            </a:r>
            <a:r>
              <a:rPr lang="en-US" altLang="ko-KR" b="1" dirty="0" err="1"/>
              <a:t>I_lg</a:t>
            </a:r>
            <a:r>
              <a:rPr lang="en-US" altLang="ko-KR" b="1" dirty="0"/>
              <a:t> = 1</a:t>
            </a:r>
            <a:r>
              <a:rPr lang="ko-KR" altLang="en-US" b="1" dirty="0"/>
              <a:t> </a:t>
            </a:r>
            <a:endParaRPr lang="en-US" altLang="ko-KR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1DEC416-2E99-422A-89CC-9CE4F31FA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03826"/>
            <a:ext cx="9144000" cy="54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592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481CD0-CE7E-4CE9-A726-0D23C96E7FC4}"/>
              </a:ext>
            </a:extLst>
          </p:cNvPr>
          <p:cNvSpPr txBox="1"/>
          <p:nvPr/>
        </p:nvSpPr>
        <p:spPr>
          <a:xfrm>
            <a:off x="467544" y="404664"/>
            <a:ext cx="8136904" cy="87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dirty="0"/>
              <a:t>Case 2 : Group Decision </a:t>
            </a:r>
            <a:r>
              <a:rPr lang="ko-KR" altLang="en-US" sz="1800" b="1" dirty="0"/>
              <a:t>에 양쪽 다 반영되었으나</a:t>
            </a:r>
            <a:r>
              <a:rPr lang="en-US" altLang="ko-KR" sz="1800" b="1" dirty="0"/>
              <a:t>, High </a:t>
            </a:r>
            <a:r>
              <a:rPr lang="ko-KR" altLang="en-US" sz="1800" b="1" dirty="0"/>
              <a:t>가 조금 더 많이 반영됨</a:t>
            </a:r>
            <a:endParaRPr lang="en-US" altLang="ko-KR" sz="1800" b="1" dirty="0"/>
          </a:p>
          <a:p>
            <a:pPr>
              <a:lnSpc>
                <a:spcPct val="150000"/>
              </a:lnSpc>
            </a:pPr>
            <a:r>
              <a:rPr lang="en-US" altLang="ko-KR" b="1" dirty="0"/>
              <a:t> </a:t>
            </a:r>
            <a:r>
              <a:rPr lang="ko-KR" altLang="en-US" b="1" dirty="0"/>
              <a:t>즉 </a:t>
            </a:r>
            <a:r>
              <a:rPr lang="en-US" altLang="ko-KR" b="1" dirty="0"/>
              <a:t>CCEI_H &gt; CCEI_G &gt;&gt;&gt; CCEI_L .   </a:t>
            </a:r>
            <a:r>
              <a:rPr lang="en-US" altLang="ko-KR" b="1" dirty="0" err="1"/>
              <a:t>I_hg</a:t>
            </a:r>
            <a:r>
              <a:rPr lang="en-US" altLang="ko-KR" b="1" dirty="0"/>
              <a:t>, </a:t>
            </a:r>
            <a:r>
              <a:rPr lang="en-US" altLang="ko-KR" b="1" dirty="0" err="1"/>
              <a:t>I_lg</a:t>
            </a:r>
            <a:r>
              <a:rPr lang="en-US" altLang="ko-KR" b="1" dirty="0"/>
              <a:t> </a:t>
            </a:r>
            <a:r>
              <a:rPr lang="ko-KR" altLang="en-US" b="1" dirty="0"/>
              <a:t>모두 </a:t>
            </a:r>
            <a:r>
              <a:rPr lang="en-US" altLang="ko-KR" b="1" dirty="0"/>
              <a:t>0</a:t>
            </a:r>
            <a:r>
              <a:rPr lang="ko-KR" altLang="en-US" b="1" dirty="0"/>
              <a:t>이 아니고 상당히 거리가 있음</a:t>
            </a:r>
            <a:endParaRPr lang="en-US" altLang="ko-KR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C4E2FC6-68A7-434F-9E7E-4950EE7DD7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2776"/>
            <a:ext cx="9144000" cy="54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5859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405CD2-4CF9-40FB-958D-870C2C7057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4825"/>
            <a:ext cx="9144000" cy="548317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7705D7-E779-4E74-9EA9-A394A22B43DB}"/>
              </a:ext>
            </a:extLst>
          </p:cNvPr>
          <p:cNvSpPr txBox="1"/>
          <p:nvPr/>
        </p:nvSpPr>
        <p:spPr>
          <a:xfrm>
            <a:off x="251520" y="116632"/>
            <a:ext cx="8712968" cy="1334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100" b="1" dirty="0"/>
              <a:t>Case 3 : Group Decision </a:t>
            </a:r>
            <a:r>
              <a:rPr lang="ko-KR" altLang="en-US" sz="1100" b="1" dirty="0"/>
              <a:t>이 </a:t>
            </a:r>
            <a:r>
              <a:rPr lang="en-US" altLang="ko-KR" sz="1100" b="1" dirty="0"/>
              <a:t>Low</a:t>
            </a:r>
            <a:r>
              <a:rPr lang="ko-KR" altLang="en-US" sz="1100" b="1" dirty="0"/>
              <a:t>에 더 </a:t>
            </a:r>
            <a:r>
              <a:rPr lang="en-US" altLang="ko-KR" sz="1100" b="1" dirty="0"/>
              <a:t> </a:t>
            </a:r>
            <a:r>
              <a:rPr lang="ko-KR" altLang="en-US" sz="1100" b="1" dirty="0"/>
              <a:t>가까운 경우</a:t>
            </a:r>
            <a:br>
              <a:rPr lang="en-US" altLang="ko-KR" sz="1100" b="1" dirty="0"/>
            </a:br>
            <a:r>
              <a:rPr lang="ko-KR" altLang="en-US" sz="1100" b="1" dirty="0"/>
              <a:t>즉 </a:t>
            </a:r>
            <a:r>
              <a:rPr lang="en-US" altLang="ko-KR" sz="1100" b="1" dirty="0"/>
              <a:t>CCEI_H &gt;&gt;&gt;&gt;&gt; CCEI_G &gt; CCEI_L </a:t>
            </a:r>
            <a:r>
              <a:rPr lang="ko-KR" altLang="en-US" sz="1100" b="1" dirty="0"/>
              <a:t>인데</a:t>
            </a:r>
            <a:r>
              <a:rPr lang="en-US" altLang="ko-KR" sz="1100" b="1" dirty="0"/>
              <a:t>,    </a:t>
            </a:r>
            <a:r>
              <a:rPr lang="ko-KR" altLang="en-US" sz="1100" b="1" dirty="0"/>
              <a:t>정작 </a:t>
            </a:r>
            <a:r>
              <a:rPr lang="en-US" altLang="ko-KR" sz="1100" b="1" dirty="0"/>
              <a:t>CCEI_HG &gt; CCEI_LG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다시 말하면</a:t>
            </a:r>
            <a:r>
              <a:rPr lang="en-US" altLang="ko-KR" sz="1100" b="1" dirty="0"/>
              <a:t>, Group </a:t>
            </a:r>
            <a:r>
              <a:rPr lang="ko-KR" altLang="en-US" sz="1100" b="1" dirty="0"/>
              <a:t>에 심각한 </a:t>
            </a:r>
            <a:r>
              <a:rPr lang="en-US" altLang="ko-KR" sz="1100" b="1" dirty="0"/>
              <a:t>Violation </a:t>
            </a:r>
            <a:r>
              <a:rPr lang="ko-KR" altLang="en-US" sz="1100" b="1" dirty="0"/>
              <a:t>이 있으나</a:t>
            </a:r>
            <a:r>
              <a:rPr lang="en-US" altLang="ko-KR" sz="1100" b="1" dirty="0"/>
              <a:t>,  Index</a:t>
            </a:r>
            <a:r>
              <a:rPr lang="ko-KR" altLang="en-US" sz="1100" b="1" dirty="0"/>
              <a:t>를 </a:t>
            </a:r>
            <a:r>
              <a:rPr lang="en-US" altLang="ko-KR" sz="1100" b="1" dirty="0"/>
              <a:t>0</a:t>
            </a:r>
            <a:r>
              <a:rPr lang="ko-KR" altLang="en-US" sz="1100" b="1" dirty="0"/>
              <a:t>으로 만들 정도로 심각하지는 않음</a:t>
            </a:r>
            <a:r>
              <a:rPr lang="en-US" altLang="ko-KR" sz="1100" b="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즉 </a:t>
            </a:r>
            <a:r>
              <a:rPr lang="en-US" altLang="ko-KR" sz="1100" b="1" dirty="0"/>
              <a:t>CCEI_HG</a:t>
            </a:r>
            <a:r>
              <a:rPr lang="ko-KR" altLang="en-US" sz="1100" b="1" dirty="0"/>
              <a:t>를 상당히 낮출만큼 큰 </a:t>
            </a:r>
            <a:r>
              <a:rPr lang="en-US" altLang="ko-KR" sz="1100" b="1" dirty="0"/>
              <a:t>Violation </a:t>
            </a:r>
            <a:r>
              <a:rPr lang="ko-KR" altLang="en-US" sz="1100" b="1" dirty="0"/>
              <a:t>이지만</a:t>
            </a:r>
            <a:r>
              <a:rPr lang="en-US" altLang="ko-KR" sz="1100" b="1" dirty="0"/>
              <a:t>, CCEI_LG </a:t>
            </a:r>
            <a:r>
              <a:rPr lang="ko-KR" altLang="en-US" sz="1100" b="1" dirty="0"/>
              <a:t>는 그보다도 더 낮다</a:t>
            </a:r>
            <a:r>
              <a:rPr lang="en-US" altLang="ko-KR" sz="1100" b="1" dirty="0"/>
              <a:t>.  </a:t>
            </a:r>
            <a:r>
              <a:rPr lang="ko-KR" altLang="en-US" sz="1100" b="1" dirty="0"/>
              <a:t>왜냐하면 </a:t>
            </a:r>
            <a:r>
              <a:rPr lang="en-US" altLang="ko-KR" sz="1100" b="1" dirty="0"/>
              <a:t>CCEI_L</a:t>
            </a:r>
            <a:r>
              <a:rPr lang="ko-KR" altLang="en-US" sz="1100" b="1" dirty="0"/>
              <a:t>에서는 더 심각한 </a:t>
            </a:r>
            <a:r>
              <a:rPr lang="en-US" altLang="ko-KR" sz="1100" b="1" dirty="0"/>
              <a:t>Violation </a:t>
            </a:r>
            <a:r>
              <a:rPr lang="ko-KR" altLang="en-US" sz="1100" b="1" dirty="0"/>
              <a:t>이 있기 때문</a:t>
            </a:r>
            <a:r>
              <a:rPr lang="en-US" altLang="ko-KR" sz="1100" b="1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100" b="1" dirty="0"/>
              <a:t>이 경우 </a:t>
            </a:r>
            <a:r>
              <a:rPr lang="en-US" altLang="ko-KR" sz="1100" b="1" dirty="0"/>
              <a:t>CCEI_G = CCEI_HG &gt; CCEI_LG </a:t>
            </a:r>
            <a:r>
              <a:rPr lang="ko-KR" altLang="en-US" sz="1100" b="1" dirty="0"/>
              <a:t>이므로 </a:t>
            </a:r>
            <a:r>
              <a:rPr lang="en-US" altLang="ko-KR" sz="1100" b="1" dirty="0"/>
              <a:t>I_HG = 0,  I_LG &gt; 0</a:t>
            </a:r>
          </a:p>
        </p:txBody>
      </p:sp>
    </p:spTree>
    <p:extLst>
      <p:ext uri="{BB962C8B-B14F-4D97-AF65-F5344CB8AC3E}">
        <p14:creationId xmlns:p14="http://schemas.microsoft.com/office/powerpoint/2010/main" val="2371093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0218A7B-AEE0-4987-A124-6CF7B45D7235}"/>
              </a:ext>
            </a:extLst>
          </p:cNvPr>
          <p:cNvSpPr txBox="1"/>
          <p:nvPr/>
        </p:nvSpPr>
        <p:spPr>
          <a:xfrm>
            <a:off x="467544" y="404664"/>
            <a:ext cx="8136904" cy="87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dirty="0"/>
              <a:t>Case 4 : </a:t>
            </a:r>
            <a:r>
              <a:rPr lang="en-US" altLang="ko-KR" b="1" dirty="0"/>
              <a:t>High,</a:t>
            </a:r>
            <a:r>
              <a:rPr lang="ko-KR" altLang="en-US" b="1" dirty="0"/>
              <a:t> </a:t>
            </a:r>
            <a:r>
              <a:rPr lang="en-US" altLang="ko-KR" b="1" dirty="0"/>
              <a:t>Low</a:t>
            </a:r>
            <a:r>
              <a:rPr lang="ko-KR" altLang="en-US" b="1" dirty="0"/>
              <a:t>가 거의 똑같이 합리적이고</a:t>
            </a:r>
            <a:r>
              <a:rPr lang="en-US" altLang="ko-KR" b="1" dirty="0"/>
              <a:t>, Group </a:t>
            </a:r>
            <a:r>
              <a:rPr lang="ko-KR" altLang="en-US" b="1" dirty="0"/>
              <a:t>도 합리적인 경우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단 </a:t>
            </a:r>
            <a:r>
              <a:rPr lang="en-US" altLang="ko-KR" b="1" dirty="0"/>
              <a:t>Low</a:t>
            </a:r>
            <a:r>
              <a:rPr lang="ko-KR" altLang="en-US" b="1" dirty="0"/>
              <a:t>가 </a:t>
            </a:r>
            <a:r>
              <a:rPr lang="en-US" altLang="ko-KR" b="1" dirty="0"/>
              <a:t>High </a:t>
            </a:r>
            <a:r>
              <a:rPr lang="ko-KR" altLang="en-US" b="1" dirty="0"/>
              <a:t>보다는 아주 조금 덜 합리적이라서 </a:t>
            </a:r>
            <a:r>
              <a:rPr lang="en-US" altLang="ko-KR" b="1" dirty="0"/>
              <a:t>CCEI_HG &gt; CCEI_LG </a:t>
            </a:r>
            <a:r>
              <a:rPr lang="ko-KR" altLang="en-US" b="1" dirty="0"/>
              <a:t>가 성립</a:t>
            </a:r>
            <a:r>
              <a:rPr lang="en-US" altLang="ko-KR" b="1" dirty="0"/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7ADF026-984B-4A7F-B0D2-873C997762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82790"/>
            <a:ext cx="9144000" cy="54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581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2C5DB84-489D-4F9D-A783-0740F84AA85B}"/>
              </a:ext>
            </a:extLst>
          </p:cNvPr>
          <p:cNvSpPr txBox="1"/>
          <p:nvPr/>
        </p:nvSpPr>
        <p:spPr>
          <a:xfrm>
            <a:off x="467544" y="404664"/>
            <a:ext cx="8136904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dirty="0"/>
              <a:t>Case 5 : </a:t>
            </a:r>
            <a:r>
              <a:rPr lang="en-US" altLang="ko-KR" b="1" dirty="0"/>
              <a:t>High,</a:t>
            </a:r>
            <a:r>
              <a:rPr lang="ko-KR" altLang="en-US" b="1" dirty="0"/>
              <a:t> </a:t>
            </a:r>
            <a:r>
              <a:rPr lang="en-US" altLang="ko-KR" b="1" dirty="0"/>
              <a:t>Low </a:t>
            </a:r>
            <a:r>
              <a:rPr lang="ko-KR" altLang="en-US" b="1" dirty="0"/>
              <a:t>개인 결정보다 </a:t>
            </a:r>
            <a:r>
              <a:rPr lang="en-US" altLang="ko-KR" b="1" dirty="0"/>
              <a:t>Group </a:t>
            </a:r>
            <a:r>
              <a:rPr lang="ko-KR" altLang="en-US" b="1" dirty="0"/>
              <a:t>이 훨씬 비합리적인 경우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즉 </a:t>
            </a:r>
            <a:r>
              <a:rPr lang="en-US" altLang="ko-KR" b="1" dirty="0"/>
              <a:t>CCEI_H &gt; CCEI_L &gt;&gt;&gt;&gt;&gt;&gt; CCEI_G (</a:t>
            </a:r>
            <a:r>
              <a:rPr lang="ko-KR" altLang="en-US" b="1" dirty="0"/>
              <a:t>큰 틀에서</a:t>
            </a:r>
            <a:r>
              <a:rPr lang="en-US" altLang="ko-KR" b="1" dirty="0"/>
              <a:t>, Case 3</a:t>
            </a:r>
            <a:r>
              <a:rPr lang="ko-KR" altLang="en-US" b="1" dirty="0"/>
              <a:t>에 포함되는 경우입니다</a:t>
            </a:r>
            <a:r>
              <a:rPr lang="en-US" altLang="ko-KR" b="1" dirty="0"/>
              <a:t>.)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3FC8EF-0681-49A1-A332-DC38A2A689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38" y="1285986"/>
            <a:ext cx="9144000" cy="54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50356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E78EF2-FA7D-45F7-8259-CCB54ED57FA5}"/>
              </a:ext>
            </a:extLst>
          </p:cNvPr>
          <p:cNvSpPr txBox="1"/>
          <p:nvPr/>
        </p:nvSpPr>
        <p:spPr>
          <a:xfrm>
            <a:off x="467544" y="404664"/>
            <a:ext cx="8676456" cy="878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dirty="0"/>
              <a:t>Case 6 : </a:t>
            </a:r>
            <a:r>
              <a:rPr lang="en-US" altLang="ko-KR" b="1" dirty="0"/>
              <a:t>High,</a:t>
            </a:r>
            <a:r>
              <a:rPr lang="ko-KR" altLang="en-US" b="1" dirty="0"/>
              <a:t> </a:t>
            </a:r>
            <a:r>
              <a:rPr lang="en-US" altLang="ko-KR" b="1" dirty="0"/>
              <a:t>Low </a:t>
            </a:r>
            <a:r>
              <a:rPr lang="ko-KR" altLang="en-US" b="1" dirty="0"/>
              <a:t>개인 결정보다 </a:t>
            </a:r>
            <a:r>
              <a:rPr lang="en-US" altLang="ko-KR" b="1" dirty="0"/>
              <a:t>Group </a:t>
            </a:r>
            <a:r>
              <a:rPr lang="ko-KR" altLang="en-US" b="1" dirty="0"/>
              <a:t>이 훨씬 합리적인 경우</a:t>
            </a:r>
            <a:endParaRPr lang="en-US" altLang="ko-KR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즉 </a:t>
            </a:r>
            <a:r>
              <a:rPr lang="en-US" altLang="ko-KR" b="1" dirty="0"/>
              <a:t>CCEI_G &gt;&gt;&gt;&gt;&gt;&gt;&gt; CCEI_H &gt; CCEI_L.  </a:t>
            </a:r>
            <a:r>
              <a:rPr lang="ko-KR" altLang="en-US" b="1" dirty="0"/>
              <a:t>자연스럽게 </a:t>
            </a:r>
            <a:r>
              <a:rPr lang="en-US" altLang="ko-KR" b="1" dirty="0" err="1"/>
              <a:t>I_hg</a:t>
            </a:r>
            <a:r>
              <a:rPr lang="en-US" altLang="ko-KR" b="1" dirty="0"/>
              <a:t>, </a:t>
            </a:r>
            <a:r>
              <a:rPr lang="en-US" altLang="ko-KR" b="1" dirty="0" err="1"/>
              <a:t>I_lg</a:t>
            </a:r>
            <a:r>
              <a:rPr lang="en-US" altLang="ko-KR" b="1" dirty="0"/>
              <a:t> </a:t>
            </a:r>
            <a:r>
              <a:rPr lang="ko-KR" altLang="en-US" b="1" dirty="0"/>
              <a:t>모두 </a:t>
            </a:r>
            <a:r>
              <a:rPr lang="en-US" altLang="ko-KR" b="1" dirty="0"/>
              <a:t>0</a:t>
            </a:r>
            <a:r>
              <a:rPr lang="ko-KR" altLang="en-US" b="1" dirty="0"/>
              <a:t>과 상당히 거리 있음</a:t>
            </a:r>
            <a:endParaRPr lang="en-US" altLang="ko-KR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6FA14E7-0B8F-4200-862A-7CBA4DA94A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74825"/>
            <a:ext cx="9144000" cy="54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7572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8C8607-FC18-B2AB-C501-4722535719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ED4EEEB-6776-433C-82C2-4AAD96728B88}"/>
              </a:ext>
            </a:extLst>
          </p:cNvPr>
          <p:cNvSpPr txBox="1"/>
          <p:nvPr/>
        </p:nvSpPr>
        <p:spPr>
          <a:xfrm>
            <a:off x="467544" y="404665"/>
            <a:ext cx="8496944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800" b="1" dirty="0"/>
              <a:t>Case 7 : </a:t>
            </a:r>
            <a:r>
              <a:rPr lang="ko-KR" altLang="en-US" sz="1800" b="1" dirty="0"/>
              <a:t>둘 모두 매우 합리적인데</a:t>
            </a:r>
            <a:r>
              <a:rPr lang="en-US" altLang="ko-KR" sz="1800" b="1" dirty="0"/>
              <a:t>, </a:t>
            </a:r>
            <a:r>
              <a:rPr lang="ko-KR" altLang="en-US" sz="1800" b="1" dirty="0"/>
              <a:t>그 중 한명이 양보하고</a:t>
            </a:r>
            <a:endParaRPr lang="en-US" altLang="ko-KR" sz="1800" b="1" dirty="0"/>
          </a:p>
          <a:p>
            <a:pPr>
              <a:lnSpc>
                <a:spcPct val="150000"/>
              </a:lnSpc>
            </a:pPr>
            <a:r>
              <a:rPr lang="ko-KR" altLang="en-US" b="1" dirty="0"/>
              <a:t>다른 한 사람의 결정에만 철저히 따른 경우</a:t>
            </a:r>
            <a:r>
              <a:rPr lang="en-US" altLang="ko-KR" b="1" dirty="0"/>
              <a:t>. CCEI_H = CCEI_L = CCEI_G = 1</a:t>
            </a:r>
            <a:endParaRPr lang="en-US" altLang="ko-KR" sz="1800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81124F0-BC37-48C6-96C3-C153792555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55" y="1284697"/>
            <a:ext cx="9144000" cy="5483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8955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13509</TotalTime>
  <Words>451</Words>
  <Application>Microsoft Office PowerPoint</Application>
  <PresentationFormat>On-screen Show (4:3)</PresentationFormat>
  <Paragraphs>35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Network Formation in Large Groups: New Tool and Applications</dc:title>
  <dc:creator>Choi Syngjoo</dc:creator>
  <cp:lastModifiedBy>Byunghun Hahn</cp:lastModifiedBy>
  <cp:revision>442</cp:revision>
  <cp:lastPrinted>2020-09-11T00:36:22Z</cp:lastPrinted>
  <dcterms:created xsi:type="dcterms:W3CDTF">2019-11-29T16:58:42Z</dcterms:created>
  <dcterms:modified xsi:type="dcterms:W3CDTF">2025-06-26T07:30:01Z</dcterms:modified>
</cp:coreProperties>
</file>