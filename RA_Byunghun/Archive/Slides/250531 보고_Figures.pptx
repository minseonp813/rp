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653" r:id="rId3"/>
    <p:sldId id="735" r:id="rId4"/>
    <p:sldId id="736" r:id="rId5"/>
    <p:sldId id="707" r:id="rId6"/>
    <p:sldId id="714" r:id="rId7"/>
    <p:sldId id="737" r:id="rId8"/>
    <p:sldId id="738" r:id="rId9"/>
    <p:sldId id="744" r:id="rId10"/>
    <p:sldId id="739" r:id="rId11"/>
    <p:sldId id="741" r:id="rId12"/>
    <p:sldId id="742" r:id="rId13"/>
    <p:sldId id="740" r:id="rId14"/>
    <p:sldId id="743" r:id="rId15"/>
    <p:sldId id="745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yunghun Hahn" initials="BH" lastIdx="1" clrIdx="0">
    <p:extLst>
      <p:ext uri="{19B8F6BF-5375-455C-9EA6-DF929625EA0E}">
        <p15:presenceInfo xmlns:p15="http://schemas.microsoft.com/office/powerpoint/2012/main" userId="5df8f655dd3e21a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52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67" autoAdjust="0"/>
    <p:restoredTop sz="94745" autoAdjust="0"/>
  </p:normalViewPr>
  <p:slideViewPr>
    <p:cSldViewPr snapToGrid="0">
      <p:cViewPr varScale="1">
        <p:scale>
          <a:sx n="86" d="100"/>
          <a:sy n="86" d="100"/>
        </p:scale>
        <p:origin x="195" y="36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8383EF-293D-4EA2-AC03-73DDBE98D37E}" type="datetimeFigureOut">
              <a:rPr lang="ko-KR" altLang="en-US" smtClean="0"/>
              <a:t>2025-05-31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9443E-C4B0-4397-8D74-785696C78C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19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239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023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763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097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5228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4485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2025-05-31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49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2025-05-31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771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2025-05-31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643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2025-05-31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2356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2025-05-31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436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2025-05-31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182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009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480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42B02-ABEC-4C35-B4C6-ED132273360C}" type="datetimeFigureOut">
              <a:rPr lang="ko-KR" altLang="en-US" smtClean="0"/>
              <a:t>2025-05-31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543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>
            <a:alpha val="9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66269" y="1661984"/>
            <a:ext cx="81750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>
                <a:solidFill>
                  <a:schemeClr val="bg1"/>
                </a:solidFill>
                <a:latin typeface="Cambria" panose="02040503050406030204" pitchFamily="18" charset="0"/>
              </a:rPr>
              <a:t>RP </a:t>
            </a:r>
            <a:r>
              <a:rPr lang="ko-KR" altLang="en-US" sz="5400" dirty="0">
                <a:solidFill>
                  <a:schemeClr val="bg1"/>
                </a:solidFill>
                <a:latin typeface="Cambria" panose="02040503050406030204" pitchFamily="18" charset="0"/>
              </a:rPr>
              <a:t>진행상황 보고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6269" y="3099487"/>
            <a:ext cx="81750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Byunghun</a:t>
            </a:r>
            <a:r>
              <a:rPr lang="en-US" altLang="ko-KR" sz="2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Hahn</a:t>
            </a:r>
          </a:p>
          <a:p>
            <a:pPr algn="ctr"/>
            <a:endParaRPr lang="en-US" altLang="ko-KR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altLang="ko-KR" sz="2800">
                <a:solidFill>
                  <a:schemeClr val="bg1"/>
                </a:solidFill>
                <a:latin typeface="Cambria" panose="02040503050406030204" pitchFamily="18" charset="0"/>
              </a:rPr>
              <a:t>2025-05-31</a:t>
            </a:r>
            <a:endParaRPr lang="ko-KR" altLang="en-US" sz="28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121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1. Summary</a:t>
            </a:r>
            <a:endParaRPr lang="ko-KR" altLang="en-US" sz="4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5214" y="1609694"/>
            <a:ext cx="11456830" cy="4126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>
                <a:solidFill>
                  <a:srgbClr val="002060"/>
                </a:solidFill>
              </a:rPr>
              <a:t>전처리</a:t>
            </a:r>
            <a:endParaRPr lang="en-US" altLang="ko-KR" b="1" dirty="0">
              <a:solidFill>
                <a:srgbClr val="002060"/>
              </a:solidFill>
            </a:endParaRPr>
          </a:p>
          <a:p>
            <a:pPr marL="342900" indent="-342900">
              <a:buAutoNum type="arabicPeriod"/>
            </a:pPr>
            <a:endParaRPr lang="en-US" altLang="ko-KR" dirty="0">
              <a:solidFill>
                <a:srgbClr val="002060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rgbClr val="002060"/>
                </a:solidFill>
              </a:rPr>
              <a:t>657</a:t>
            </a:r>
            <a:r>
              <a:rPr lang="ko-KR" altLang="en-US" dirty="0">
                <a:solidFill>
                  <a:srgbClr val="002060"/>
                </a:solidFill>
              </a:rPr>
              <a:t>쌍으로 패널 확정</a:t>
            </a:r>
            <a:r>
              <a:rPr lang="en-US" altLang="ko-KR" dirty="0">
                <a:solidFill>
                  <a:srgbClr val="002060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endParaRPr lang="en-US" altLang="ko-KR" dirty="0">
              <a:solidFill>
                <a:srgbClr val="002060"/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rgbClr val="002060"/>
                </a:solidFill>
              </a:rPr>
              <a:t>일부 문제 있는 쌍들을 박민선 교수님과 추가 확인중이나</a:t>
            </a:r>
            <a:r>
              <a:rPr lang="en-US" altLang="ko-KR" dirty="0">
                <a:solidFill>
                  <a:srgbClr val="002060"/>
                </a:solidFill>
              </a:rPr>
              <a:t>, </a:t>
            </a:r>
            <a:r>
              <a:rPr lang="ko-KR" altLang="en-US" dirty="0">
                <a:solidFill>
                  <a:srgbClr val="002060"/>
                </a:solidFill>
              </a:rPr>
              <a:t>크게 늘어날 것 같지는 않습니다</a:t>
            </a:r>
            <a:r>
              <a:rPr lang="en-US" altLang="ko-KR" dirty="0">
                <a:solidFill>
                  <a:srgbClr val="002060"/>
                </a:solidFill>
              </a:rPr>
              <a:t>.</a:t>
            </a:r>
          </a:p>
          <a:p>
            <a:endParaRPr lang="en-US" altLang="ko-KR" dirty="0">
              <a:solidFill>
                <a:srgbClr val="002060"/>
              </a:solidFill>
            </a:endParaRPr>
          </a:p>
          <a:p>
            <a:endParaRPr lang="en-US" altLang="ko-KR" dirty="0">
              <a:solidFill>
                <a:srgbClr val="002060"/>
              </a:solidFill>
            </a:endParaRPr>
          </a:p>
          <a:p>
            <a:endParaRPr lang="en-US" altLang="ko-KR" dirty="0">
              <a:solidFill>
                <a:srgbClr val="002060"/>
              </a:solidFill>
            </a:endParaRPr>
          </a:p>
          <a:p>
            <a:endParaRPr lang="en-US" altLang="ko-KR" dirty="0">
              <a:solidFill>
                <a:srgbClr val="002060"/>
              </a:solidFill>
            </a:endParaRPr>
          </a:p>
          <a:p>
            <a:r>
              <a:rPr lang="en-US" altLang="ko-KR" b="1" dirty="0">
                <a:solidFill>
                  <a:srgbClr val="002060"/>
                </a:solidFill>
              </a:rPr>
              <a:t>2. </a:t>
            </a:r>
            <a:r>
              <a:rPr lang="en-US" altLang="ko-KR" b="1" dirty="0" err="1">
                <a:solidFill>
                  <a:srgbClr val="002060"/>
                </a:solidFill>
              </a:rPr>
              <a:t>CCEI_g</a:t>
            </a:r>
            <a:r>
              <a:rPr lang="ko-KR" altLang="en-US" b="1" dirty="0">
                <a:solidFill>
                  <a:srgbClr val="002060"/>
                </a:solidFill>
              </a:rPr>
              <a:t> </a:t>
            </a:r>
            <a:r>
              <a:rPr lang="en-US" altLang="ko-KR" b="1" dirty="0">
                <a:solidFill>
                  <a:srgbClr val="002060"/>
                </a:solidFill>
              </a:rPr>
              <a:t>= </a:t>
            </a:r>
            <a:r>
              <a:rPr lang="en-US" altLang="ko-KR" b="1" dirty="0" err="1">
                <a:solidFill>
                  <a:srgbClr val="002060"/>
                </a:solidFill>
              </a:rPr>
              <a:t>CCEI_hlg</a:t>
            </a:r>
            <a:r>
              <a:rPr lang="en-US" altLang="ko-KR" b="1" dirty="0">
                <a:solidFill>
                  <a:srgbClr val="002060"/>
                </a:solidFill>
              </a:rPr>
              <a:t> </a:t>
            </a:r>
            <a:r>
              <a:rPr lang="ko-KR" altLang="en-US" b="1" dirty="0">
                <a:solidFill>
                  <a:srgbClr val="002060"/>
                </a:solidFill>
              </a:rPr>
              <a:t>인 쌍은 기존에 </a:t>
            </a:r>
            <a:r>
              <a:rPr lang="en-US" altLang="ko-KR" b="1" dirty="0">
                <a:solidFill>
                  <a:srgbClr val="002060"/>
                </a:solidFill>
              </a:rPr>
              <a:t>59</a:t>
            </a:r>
            <a:r>
              <a:rPr lang="ko-KR" altLang="en-US" b="1" dirty="0">
                <a:solidFill>
                  <a:srgbClr val="002060"/>
                </a:solidFill>
              </a:rPr>
              <a:t>쌍이었으나 </a:t>
            </a:r>
            <a:r>
              <a:rPr lang="en-US" altLang="ko-KR" b="1" dirty="0">
                <a:solidFill>
                  <a:srgbClr val="002060"/>
                </a:solidFill>
              </a:rPr>
              <a:t>(786</a:t>
            </a:r>
            <a:r>
              <a:rPr lang="ko-KR" altLang="en-US" b="1" dirty="0">
                <a:solidFill>
                  <a:srgbClr val="002060"/>
                </a:solidFill>
              </a:rPr>
              <a:t>쌍 중</a:t>
            </a:r>
            <a:r>
              <a:rPr lang="en-US" altLang="ko-KR" b="1" dirty="0">
                <a:solidFill>
                  <a:srgbClr val="002060"/>
                </a:solidFill>
              </a:rPr>
              <a:t>) </a:t>
            </a:r>
            <a:br>
              <a:rPr lang="en-US" altLang="ko-KR" b="1" dirty="0">
                <a:solidFill>
                  <a:srgbClr val="002060"/>
                </a:solidFill>
              </a:rPr>
            </a:br>
            <a:r>
              <a:rPr lang="en-US" altLang="ko-KR" b="1" dirty="0">
                <a:solidFill>
                  <a:srgbClr val="002060"/>
                </a:solidFill>
              </a:rPr>
              <a:t>   </a:t>
            </a:r>
            <a:br>
              <a:rPr lang="en-US" altLang="ko-KR" b="1" dirty="0">
                <a:solidFill>
                  <a:srgbClr val="002060"/>
                </a:solidFill>
              </a:rPr>
            </a:br>
            <a:r>
              <a:rPr lang="en-US" altLang="ko-KR" b="1" dirty="0">
                <a:solidFill>
                  <a:srgbClr val="002060"/>
                </a:solidFill>
              </a:rPr>
              <a:t>- </a:t>
            </a:r>
            <a:r>
              <a:rPr lang="ko-KR" altLang="en-US" dirty="0">
                <a:solidFill>
                  <a:srgbClr val="002060"/>
                </a:solidFill>
              </a:rPr>
              <a:t>패널에 속한 그룹 기준으로는 </a:t>
            </a:r>
            <a:r>
              <a:rPr lang="en-US" altLang="ko-KR" dirty="0">
                <a:solidFill>
                  <a:srgbClr val="002060"/>
                </a:solidFill>
              </a:rPr>
              <a:t>baseline 51</a:t>
            </a:r>
            <a:r>
              <a:rPr lang="ko-KR" altLang="en-US" dirty="0">
                <a:solidFill>
                  <a:srgbClr val="002060"/>
                </a:solidFill>
              </a:rPr>
              <a:t>쌍</a:t>
            </a:r>
            <a:r>
              <a:rPr lang="en-US" altLang="ko-KR" dirty="0">
                <a:solidFill>
                  <a:srgbClr val="002060"/>
                </a:solidFill>
              </a:rPr>
              <a:t>, </a:t>
            </a:r>
            <a:r>
              <a:rPr lang="ko-KR" altLang="en-US" dirty="0">
                <a:solidFill>
                  <a:srgbClr val="002060"/>
                </a:solidFill>
              </a:rPr>
              <a:t> </a:t>
            </a:r>
            <a:r>
              <a:rPr lang="en-US" altLang="ko-KR" dirty="0" err="1">
                <a:solidFill>
                  <a:srgbClr val="002060"/>
                </a:solidFill>
              </a:rPr>
              <a:t>endline</a:t>
            </a:r>
            <a:r>
              <a:rPr lang="en-US" altLang="ko-KR" dirty="0">
                <a:solidFill>
                  <a:srgbClr val="002060"/>
                </a:solidFill>
              </a:rPr>
              <a:t> 50</a:t>
            </a:r>
            <a:r>
              <a:rPr lang="ko-KR" altLang="en-US" dirty="0">
                <a:solidFill>
                  <a:srgbClr val="002060"/>
                </a:solidFill>
              </a:rPr>
              <a:t>쌍</a:t>
            </a:r>
            <a:r>
              <a:rPr lang="en-US" altLang="ko-KR" dirty="0">
                <a:solidFill>
                  <a:srgbClr val="002060"/>
                </a:solidFill>
              </a:rPr>
              <a:t>. </a:t>
            </a:r>
            <a:br>
              <a:rPr lang="en-US" altLang="ko-KR" dirty="0">
                <a:solidFill>
                  <a:srgbClr val="002060"/>
                </a:solidFill>
              </a:rPr>
            </a:br>
            <a:r>
              <a:rPr lang="en-US" altLang="ko-KR" dirty="0">
                <a:solidFill>
                  <a:srgbClr val="002060"/>
                </a:solidFill>
              </a:rPr>
              <a:t>   </a:t>
            </a:r>
          </a:p>
          <a:p>
            <a:r>
              <a:rPr lang="en-US" altLang="ko-KR" dirty="0">
                <a:solidFill>
                  <a:srgbClr val="002060"/>
                </a:solidFill>
              </a:rPr>
              <a:t>-</a:t>
            </a:r>
            <a:r>
              <a:rPr lang="ko-KR" altLang="en-US" dirty="0">
                <a:solidFill>
                  <a:srgbClr val="002060"/>
                </a:solidFill>
              </a:rPr>
              <a:t> 그런데 두 시점에 모두 </a:t>
            </a:r>
            <a:r>
              <a:rPr lang="en-US" altLang="ko-KR" dirty="0" err="1">
                <a:solidFill>
                  <a:srgbClr val="002060"/>
                </a:solidFill>
              </a:rPr>
              <a:t>CCEI_g</a:t>
            </a:r>
            <a:r>
              <a:rPr lang="ko-KR" altLang="en-US" dirty="0">
                <a:solidFill>
                  <a:srgbClr val="002060"/>
                </a:solidFill>
              </a:rPr>
              <a:t> </a:t>
            </a:r>
            <a:r>
              <a:rPr lang="en-US" altLang="ko-KR" dirty="0">
                <a:solidFill>
                  <a:srgbClr val="002060"/>
                </a:solidFill>
              </a:rPr>
              <a:t>= </a:t>
            </a:r>
            <a:r>
              <a:rPr lang="en-US" altLang="ko-KR" dirty="0" err="1">
                <a:solidFill>
                  <a:srgbClr val="002060"/>
                </a:solidFill>
              </a:rPr>
              <a:t>CCEI_hlg</a:t>
            </a:r>
            <a:r>
              <a:rPr lang="ko-KR" altLang="en-US" dirty="0">
                <a:solidFill>
                  <a:srgbClr val="002060"/>
                </a:solidFill>
              </a:rPr>
              <a:t> 인 그룹은 </a:t>
            </a:r>
            <a:r>
              <a:rPr lang="en-US" altLang="ko-KR" dirty="0">
                <a:solidFill>
                  <a:srgbClr val="002060"/>
                </a:solidFill>
              </a:rPr>
              <a:t>6</a:t>
            </a:r>
            <a:r>
              <a:rPr lang="ko-KR" altLang="en-US" dirty="0">
                <a:solidFill>
                  <a:srgbClr val="002060"/>
                </a:solidFill>
              </a:rPr>
              <a:t>쌍 뿐</a:t>
            </a:r>
            <a:r>
              <a:rPr lang="en-US" altLang="ko-KR" dirty="0">
                <a:solidFill>
                  <a:srgbClr val="002060"/>
                </a:solidFill>
              </a:rPr>
              <a:t>…. Baseline/ </a:t>
            </a:r>
            <a:r>
              <a:rPr lang="en-US" altLang="ko-KR" dirty="0" err="1">
                <a:solidFill>
                  <a:srgbClr val="002060"/>
                </a:solidFill>
              </a:rPr>
              <a:t>Endline</a:t>
            </a:r>
            <a:r>
              <a:rPr lang="ko-KR" altLang="en-US" dirty="0">
                <a:solidFill>
                  <a:srgbClr val="002060"/>
                </a:solidFill>
              </a:rPr>
              <a:t>이 별로 겹치지 않습니다</a:t>
            </a:r>
            <a:r>
              <a:rPr lang="en-US" altLang="ko-KR" dirty="0">
                <a:solidFill>
                  <a:srgbClr val="00206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5741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2. Distribution of </a:t>
            </a:r>
            <a:r>
              <a:rPr lang="en-US" altLang="ko-KR" sz="4400" dirty="0" err="1">
                <a:solidFill>
                  <a:schemeClr val="bg1"/>
                </a:solidFill>
                <a:latin typeface="Cambria" panose="02040503050406030204" pitchFamily="18" charset="0"/>
              </a:rPr>
              <a:t>I_hg</a:t>
            </a:r>
            <a:endParaRPr lang="ko-KR" altLang="en-US" sz="4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4CB977-2A63-4566-B43E-EE5BFA5A4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7103"/>
            <a:ext cx="6162502" cy="41973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52BD24-16DE-4918-B555-7CEEF894B3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851" y="1237103"/>
            <a:ext cx="6162502" cy="41973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FFFB91-4279-46C6-A198-4CB9EC00C7DF}"/>
              </a:ext>
            </a:extLst>
          </p:cNvPr>
          <p:cNvSpPr txBox="1"/>
          <p:nvPr/>
        </p:nvSpPr>
        <p:spPr>
          <a:xfrm>
            <a:off x="6706818" y="5549556"/>
            <a:ext cx="4699462" cy="783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C00000"/>
                </a:solidFill>
              </a:rPr>
              <a:t>0 : high</a:t>
            </a:r>
            <a:r>
              <a:rPr lang="ko-KR" altLang="en-US" sz="1600" b="1" dirty="0">
                <a:solidFill>
                  <a:srgbClr val="C00000"/>
                </a:solidFill>
              </a:rPr>
              <a:t>가 </a:t>
            </a:r>
            <a:r>
              <a:rPr lang="en-US" altLang="ko-KR" sz="1600" b="1" dirty="0">
                <a:solidFill>
                  <a:srgbClr val="C00000"/>
                </a:solidFill>
              </a:rPr>
              <a:t>low</a:t>
            </a:r>
            <a:r>
              <a:rPr lang="ko-KR" altLang="en-US" sz="1600" b="1" dirty="0">
                <a:solidFill>
                  <a:srgbClr val="C00000"/>
                </a:solidFill>
              </a:rPr>
              <a:t>보다 확실히 합리적인 학생인 경우</a:t>
            </a:r>
            <a:br>
              <a:rPr lang="en-US" altLang="ko-KR" sz="1600" b="1" dirty="0">
                <a:solidFill>
                  <a:srgbClr val="C00000"/>
                </a:solidFill>
              </a:rPr>
            </a:br>
            <a:r>
              <a:rPr lang="en-US" altLang="ko-KR" sz="1600" b="1" dirty="0" err="1">
                <a:solidFill>
                  <a:srgbClr val="C00000"/>
                </a:solidFill>
              </a:rPr>
              <a:t>endline</a:t>
            </a:r>
            <a:r>
              <a:rPr lang="en-US" altLang="ko-KR" sz="1600" b="1" dirty="0">
                <a:solidFill>
                  <a:srgbClr val="C00000"/>
                </a:solidFill>
              </a:rPr>
              <a:t> </a:t>
            </a:r>
            <a:r>
              <a:rPr lang="ko-KR" altLang="en-US" sz="1600" b="1" dirty="0">
                <a:solidFill>
                  <a:srgbClr val="C00000"/>
                </a:solidFill>
              </a:rPr>
              <a:t>에서 이러한 경우가 늘어나는 모습</a:t>
            </a:r>
            <a:endParaRPr lang="en-US" altLang="ko-KR" sz="1600" b="1" dirty="0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4C2204-55FE-4917-B6A0-7EF3420EAABA}"/>
              </a:ext>
            </a:extLst>
          </p:cNvPr>
          <p:cNvSpPr txBox="1"/>
          <p:nvPr/>
        </p:nvSpPr>
        <p:spPr>
          <a:xfrm>
            <a:off x="581875" y="5590360"/>
            <a:ext cx="5430982" cy="783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err="1">
                <a:solidFill>
                  <a:srgbClr val="002060"/>
                </a:solidFill>
              </a:rPr>
              <a:t>I_h,g</a:t>
            </a:r>
            <a:r>
              <a:rPr lang="en-US" altLang="ko-KR" sz="1600" b="1" dirty="0">
                <a:solidFill>
                  <a:srgbClr val="002060"/>
                </a:solidFill>
              </a:rPr>
              <a:t> = (</a:t>
            </a:r>
            <a:r>
              <a:rPr lang="en-US" altLang="ko-KR" sz="1600" b="1" dirty="0" err="1">
                <a:solidFill>
                  <a:srgbClr val="002060"/>
                </a:solidFill>
              </a:rPr>
              <a:t>CCEI_g</a:t>
            </a:r>
            <a:r>
              <a:rPr lang="en-US" altLang="ko-KR" sz="1600" b="1" dirty="0">
                <a:solidFill>
                  <a:srgbClr val="002060"/>
                </a:solidFill>
              </a:rPr>
              <a:t> - </a:t>
            </a:r>
            <a:r>
              <a:rPr lang="en-US" altLang="ko-KR" sz="1600" b="1" dirty="0" err="1">
                <a:solidFill>
                  <a:srgbClr val="002060"/>
                </a:solidFill>
              </a:rPr>
              <a:t>CCEI_hg</a:t>
            </a:r>
            <a:r>
              <a:rPr lang="en-US" altLang="ko-KR" sz="1600" b="1" dirty="0">
                <a:solidFill>
                  <a:srgbClr val="002060"/>
                </a:solidFill>
              </a:rPr>
              <a:t>) / (</a:t>
            </a:r>
            <a:r>
              <a:rPr lang="en-US" altLang="ko-KR" sz="1600" b="1" dirty="0" err="1">
                <a:solidFill>
                  <a:srgbClr val="002060"/>
                </a:solidFill>
              </a:rPr>
              <a:t>CCEI_g</a:t>
            </a:r>
            <a:r>
              <a:rPr lang="en-US" altLang="ko-KR" sz="1600" b="1" dirty="0">
                <a:solidFill>
                  <a:srgbClr val="002060"/>
                </a:solidFill>
              </a:rPr>
              <a:t> - </a:t>
            </a:r>
            <a:r>
              <a:rPr lang="en-US" altLang="ko-KR" sz="1600" b="1" dirty="0" err="1">
                <a:solidFill>
                  <a:srgbClr val="002060"/>
                </a:solidFill>
              </a:rPr>
              <a:t>CCEI_hlg</a:t>
            </a:r>
            <a:r>
              <a:rPr lang="en-US" altLang="ko-KR" sz="1600" b="1" dirty="0">
                <a:solidFill>
                  <a:srgbClr val="002060"/>
                </a:solidFill>
              </a:rPr>
              <a:t>)</a:t>
            </a:r>
            <a:br>
              <a:rPr lang="en-US" altLang="ko-KR" sz="1600" b="1" dirty="0">
                <a:solidFill>
                  <a:srgbClr val="002060"/>
                </a:solidFill>
              </a:rPr>
            </a:br>
            <a:r>
              <a:rPr lang="ko-KR" altLang="en-US" sz="1600" b="1" dirty="0">
                <a:solidFill>
                  <a:srgbClr val="002060"/>
                </a:solidFill>
              </a:rPr>
              <a:t>분모가 </a:t>
            </a:r>
            <a:r>
              <a:rPr lang="en-US" altLang="ko-KR" sz="1600" b="1" dirty="0">
                <a:solidFill>
                  <a:srgbClr val="002060"/>
                </a:solidFill>
              </a:rPr>
              <a:t>0</a:t>
            </a:r>
            <a:r>
              <a:rPr lang="ko-KR" altLang="en-US" sz="1600" b="1" dirty="0">
                <a:solidFill>
                  <a:srgbClr val="002060"/>
                </a:solidFill>
              </a:rPr>
              <a:t>인 경우 </a:t>
            </a:r>
            <a:r>
              <a:rPr lang="en-US" altLang="ko-KR" sz="1600" b="1" dirty="0">
                <a:solidFill>
                  <a:srgbClr val="002060"/>
                </a:solidFill>
              </a:rPr>
              <a:t>(</a:t>
            </a:r>
            <a:r>
              <a:rPr lang="en-US" altLang="ko-KR" sz="1600" b="1" dirty="0">
                <a:solidFill>
                  <a:srgbClr val="C00000"/>
                </a:solidFill>
              </a:rPr>
              <a:t>51, 50</a:t>
            </a:r>
            <a:r>
              <a:rPr lang="ko-KR" altLang="en-US" sz="1600" b="1" dirty="0">
                <a:solidFill>
                  <a:srgbClr val="C00000"/>
                </a:solidFill>
              </a:rPr>
              <a:t>쌍</a:t>
            </a:r>
            <a:r>
              <a:rPr lang="en-US" altLang="ko-KR" sz="1600" b="1" dirty="0">
                <a:solidFill>
                  <a:srgbClr val="002060"/>
                </a:solidFill>
              </a:rPr>
              <a:t>)</a:t>
            </a:r>
            <a:r>
              <a:rPr lang="ko-KR" altLang="en-US" sz="1600" b="1" dirty="0">
                <a:solidFill>
                  <a:srgbClr val="002060"/>
                </a:solidFill>
              </a:rPr>
              <a:t>는 그림에서 제외</a:t>
            </a:r>
            <a:endParaRPr lang="en-US" altLang="ko-KR" sz="1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1282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2. Distribution of </a:t>
            </a:r>
            <a:r>
              <a:rPr lang="en-US" altLang="ko-KR" sz="4400" dirty="0" err="1">
                <a:solidFill>
                  <a:schemeClr val="bg1"/>
                </a:solidFill>
                <a:latin typeface="Cambria" panose="02040503050406030204" pitchFamily="18" charset="0"/>
              </a:rPr>
              <a:t>I_lg</a:t>
            </a:r>
            <a:endParaRPr lang="ko-KR" altLang="en-US" sz="4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4C2204-55FE-4917-B6A0-7EF3420EAABA}"/>
              </a:ext>
            </a:extLst>
          </p:cNvPr>
          <p:cNvSpPr txBox="1"/>
          <p:nvPr/>
        </p:nvSpPr>
        <p:spPr>
          <a:xfrm>
            <a:off x="581875" y="5590360"/>
            <a:ext cx="5430982" cy="783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err="1">
                <a:solidFill>
                  <a:srgbClr val="002060"/>
                </a:solidFill>
              </a:rPr>
              <a:t>I_l,g</a:t>
            </a:r>
            <a:r>
              <a:rPr lang="en-US" altLang="ko-KR" sz="1600" b="1" dirty="0">
                <a:solidFill>
                  <a:srgbClr val="002060"/>
                </a:solidFill>
              </a:rPr>
              <a:t> = (</a:t>
            </a:r>
            <a:r>
              <a:rPr lang="en-US" altLang="ko-KR" sz="1600" b="1" dirty="0" err="1">
                <a:solidFill>
                  <a:srgbClr val="002060"/>
                </a:solidFill>
              </a:rPr>
              <a:t>CCEI_g</a:t>
            </a:r>
            <a:r>
              <a:rPr lang="en-US" altLang="ko-KR" sz="1600" b="1" dirty="0">
                <a:solidFill>
                  <a:srgbClr val="002060"/>
                </a:solidFill>
              </a:rPr>
              <a:t> - </a:t>
            </a:r>
            <a:r>
              <a:rPr lang="en-US" altLang="ko-KR" sz="1600" b="1" dirty="0" err="1">
                <a:solidFill>
                  <a:srgbClr val="002060"/>
                </a:solidFill>
              </a:rPr>
              <a:t>CCEI_lg</a:t>
            </a:r>
            <a:r>
              <a:rPr lang="en-US" altLang="ko-KR" sz="1600" b="1" dirty="0">
                <a:solidFill>
                  <a:srgbClr val="002060"/>
                </a:solidFill>
              </a:rPr>
              <a:t>) / (</a:t>
            </a:r>
            <a:r>
              <a:rPr lang="en-US" altLang="ko-KR" sz="1600" b="1" dirty="0" err="1">
                <a:solidFill>
                  <a:srgbClr val="002060"/>
                </a:solidFill>
              </a:rPr>
              <a:t>CCEI_g</a:t>
            </a:r>
            <a:r>
              <a:rPr lang="en-US" altLang="ko-KR" sz="1600" b="1" dirty="0">
                <a:solidFill>
                  <a:srgbClr val="002060"/>
                </a:solidFill>
              </a:rPr>
              <a:t> - </a:t>
            </a:r>
            <a:r>
              <a:rPr lang="en-US" altLang="ko-KR" sz="1600" b="1" dirty="0" err="1">
                <a:solidFill>
                  <a:srgbClr val="002060"/>
                </a:solidFill>
              </a:rPr>
              <a:t>CCEI_hlg</a:t>
            </a:r>
            <a:r>
              <a:rPr lang="en-US" altLang="ko-KR" sz="1600" b="1" dirty="0">
                <a:solidFill>
                  <a:srgbClr val="002060"/>
                </a:solidFill>
              </a:rPr>
              <a:t>)</a:t>
            </a:r>
            <a:br>
              <a:rPr lang="en-US" altLang="ko-KR" sz="1600" b="1" dirty="0">
                <a:solidFill>
                  <a:srgbClr val="002060"/>
                </a:solidFill>
              </a:rPr>
            </a:br>
            <a:r>
              <a:rPr lang="ko-KR" altLang="en-US" sz="1600" b="1" dirty="0">
                <a:solidFill>
                  <a:srgbClr val="002060"/>
                </a:solidFill>
              </a:rPr>
              <a:t>분모가 </a:t>
            </a:r>
            <a:r>
              <a:rPr lang="en-US" altLang="ko-KR" sz="1600" b="1" dirty="0">
                <a:solidFill>
                  <a:srgbClr val="002060"/>
                </a:solidFill>
              </a:rPr>
              <a:t>0</a:t>
            </a:r>
            <a:r>
              <a:rPr lang="ko-KR" altLang="en-US" sz="1600" b="1" dirty="0">
                <a:solidFill>
                  <a:srgbClr val="002060"/>
                </a:solidFill>
              </a:rPr>
              <a:t>인 경우 </a:t>
            </a:r>
            <a:r>
              <a:rPr lang="en-US" altLang="ko-KR" sz="1600" b="1" dirty="0">
                <a:solidFill>
                  <a:srgbClr val="002060"/>
                </a:solidFill>
              </a:rPr>
              <a:t>(</a:t>
            </a:r>
            <a:r>
              <a:rPr lang="en-US" altLang="ko-KR" sz="1600" b="1" dirty="0">
                <a:solidFill>
                  <a:srgbClr val="C00000"/>
                </a:solidFill>
              </a:rPr>
              <a:t>51, 50</a:t>
            </a:r>
            <a:r>
              <a:rPr lang="ko-KR" altLang="en-US" sz="1600" b="1" dirty="0">
                <a:solidFill>
                  <a:srgbClr val="C00000"/>
                </a:solidFill>
              </a:rPr>
              <a:t>쌍</a:t>
            </a:r>
            <a:r>
              <a:rPr lang="en-US" altLang="ko-KR" sz="1600" b="1" dirty="0">
                <a:solidFill>
                  <a:srgbClr val="002060"/>
                </a:solidFill>
              </a:rPr>
              <a:t>)</a:t>
            </a:r>
            <a:r>
              <a:rPr lang="ko-KR" altLang="en-US" sz="1600" b="1" dirty="0">
                <a:solidFill>
                  <a:srgbClr val="002060"/>
                </a:solidFill>
              </a:rPr>
              <a:t>는 그림에서 제외</a:t>
            </a:r>
            <a:endParaRPr lang="en-US" altLang="ko-KR" sz="1600" b="1" dirty="0">
              <a:solidFill>
                <a:srgbClr val="00206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8C0B037-2635-4094-AAF2-E2C07657F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7102"/>
            <a:ext cx="6162502" cy="41973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594690-4595-4224-BC01-662DBF4150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857" y="1237102"/>
            <a:ext cx="6162502" cy="419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424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3. Graphs</a:t>
            </a:r>
            <a:endParaRPr lang="ko-KR" altLang="en-US" sz="4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05522" y="1380699"/>
            <a:ext cx="26564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002060"/>
                </a:solidFill>
              </a:rPr>
              <a:t>여러 그래프를 그려보면</a:t>
            </a:r>
            <a:endParaRPr lang="en-US" altLang="ko-KR" b="1" dirty="0">
              <a:solidFill>
                <a:srgbClr val="0020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BB47E3-7EDD-4DAA-8B6C-9F0133B032ED}"/>
              </a:ext>
            </a:extLst>
          </p:cNvPr>
          <p:cNvSpPr txBox="1"/>
          <p:nvPr/>
        </p:nvSpPr>
        <p:spPr>
          <a:xfrm>
            <a:off x="505521" y="2049514"/>
            <a:ext cx="10799787" cy="4193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b="1" dirty="0">
                <a:solidFill>
                  <a:srgbClr val="002060"/>
                </a:solidFill>
              </a:rPr>
              <a:t>CCEI</a:t>
            </a:r>
            <a:r>
              <a:rPr lang="ko-KR" altLang="en-US" b="1" dirty="0">
                <a:solidFill>
                  <a:srgbClr val="002060"/>
                </a:solidFill>
              </a:rPr>
              <a:t> 평균 비교</a:t>
            </a:r>
            <a:endParaRPr lang="en-US" altLang="ko-KR" b="1" dirty="0">
              <a:solidFill>
                <a:srgbClr val="002060"/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b="1" dirty="0" err="1">
                <a:solidFill>
                  <a:srgbClr val="002060"/>
                </a:solidFill>
              </a:rPr>
              <a:t>CCEI_i</a:t>
            </a:r>
            <a:r>
              <a:rPr lang="en-US" altLang="ko-KR" b="1" dirty="0">
                <a:solidFill>
                  <a:srgbClr val="002060"/>
                </a:solidFill>
              </a:rPr>
              <a:t> (Baseline)</a:t>
            </a:r>
            <a:r>
              <a:rPr lang="ko-KR" altLang="en-US" b="1" dirty="0">
                <a:solidFill>
                  <a:srgbClr val="002060"/>
                </a:solidFill>
              </a:rPr>
              <a:t> </a:t>
            </a:r>
            <a:r>
              <a:rPr lang="en-US" altLang="ko-KR" b="1" dirty="0">
                <a:solidFill>
                  <a:srgbClr val="002060"/>
                </a:solidFill>
              </a:rPr>
              <a:t>, </a:t>
            </a:r>
            <a:r>
              <a:rPr lang="en-US" altLang="ko-KR" b="1" dirty="0" err="1">
                <a:solidFill>
                  <a:srgbClr val="002060"/>
                </a:solidFill>
              </a:rPr>
              <a:t>CCEI_i</a:t>
            </a:r>
            <a:r>
              <a:rPr lang="en-US" altLang="ko-KR" b="1" dirty="0">
                <a:solidFill>
                  <a:srgbClr val="002060"/>
                </a:solidFill>
              </a:rPr>
              <a:t> (</a:t>
            </a:r>
            <a:r>
              <a:rPr lang="en-US" altLang="ko-KR" b="1" dirty="0" err="1">
                <a:solidFill>
                  <a:srgbClr val="002060"/>
                </a:solidFill>
              </a:rPr>
              <a:t>Endline</a:t>
            </a:r>
            <a:r>
              <a:rPr lang="en-US" altLang="ko-KR" b="1" dirty="0">
                <a:solidFill>
                  <a:srgbClr val="002060"/>
                </a:solidFill>
              </a:rPr>
              <a:t>) </a:t>
            </a:r>
            <a:r>
              <a:rPr lang="en-US" altLang="ko-KR" b="1" dirty="0" err="1">
                <a:solidFill>
                  <a:srgbClr val="002060"/>
                </a:solidFill>
              </a:rPr>
              <a:t>ScatterPlot</a:t>
            </a:r>
            <a:r>
              <a:rPr lang="en-US" altLang="ko-KR" b="1" dirty="0">
                <a:solidFill>
                  <a:srgbClr val="002060"/>
                </a:solidFill>
              </a:rPr>
              <a:t> + </a:t>
            </a:r>
            <a:r>
              <a:rPr lang="ko-KR" altLang="en-US" b="1" dirty="0">
                <a:solidFill>
                  <a:srgbClr val="002060"/>
                </a:solidFill>
              </a:rPr>
              <a:t>추세선</a:t>
            </a:r>
            <a:endParaRPr lang="en-US" altLang="ko-KR" b="1" dirty="0">
              <a:solidFill>
                <a:srgbClr val="002060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ko-KR" b="1" dirty="0" err="1">
                <a:solidFill>
                  <a:srgbClr val="002060"/>
                </a:solidFill>
              </a:rPr>
              <a:t>CCEI_g</a:t>
            </a:r>
            <a:r>
              <a:rPr lang="en-US" altLang="ko-KR" b="1" dirty="0">
                <a:solidFill>
                  <a:srgbClr val="002060"/>
                </a:solidFill>
              </a:rPr>
              <a:t> (Baseline)</a:t>
            </a:r>
            <a:r>
              <a:rPr lang="ko-KR" altLang="en-US" b="1" dirty="0">
                <a:solidFill>
                  <a:srgbClr val="002060"/>
                </a:solidFill>
              </a:rPr>
              <a:t> </a:t>
            </a:r>
            <a:r>
              <a:rPr lang="en-US" altLang="ko-KR" b="1" dirty="0">
                <a:solidFill>
                  <a:srgbClr val="002060"/>
                </a:solidFill>
              </a:rPr>
              <a:t>, </a:t>
            </a:r>
            <a:r>
              <a:rPr lang="en-US" altLang="ko-KR" b="1" dirty="0" err="1">
                <a:solidFill>
                  <a:srgbClr val="002060"/>
                </a:solidFill>
              </a:rPr>
              <a:t>CCEI_g</a:t>
            </a:r>
            <a:r>
              <a:rPr lang="en-US" altLang="ko-KR" b="1" dirty="0">
                <a:solidFill>
                  <a:srgbClr val="002060"/>
                </a:solidFill>
              </a:rPr>
              <a:t> (</a:t>
            </a:r>
            <a:r>
              <a:rPr lang="en-US" altLang="ko-KR" b="1" dirty="0" err="1">
                <a:solidFill>
                  <a:srgbClr val="002060"/>
                </a:solidFill>
              </a:rPr>
              <a:t>Endline</a:t>
            </a:r>
            <a:r>
              <a:rPr lang="en-US" altLang="ko-KR" b="1" dirty="0">
                <a:solidFill>
                  <a:srgbClr val="002060"/>
                </a:solidFill>
              </a:rPr>
              <a:t>) </a:t>
            </a:r>
            <a:r>
              <a:rPr lang="en-US" altLang="ko-KR" b="1" dirty="0" err="1">
                <a:solidFill>
                  <a:srgbClr val="002060"/>
                </a:solidFill>
              </a:rPr>
              <a:t>ScatterPlot</a:t>
            </a:r>
            <a:r>
              <a:rPr lang="en-US" altLang="ko-KR" b="1" dirty="0">
                <a:solidFill>
                  <a:srgbClr val="002060"/>
                </a:solidFill>
              </a:rPr>
              <a:t> + </a:t>
            </a:r>
            <a:r>
              <a:rPr lang="ko-KR" altLang="en-US" b="1" dirty="0">
                <a:solidFill>
                  <a:srgbClr val="002060"/>
                </a:solidFill>
              </a:rPr>
              <a:t>추세선</a:t>
            </a:r>
            <a:endParaRPr lang="en-US" altLang="ko-KR" b="1" dirty="0">
              <a:solidFill>
                <a:srgbClr val="002060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ko-KR" b="1" dirty="0">
                <a:solidFill>
                  <a:srgbClr val="002060"/>
                </a:solidFill>
              </a:rPr>
              <a:t>I_h0g (Baseline), I_h0g (</a:t>
            </a:r>
            <a:r>
              <a:rPr lang="en-US" altLang="ko-KR" b="1" dirty="0" err="1">
                <a:solidFill>
                  <a:srgbClr val="002060"/>
                </a:solidFill>
              </a:rPr>
              <a:t>Endline</a:t>
            </a:r>
            <a:r>
              <a:rPr lang="en-US" altLang="ko-KR" b="1" dirty="0">
                <a:solidFill>
                  <a:srgbClr val="002060"/>
                </a:solidFill>
              </a:rPr>
              <a:t>) </a:t>
            </a:r>
            <a:r>
              <a:rPr lang="en-US" altLang="ko-KR" b="1" dirty="0" err="1">
                <a:solidFill>
                  <a:srgbClr val="002060"/>
                </a:solidFill>
              </a:rPr>
              <a:t>ScatterPlot</a:t>
            </a:r>
            <a:r>
              <a:rPr lang="en-US" altLang="ko-KR" b="1" dirty="0">
                <a:solidFill>
                  <a:srgbClr val="002060"/>
                </a:solidFill>
              </a:rPr>
              <a:t> : ho</a:t>
            </a:r>
            <a:r>
              <a:rPr lang="ko-KR" altLang="en-US" b="1" dirty="0">
                <a:solidFill>
                  <a:srgbClr val="002060"/>
                </a:solidFill>
              </a:rPr>
              <a:t> </a:t>
            </a:r>
            <a:r>
              <a:rPr lang="en-US" altLang="ko-KR" b="1" dirty="0">
                <a:solidFill>
                  <a:srgbClr val="002060"/>
                </a:solidFill>
              </a:rPr>
              <a:t>= high </a:t>
            </a:r>
            <a:r>
              <a:rPr lang="ko-KR" altLang="en-US" b="1" dirty="0">
                <a:solidFill>
                  <a:srgbClr val="002060"/>
                </a:solidFill>
              </a:rPr>
              <a:t>는 </a:t>
            </a:r>
            <a:r>
              <a:rPr lang="en-US" altLang="ko-KR" b="1" dirty="0">
                <a:solidFill>
                  <a:srgbClr val="002060"/>
                </a:solidFill>
              </a:rPr>
              <a:t>Baseline </a:t>
            </a:r>
            <a:r>
              <a:rPr lang="ko-KR" altLang="en-US" b="1" dirty="0">
                <a:solidFill>
                  <a:srgbClr val="002060"/>
                </a:solidFill>
              </a:rPr>
              <a:t>기준으로 결정</a:t>
            </a:r>
            <a:endParaRPr lang="en-US" altLang="ko-KR" b="1" dirty="0">
              <a:solidFill>
                <a:srgbClr val="002060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ko-KR" b="1" dirty="0">
                <a:solidFill>
                  <a:srgbClr val="002060"/>
                </a:solidFill>
              </a:rPr>
              <a:t>I_h1g (Baseline), I_h1g (</a:t>
            </a:r>
            <a:r>
              <a:rPr lang="en-US" altLang="ko-KR" b="1" dirty="0" err="1">
                <a:solidFill>
                  <a:srgbClr val="002060"/>
                </a:solidFill>
              </a:rPr>
              <a:t>Endline</a:t>
            </a:r>
            <a:r>
              <a:rPr lang="en-US" altLang="ko-KR" b="1" dirty="0">
                <a:solidFill>
                  <a:srgbClr val="002060"/>
                </a:solidFill>
              </a:rPr>
              <a:t>) </a:t>
            </a:r>
            <a:r>
              <a:rPr lang="en-US" altLang="ko-KR" b="1" dirty="0" err="1">
                <a:solidFill>
                  <a:srgbClr val="002060"/>
                </a:solidFill>
              </a:rPr>
              <a:t>ScatterPlot</a:t>
            </a:r>
            <a:r>
              <a:rPr lang="en-US" altLang="ko-KR" b="1" dirty="0">
                <a:solidFill>
                  <a:srgbClr val="002060"/>
                </a:solidFill>
              </a:rPr>
              <a:t> : h1 =</a:t>
            </a:r>
            <a:r>
              <a:rPr lang="ko-KR" altLang="en-US" b="1" dirty="0">
                <a:solidFill>
                  <a:srgbClr val="002060"/>
                </a:solidFill>
              </a:rPr>
              <a:t> </a:t>
            </a:r>
            <a:r>
              <a:rPr lang="en-US" altLang="ko-KR" b="1" dirty="0">
                <a:solidFill>
                  <a:srgbClr val="002060"/>
                </a:solidFill>
              </a:rPr>
              <a:t>high </a:t>
            </a:r>
            <a:r>
              <a:rPr lang="ko-KR" altLang="en-US" b="1" dirty="0">
                <a:solidFill>
                  <a:srgbClr val="002060"/>
                </a:solidFill>
              </a:rPr>
              <a:t>는 </a:t>
            </a:r>
            <a:r>
              <a:rPr lang="en-US" altLang="ko-KR" b="1" dirty="0" err="1">
                <a:solidFill>
                  <a:srgbClr val="002060"/>
                </a:solidFill>
              </a:rPr>
              <a:t>Endline</a:t>
            </a:r>
            <a:r>
              <a:rPr lang="en-US" altLang="ko-KR" b="1" dirty="0">
                <a:solidFill>
                  <a:srgbClr val="002060"/>
                </a:solidFill>
              </a:rPr>
              <a:t> </a:t>
            </a:r>
            <a:r>
              <a:rPr lang="ko-KR" altLang="en-US" b="1" dirty="0">
                <a:solidFill>
                  <a:srgbClr val="002060"/>
                </a:solidFill>
              </a:rPr>
              <a:t>기준으로 결정</a:t>
            </a:r>
            <a:endParaRPr lang="en-US" altLang="ko-KR" b="1" dirty="0">
              <a:solidFill>
                <a:srgbClr val="002060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endParaRPr lang="en-US" altLang="ko-KR" b="1" dirty="0">
              <a:solidFill>
                <a:srgbClr val="002060"/>
              </a:solidFill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ko-KR" b="1" dirty="0">
                <a:solidFill>
                  <a:srgbClr val="002060"/>
                </a:solidFill>
              </a:rPr>
              <a:t>Define Risk Tolerance (Risk Aversion) = </a:t>
            </a:r>
            <a:r>
              <a:rPr lang="en-US" altLang="ko-KR" b="1" dirty="0" err="1">
                <a:solidFill>
                  <a:srgbClr val="002060"/>
                </a:solidFill>
              </a:rPr>
              <a:t>x_cheaper_asset</a:t>
            </a:r>
            <a:r>
              <a:rPr lang="ko-KR" altLang="en-US" b="1" dirty="0">
                <a:solidFill>
                  <a:srgbClr val="002060"/>
                </a:solidFill>
              </a:rPr>
              <a:t> </a:t>
            </a:r>
            <a:r>
              <a:rPr lang="en-US" altLang="ko-KR" b="1" dirty="0">
                <a:solidFill>
                  <a:srgbClr val="002060"/>
                </a:solidFill>
              </a:rPr>
              <a:t>/</a:t>
            </a:r>
            <a:r>
              <a:rPr lang="ko-KR" altLang="en-US" b="1" dirty="0">
                <a:solidFill>
                  <a:srgbClr val="002060"/>
                </a:solidFill>
              </a:rPr>
              <a:t> </a:t>
            </a:r>
            <a:r>
              <a:rPr lang="en-US" altLang="ko-KR" b="1" dirty="0">
                <a:solidFill>
                  <a:srgbClr val="002060"/>
                </a:solidFill>
              </a:rPr>
              <a:t>(x1</a:t>
            </a:r>
            <a:r>
              <a:rPr lang="ko-KR" altLang="en-US" b="1" dirty="0">
                <a:solidFill>
                  <a:srgbClr val="002060"/>
                </a:solidFill>
              </a:rPr>
              <a:t> </a:t>
            </a:r>
            <a:r>
              <a:rPr lang="en-US" altLang="ko-KR" b="1" dirty="0">
                <a:solidFill>
                  <a:srgbClr val="002060"/>
                </a:solidFill>
              </a:rPr>
              <a:t>+x2) : 0.5, 1 </a:t>
            </a:r>
            <a:r>
              <a:rPr lang="ko-KR" altLang="en-US" b="1" dirty="0">
                <a:solidFill>
                  <a:srgbClr val="002060"/>
                </a:solidFill>
              </a:rPr>
              <a:t>사이</a:t>
            </a:r>
            <a:br>
              <a:rPr lang="en-US" altLang="ko-KR" b="1" dirty="0">
                <a:solidFill>
                  <a:srgbClr val="002060"/>
                </a:solidFill>
              </a:rPr>
            </a:br>
            <a:r>
              <a:rPr lang="ko-KR" altLang="en-US" b="1" dirty="0">
                <a:solidFill>
                  <a:srgbClr val="002060"/>
                </a:solidFill>
              </a:rPr>
              <a:t>이 값은 각 </a:t>
            </a:r>
            <a:r>
              <a:rPr lang="en-US" altLang="ko-KR" b="1" dirty="0">
                <a:solidFill>
                  <a:srgbClr val="002060"/>
                </a:solidFill>
              </a:rPr>
              <a:t>round </a:t>
            </a:r>
            <a:r>
              <a:rPr lang="ko-KR" altLang="en-US" b="1" dirty="0">
                <a:solidFill>
                  <a:srgbClr val="002060"/>
                </a:solidFill>
              </a:rPr>
              <a:t>별로 계산되므로 그 값들의 평균을 내면 한 명당 한 값씩 입력 가능</a:t>
            </a:r>
            <a:br>
              <a:rPr lang="en-US" altLang="ko-KR" b="1" dirty="0">
                <a:solidFill>
                  <a:srgbClr val="002060"/>
                </a:solidFill>
              </a:rPr>
            </a:br>
            <a:r>
              <a:rPr lang="en-US" altLang="ko-KR" b="1" dirty="0">
                <a:solidFill>
                  <a:srgbClr val="002060"/>
                </a:solidFill>
              </a:rPr>
              <a:t>x</a:t>
            </a:r>
            <a:r>
              <a:rPr lang="ko-KR" altLang="en-US" b="1" dirty="0">
                <a:solidFill>
                  <a:srgbClr val="002060"/>
                </a:solidFill>
              </a:rPr>
              <a:t>축에 </a:t>
            </a:r>
            <a:r>
              <a:rPr lang="en-US" altLang="ko-KR" b="1" dirty="0">
                <a:solidFill>
                  <a:srgbClr val="002060"/>
                </a:solidFill>
              </a:rPr>
              <a:t>657</a:t>
            </a:r>
            <a:r>
              <a:rPr lang="ko-KR" altLang="en-US" b="1" dirty="0">
                <a:solidFill>
                  <a:srgbClr val="002060"/>
                </a:solidFill>
              </a:rPr>
              <a:t>쌍을 순서대로 놓고 </a:t>
            </a:r>
            <a:r>
              <a:rPr lang="en-US" altLang="ko-KR" b="1" dirty="0">
                <a:solidFill>
                  <a:srgbClr val="002060"/>
                </a:solidFill>
              </a:rPr>
              <a:t>(</a:t>
            </a:r>
            <a:r>
              <a:rPr lang="en-US" altLang="ko-KR" b="1" dirty="0" err="1">
                <a:solidFill>
                  <a:srgbClr val="002060"/>
                </a:solidFill>
              </a:rPr>
              <a:t>RT_g</a:t>
            </a:r>
            <a:r>
              <a:rPr lang="en-US" altLang="ko-KR" b="1" dirty="0">
                <a:solidFill>
                  <a:srgbClr val="002060"/>
                </a:solidFill>
              </a:rPr>
              <a:t> </a:t>
            </a:r>
            <a:r>
              <a:rPr lang="ko-KR" altLang="en-US" b="1" dirty="0">
                <a:solidFill>
                  <a:srgbClr val="002060"/>
                </a:solidFill>
              </a:rPr>
              <a:t>작은 순서대로</a:t>
            </a:r>
            <a:r>
              <a:rPr lang="en-US" altLang="ko-KR" b="1" dirty="0">
                <a:solidFill>
                  <a:srgbClr val="002060"/>
                </a:solidFill>
              </a:rPr>
              <a:t>) </a:t>
            </a:r>
            <a:br>
              <a:rPr lang="en-US" altLang="ko-KR" b="1" dirty="0">
                <a:solidFill>
                  <a:srgbClr val="002060"/>
                </a:solidFill>
              </a:rPr>
            </a:br>
            <a:r>
              <a:rPr lang="en-US" altLang="ko-KR" b="1" dirty="0">
                <a:solidFill>
                  <a:srgbClr val="002060"/>
                </a:solidFill>
              </a:rPr>
              <a:t>y</a:t>
            </a:r>
            <a:r>
              <a:rPr lang="ko-KR" altLang="en-US" b="1" dirty="0">
                <a:solidFill>
                  <a:srgbClr val="002060"/>
                </a:solidFill>
              </a:rPr>
              <a:t>축에는 </a:t>
            </a:r>
            <a:r>
              <a:rPr lang="en-US" altLang="ko-KR" b="1" dirty="0">
                <a:solidFill>
                  <a:srgbClr val="002060"/>
                </a:solidFill>
              </a:rPr>
              <a:t>RT_1 RT_2 </a:t>
            </a:r>
            <a:r>
              <a:rPr lang="en-US" altLang="ko-KR" b="1" dirty="0" err="1">
                <a:solidFill>
                  <a:srgbClr val="002060"/>
                </a:solidFill>
              </a:rPr>
              <a:t>RT_g</a:t>
            </a:r>
            <a:r>
              <a:rPr lang="ko-KR" altLang="en-US" b="1" dirty="0">
                <a:solidFill>
                  <a:srgbClr val="002060"/>
                </a:solidFill>
              </a:rPr>
              <a:t>를 표시</a:t>
            </a:r>
            <a:endParaRPr lang="en-US" altLang="ko-KR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644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3. Graphs</a:t>
            </a:r>
            <a:endParaRPr lang="ko-KR" altLang="en-US" sz="4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BE9BF4-75FF-4CF1-8432-3709C39B0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" y="1622433"/>
            <a:ext cx="5860130" cy="3991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4913B8-9037-4EC8-B36A-51B775C1E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22432"/>
            <a:ext cx="5860131" cy="399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836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10BBDDC-D9AB-4EC6-B601-78DD09F9F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0" y="1491064"/>
            <a:ext cx="7502405" cy="5109997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3. Graphs</a:t>
            </a:r>
            <a:endParaRPr lang="ko-KR" altLang="en-US" sz="4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BADFE8-918E-48E4-8060-E5215B7BE5C2}"/>
              </a:ext>
            </a:extLst>
          </p:cNvPr>
          <p:cNvSpPr txBox="1"/>
          <p:nvPr/>
        </p:nvSpPr>
        <p:spPr>
          <a:xfrm>
            <a:off x="6876111" y="3362498"/>
            <a:ext cx="4697635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rgbClr val="002060"/>
                </a:solidFill>
              </a:rPr>
              <a:t>- Baseline </a:t>
            </a:r>
            <a:r>
              <a:rPr lang="ko-KR" altLang="en-US" b="1" dirty="0">
                <a:solidFill>
                  <a:srgbClr val="002060"/>
                </a:solidFill>
              </a:rPr>
              <a:t>보다 </a:t>
            </a:r>
            <a:r>
              <a:rPr lang="en-US" altLang="ko-KR" b="1" dirty="0" err="1">
                <a:solidFill>
                  <a:srgbClr val="002060"/>
                </a:solidFill>
              </a:rPr>
              <a:t>Endline</a:t>
            </a:r>
            <a:r>
              <a:rPr lang="en-US" altLang="ko-KR" b="1" dirty="0">
                <a:solidFill>
                  <a:srgbClr val="002060"/>
                </a:solidFill>
              </a:rPr>
              <a:t> </a:t>
            </a:r>
            <a:r>
              <a:rPr lang="ko-KR" altLang="en-US" b="1" dirty="0">
                <a:solidFill>
                  <a:srgbClr val="002060"/>
                </a:solidFill>
              </a:rPr>
              <a:t>에 높아지는 추세</a:t>
            </a:r>
            <a:endParaRPr lang="en-US" altLang="ko-KR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rgbClr val="002060"/>
                </a:solidFill>
              </a:rPr>
              <a:t>- </a:t>
            </a:r>
            <a:r>
              <a:rPr lang="ko-KR" altLang="en-US" b="1" dirty="0">
                <a:solidFill>
                  <a:srgbClr val="002060"/>
                </a:solidFill>
              </a:rPr>
              <a:t>음영은 </a:t>
            </a:r>
            <a:r>
              <a:rPr lang="en-US" altLang="ko-KR" b="1" dirty="0">
                <a:solidFill>
                  <a:srgbClr val="002060"/>
                </a:solidFill>
              </a:rPr>
              <a:t>95% </a:t>
            </a:r>
            <a:r>
              <a:rPr lang="ko-KR" altLang="en-US" b="1" dirty="0">
                <a:solidFill>
                  <a:srgbClr val="002060"/>
                </a:solidFill>
              </a:rPr>
              <a:t>신뢰구간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5647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3. Graphs</a:t>
            </a:r>
            <a:endParaRPr lang="ko-KR" altLang="en-US" sz="4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A7FA83-7D70-485A-A01B-415D804328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772" r="13698"/>
          <a:stretch/>
        </p:blipFill>
        <p:spPr>
          <a:xfrm>
            <a:off x="604059" y="1237103"/>
            <a:ext cx="4793672" cy="46293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BF57C6-38C8-45E2-8CE9-C7F9949938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81" r="9866" b="1"/>
          <a:stretch/>
        </p:blipFill>
        <p:spPr>
          <a:xfrm>
            <a:off x="6158783" y="1237102"/>
            <a:ext cx="5237019" cy="46293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88674D-B1CC-40BA-823C-CB3EC77B4E1A}"/>
              </a:ext>
            </a:extLst>
          </p:cNvPr>
          <p:cNvSpPr txBox="1"/>
          <p:nvPr/>
        </p:nvSpPr>
        <p:spPr>
          <a:xfrm>
            <a:off x="1517650" y="6167304"/>
            <a:ext cx="9480550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rgbClr val="002060"/>
                </a:solidFill>
              </a:rPr>
              <a:t>앞의 분석을 </a:t>
            </a:r>
            <a:r>
              <a:rPr lang="en-US" altLang="ko-KR" b="1" dirty="0">
                <a:solidFill>
                  <a:srgbClr val="002060"/>
                </a:solidFill>
              </a:rPr>
              <a:t>high / low </a:t>
            </a:r>
            <a:r>
              <a:rPr lang="ko-KR" altLang="en-US" b="1" dirty="0">
                <a:solidFill>
                  <a:srgbClr val="002060"/>
                </a:solidFill>
              </a:rPr>
              <a:t>로 나누어 따로 그려볼 수 있음</a:t>
            </a:r>
            <a:r>
              <a:rPr lang="en-US" altLang="ko-KR" b="1" dirty="0">
                <a:solidFill>
                  <a:srgbClr val="002060"/>
                </a:solidFill>
              </a:rPr>
              <a:t>. (Baseline h0 </a:t>
            </a:r>
            <a:r>
              <a:rPr lang="ko-KR" altLang="en-US" b="1" dirty="0">
                <a:solidFill>
                  <a:srgbClr val="002060"/>
                </a:solidFill>
              </a:rPr>
              <a:t>기준으로 나눈 경우</a:t>
            </a:r>
            <a:r>
              <a:rPr lang="en-US" altLang="ko-KR" b="1" dirty="0">
                <a:solidFill>
                  <a:srgbClr val="00206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28859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3. Graphs</a:t>
            </a:r>
            <a:endParaRPr lang="ko-KR" altLang="en-US" sz="4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44ED2C-8B8F-449D-81E7-4430A0FA3C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73" r="14477" b="218"/>
          <a:stretch/>
        </p:blipFill>
        <p:spPr>
          <a:xfrm>
            <a:off x="732699" y="1237102"/>
            <a:ext cx="4662410" cy="4629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BBBB25-D5B3-4FDE-B4FB-8156AE3AF1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205" r="16032" b="236"/>
          <a:stretch/>
        </p:blipFill>
        <p:spPr>
          <a:xfrm>
            <a:off x="6318250" y="1237102"/>
            <a:ext cx="4616450" cy="46293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E6CA3B-D759-4341-B616-B0BCCBABB48C}"/>
              </a:ext>
            </a:extLst>
          </p:cNvPr>
          <p:cNvSpPr txBox="1"/>
          <p:nvPr/>
        </p:nvSpPr>
        <p:spPr>
          <a:xfrm>
            <a:off x="1517650" y="6167304"/>
            <a:ext cx="9480550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rgbClr val="002060"/>
                </a:solidFill>
              </a:rPr>
              <a:t>앞의 분석을 </a:t>
            </a:r>
            <a:r>
              <a:rPr lang="en-US" altLang="ko-KR" b="1" dirty="0">
                <a:solidFill>
                  <a:srgbClr val="002060"/>
                </a:solidFill>
              </a:rPr>
              <a:t>high / low </a:t>
            </a:r>
            <a:r>
              <a:rPr lang="ko-KR" altLang="en-US" b="1" dirty="0">
                <a:solidFill>
                  <a:srgbClr val="002060"/>
                </a:solidFill>
              </a:rPr>
              <a:t>로 나누어 따로 그려볼 수 있음</a:t>
            </a:r>
            <a:r>
              <a:rPr lang="en-US" altLang="ko-KR" b="1" dirty="0">
                <a:solidFill>
                  <a:srgbClr val="002060"/>
                </a:solidFill>
              </a:rPr>
              <a:t>. (</a:t>
            </a:r>
            <a:r>
              <a:rPr lang="en-US" altLang="ko-KR" b="1" dirty="0" err="1">
                <a:solidFill>
                  <a:srgbClr val="002060"/>
                </a:solidFill>
              </a:rPr>
              <a:t>Endline</a:t>
            </a:r>
            <a:r>
              <a:rPr lang="en-US" altLang="ko-KR" b="1" dirty="0">
                <a:solidFill>
                  <a:srgbClr val="002060"/>
                </a:solidFill>
              </a:rPr>
              <a:t> h1 </a:t>
            </a:r>
            <a:r>
              <a:rPr lang="ko-KR" altLang="en-US" b="1" dirty="0">
                <a:solidFill>
                  <a:srgbClr val="002060"/>
                </a:solidFill>
              </a:rPr>
              <a:t>기준으로 나눈 경우</a:t>
            </a:r>
            <a:r>
              <a:rPr lang="en-US" altLang="ko-KR" b="1" dirty="0">
                <a:solidFill>
                  <a:srgbClr val="00206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81646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3. Graphs</a:t>
            </a:r>
            <a:endParaRPr lang="ko-KR" altLang="en-US" sz="4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AD6027-8C4D-4A1F-B904-803919A97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255" y="1469555"/>
            <a:ext cx="7682346" cy="52325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782D4A-BEFA-4703-AFC0-AADF5704B753}"/>
              </a:ext>
            </a:extLst>
          </p:cNvPr>
          <p:cNvSpPr txBox="1"/>
          <p:nvPr/>
        </p:nvSpPr>
        <p:spPr>
          <a:xfrm>
            <a:off x="6876111" y="3362498"/>
            <a:ext cx="4697635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rgbClr val="002060"/>
                </a:solidFill>
              </a:rPr>
              <a:t>- Group CCEI </a:t>
            </a:r>
            <a:r>
              <a:rPr lang="ko-KR" altLang="en-US" b="1" dirty="0">
                <a:solidFill>
                  <a:srgbClr val="002060"/>
                </a:solidFill>
              </a:rPr>
              <a:t>로 동일한 방식으로 그리면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191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3. Graphs</a:t>
            </a:r>
            <a:endParaRPr lang="ko-KR" altLang="en-US" sz="4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D12EB4-0A03-4C81-910E-5B60718D6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1704"/>
            <a:ext cx="6750180" cy="46080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9DBE9F-1D0A-4546-8DC1-CBE1A2776C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65"/>
          <a:stretch/>
        </p:blipFill>
        <p:spPr>
          <a:xfrm>
            <a:off x="6483349" y="1411703"/>
            <a:ext cx="5638801" cy="46080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EB272A-0146-4D42-B535-C4CBE0F28D3E}"/>
              </a:ext>
            </a:extLst>
          </p:cNvPr>
          <p:cNvSpPr txBox="1"/>
          <p:nvPr/>
        </p:nvSpPr>
        <p:spPr>
          <a:xfrm>
            <a:off x="2368551" y="6187578"/>
            <a:ext cx="7575664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rgbClr val="002060"/>
                </a:solidFill>
              </a:rPr>
              <a:t>그림의 해석이 힘든 것 같아 다른 방법으로 표현을 고민해 보겠습니다</a:t>
            </a:r>
            <a:r>
              <a:rPr lang="en-US" altLang="ko-KR" b="1" dirty="0">
                <a:solidFill>
                  <a:srgbClr val="00206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3536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3. Graphs</a:t>
            </a:r>
            <a:endParaRPr lang="ko-KR" altLang="en-US" sz="4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559D8C-A5E2-4C20-8FC0-C8712E3D3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5250"/>
            <a:ext cx="6625771" cy="45231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A1C590-2A6C-430F-979B-1F42CB4DB1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678"/>
          <a:stretch/>
        </p:blipFill>
        <p:spPr>
          <a:xfrm>
            <a:off x="6509393" y="1365250"/>
            <a:ext cx="5520741" cy="45231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CE745D-6F1C-4764-BEFC-65D1FF67531B}"/>
              </a:ext>
            </a:extLst>
          </p:cNvPr>
          <p:cNvSpPr txBox="1"/>
          <p:nvPr/>
        </p:nvSpPr>
        <p:spPr>
          <a:xfrm>
            <a:off x="2368551" y="6187578"/>
            <a:ext cx="7575664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rgbClr val="002060"/>
                </a:solidFill>
              </a:rPr>
              <a:t>그림의 해석이 힘든 것 같아 다른 방법으로 표현을 고민해 보겠습니다</a:t>
            </a:r>
            <a:r>
              <a:rPr lang="en-US" altLang="ko-KR" b="1" dirty="0">
                <a:solidFill>
                  <a:srgbClr val="00206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3788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3. Graphs</a:t>
            </a:r>
            <a:endParaRPr lang="ko-KR" altLang="en-US" sz="4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6D8665-4969-4583-B218-65ABA9B114D0}"/>
              </a:ext>
            </a:extLst>
          </p:cNvPr>
          <p:cNvSpPr txBox="1"/>
          <p:nvPr/>
        </p:nvSpPr>
        <p:spPr>
          <a:xfrm>
            <a:off x="838200" y="2167565"/>
            <a:ext cx="10109200" cy="1700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rgbClr val="002060"/>
                </a:solidFill>
              </a:rPr>
              <a:t>1. Define Risk Tolerance (Risk Aversion) = </a:t>
            </a:r>
            <a:r>
              <a:rPr lang="en-US" altLang="ko-KR" b="1" dirty="0" err="1">
                <a:solidFill>
                  <a:srgbClr val="002060"/>
                </a:solidFill>
              </a:rPr>
              <a:t>x_cheaper_asset</a:t>
            </a:r>
            <a:r>
              <a:rPr lang="ko-KR" altLang="en-US" b="1" dirty="0">
                <a:solidFill>
                  <a:srgbClr val="002060"/>
                </a:solidFill>
              </a:rPr>
              <a:t> </a:t>
            </a:r>
            <a:r>
              <a:rPr lang="en-US" altLang="ko-KR" b="1" dirty="0">
                <a:solidFill>
                  <a:srgbClr val="002060"/>
                </a:solidFill>
              </a:rPr>
              <a:t>/</a:t>
            </a:r>
            <a:r>
              <a:rPr lang="ko-KR" altLang="en-US" b="1" dirty="0">
                <a:solidFill>
                  <a:srgbClr val="002060"/>
                </a:solidFill>
              </a:rPr>
              <a:t> </a:t>
            </a:r>
            <a:r>
              <a:rPr lang="en-US" altLang="ko-KR" b="1" dirty="0">
                <a:solidFill>
                  <a:srgbClr val="002060"/>
                </a:solidFill>
              </a:rPr>
              <a:t>(x1</a:t>
            </a:r>
            <a:r>
              <a:rPr lang="ko-KR" altLang="en-US" b="1" dirty="0">
                <a:solidFill>
                  <a:srgbClr val="002060"/>
                </a:solidFill>
              </a:rPr>
              <a:t> </a:t>
            </a:r>
            <a:r>
              <a:rPr lang="en-US" altLang="ko-KR" b="1" dirty="0">
                <a:solidFill>
                  <a:srgbClr val="002060"/>
                </a:solidFill>
              </a:rPr>
              <a:t>+x2) </a:t>
            </a:r>
            <a:br>
              <a:rPr lang="en-US" altLang="ko-KR" b="1" dirty="0">
                <a:solidFill>
                  <a:srgbClr val="002060"/>
                </a:solidFill>
              </a:rPr>
            </a:br>
            <a:br>
              <a:rPr lang="en-US" altLang="ko-KR" b="1" dirty="0">
                <a:solidFill>
                  <a:srgbClr val="002060"/>
                </a:solidFill>
              </a:rPr>
            </a:br>
            <a:r>
              <a:rPr lang="en-US" altLang="ko-KR" b="1" dirty="0">
                <a:solidFill>
                  <a:srgbClr val="002060"/>
                </a:solidFill>
              </a:rPr>
              <a:t>   - </a:t>
            </a:r>
            <a:r>
              <a:rPr lang="ko-KR" altLang="en-US" b="1" dirty="0">
                <a:solidFill>
                  <a:srgbClr val="002060"/>
                </a:solidFill>
              </a:rPr>
              <a:t>이론적으로 </a:t>
            </a:r>
            <a:r>
              <a:rPr lang="en-US" altLang="ko-KR" b="1" dirty="0">
                <a:solidFill>
                  <a:srgbClr val="002060"/>
                </a:solidFill>
              </a:rPr>
              <a:t>0.5, 1 </a:t>
            </a:r>
            <a:r>
              <a:rPr lang="ko-KR" altLang="en-US" b="1" dirty="0">
                <a:solidFill>
                  <a:srgbClr val="002060"/>
                </a:solidFill>
              </a:rPr>
              <a:t>사이여야 하지만 데이터에는 그렇지 않은 경우도 소수 존재함</a:t>
            </a:r>
            <a:br>
              <a:rPr lang="en-US" altLang="ko-KR" b="1" dirty="0">
                <a:solidFill>
                  <a:srgbClr val="002060"/>
                </a:solidFill>
              </a:rPr>
            </a:br>
            <a:r>
              <a:rPr lang="en-US" altLang="ko-KR" b="1" dirty="0">
                <a:solidFill>
                  <a:srgbClr val="002060"/>
                </a:solidFill>
              </a:rPr>
              <a:t>   - </a:t>
            </a:r>
            <a:r>
              <a:rPr lang="ko-KR" altLang="en-US" b="1" dirty="0">
                <a:solidFill>
                  <a:srgbClr val="002060"/>
                </a:solidFill>
              </a:rPr>
              <a:t>이 값은 각 </a:t>
            </a:r>
            <a:r>
              <a:rPr lang="en-US" altLang="ko-KR" b="1" dirty="0">
                <a:solidFill>
                  <a:srgbClr val="002060"/>
                </a:solidFill>
              </a:rPr>
              <a:t>round </a:t>
            </a:r>
            <a:r>
              <a:rPr lang="ko-KR" altLang="en-US" b="1" dirty="0">
                <a:solidFill>
                  <a:srgbClr val="002060"/>
                </a:solidFill>
              </a:rPr>
              <a:t>별로 계산되므로 그 값들의 평균을 내면 한 명당 한 값씩</a:t>
            </a:r>
            <a:endParaRPr lang="en-US" altLang="ko-KR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690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3. Graphs</a:t>
            </a:r>
            <a:endParaRPr lang="ko-KR" altLang="en-US" sz="4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04349B-879D-479C-B0A2-A17BD9BB0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0108"/>
            <a:ext cx="7429266" cy="50716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C3CB9D-1B0A-4777-995F-D8175E89738F}"/>
              </a:ext>
            </a:extLst>
          </p:cNvPr>
          <p:cNvSpPr txBox="1"/>
          <p:nvPr/>
        </p:nvSpPr>
        <p:spPr>
          <a:xfrm>
            <a:off x="7628597" y="3027626"/>
            <a:ext cx="4385123" cy="2549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002060"/>
                </a:solidFill>
              </a:rPr>
              <a:t>x</a:t>
            </a:r>
            <a:r>
              <a:rPr lang="ko-KR" altLang="en-US" sz="1200" b="1" dirty="0">
                <a:solidFill>
                  <a:srgbClr val="002060"/>
                </a:solidFill>
              </a:rPr>
              <a:t>축에 </a:t>
            </a:r>
            <a:r>
              <a:rPr lang="en-US" altLang="ko-KR" sz="1200" b="1" dirty="0">
                <a:solidFill>
                  <a:srgbClr val="002060"/>
                </a:solidFill>
              </a:rPr>
              <a:t>657</a:t>
            </a:r>
            <a:r>
              <a:rPr lang="ko-KR" altLang="en-US" sz="1200" b="1" dirty="0">
                <a:solidFill>
                  <a:srgbClr val="002060"/>
                </a:solidFill>
              </a:rPr>
              <a:t>쌍을 순서대로 놓고 </a:t>
            </a:r>
            <a:r>
              <a:rPr lang="en-US" altLang="ko-KR" sz="1200" b="1" dirty="0">
                <a:solidFill>
                  <a:srgbClr val="002060"/>
                </a:solidFill>
              </a:rPr>
              <a:t>(</a:t>
            </a:r>
            <a:r>
              <a:rPr lang="en-US" altLang="ko-KR" sz="1200" b="1" dirty="0" err="1">
                <a:solidFill>
                  <a:srgbClr val="002060"/>
                </a:solidFill>
              </a:rPr>
              <a:t>RT_g</a:t>
            </a:r>
            <a:r>
              <a:rPr lang="en-US" altLang="ko-KR" sz="1200" b="1" dirty="0">
                <a:solidFill>
                  <a:srgbClr val="002060"/>
                </a:solidFill>
              </a:rPr>
              <a:t> </a:t>
            </a:r>
            <a:r>
              <a:rPr lang="ko-KR" altLang="en-US" sz="1200" b="1" dirty="0">
                <a:solidFill>
                  <a:srgbClr val="002060"/>
                </a:solidFill>
              </a:rPr>
              <a:t>작은 순서대로</a:t>
            </a:r>
            <a:r>
              <a:rPr lang="en-US" altLang="ko-KR" sz="1200" b="1" dirty="0">
                <a:solidFill>
                  <a:srgbClr val="002060"/>
                </a:solidFill>
              </a:rPr>
              <a:t>) </a:t>
            </a:r>
          </a:p>
          <a:p>
            <a:pPr>
              <a:lnSpc>
                <a:spcPct val="150000"/>
              </a:lnSpc>
            </a:pPr>
            <a:br>
              <a:rPr lang="en-US" altLang="ko-KR" sz="1200" b="1" dirty="0">
                <a:solidFill>
                  <a:srgbClr val="002060"/>
                </a:solidFill>
              </a:rPr>
            </a:br>
            <a:r>
              <a:rPr lang="en-US" altLang="ko-KR" sz="1200" b="1" dirty="0">
                <a:solidFill>
                  <a:srgbClr val="002060"/>
                </a:solidFill>
              </a:rPr>
              <a:t>y</a:t>
            </a:r>
            <a:r>
              <a:rPr lang="ko-KR" altLang="en-US" sz="1200" b="1" dirty="0">
                <a:solidFill>
                  <a:srgbClr val="002060"/>
                </a:solidFill>
              </a:rPr>
              <a:t>축에는 </a:t>
            </a:r>
            <a:r>
              <a:rPr lang="en-US" altLang="ko-KR" sz="1200" b="1" dirty="0">
                <a:solidFill>
                  <a:srgbClr val="002060"/>
                </a:solidFill>
              </a:rPr>
              <a:t>RT_1 RT_2 </a:t>
            </a:r>
            <a:r>
              <a:rPr lang="en-US" altLang="ko-KR" sz="1200" b="1" dirty="0" err="1">
                <a:solidFill>
                  <a:srgbClr val="002060"/>
                </a:solidFill>
              </a:rPr>
              <a:t>RT_g</a:t>
            </a:r>
            <a:r>
              <a:rPr lang="en-US" altLang="ko-KR" sz="1200" b="1" dirty="0">
                <a:solidFill>
                  <a:srgbClr val="002060"/>
                </a:solidFill>
              </a:rPr>
              <a:t> </a:t>
            </a:r>
            <a:r>
              <a:rPr lang="ko-KR" altLang="en-US" sz="1200" b="1" dirty="0">
                <a:solidFill>
                  <a:srgbClr val="002060"/>
                </a:solidFill>
              </a:rPr>
              <a:t>를 표시</a:t>
            </a:r>
            <a:endParaRPr lang="en-US" altLang="ko-KR" sz="1200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br>
              <a:rPr lang="en-US" altLang="ko-KR" sz="1200" b="1" dirty="0">
                <a:solidFill>
                  <a:srgbClr val="002060"/>
                </a:solidFill>
              </a:rPr>
            </a:br>
            <a:r>
              <a:rPr lang="en-US" altLang="ko-KR" sz="1200" b="1" dirty="0">
                <a:solidFill>
                  <a:srgbClr val="C00000"/>
                </a:solidFill>
              </a:rPr>
              <a:t>(Note) </a:t>
            </a:r>
            <a:r>
              <a:rPr lang="ko-KR" altLang="en-US" sz="1200" b="1" dirty="0">
                <a:solidFill>
                  <a:srgbClr val="C00000"/>
                </a:solidFill>
              </a:rPr>
              <a:t>그림에서 </a:t>
            </a:r>
            <a:r>
              <a:rPr lang="en-US" altLang="ko-KR" sz="1200" b="1" dirty="0">
                <a:solidFill>
                  <a:srgbClr val="C00000"/>
                </a:solidFill>
              </a:rPr>
              <a:t>high low </a:t>
            </a:r>
            <a:r>
              <a:rPr lang="ko-KR" altLang="en-US" sz="1200" b="1" dirty="0">
                <a:solidFill>
                  <a:srgbClr val="C00000"/>
                </a:solidFill>
              </a:rPr>
              <a:t>는 단순히 두 값 중 큰 것</a:t>
            </a:r>
            <a:r>
              <a:rPr lang="en-US" altLang="ko-KR" sz="1200" b="1" dirty="0">
                <a:solidFill>
                  <a:srgbClr val="C00000"/>
                </a:solidFill>
              </a:rPr>
              <a:t>, </a:t>
            </a:r>
            <a:r>
              <a:rPr lang="ko-KR" altLang="en-US" sz="1200" b="1" dirty="0">
                <a:solidFill>
                  <a:srgbClr val="C00000"/>
                </a:solidFill>
              </a:rPr>
              <a:t>작은 것</a:t>
            </a:r>
            <a:r>
              <a:rPr lang="en-US" altLang="ko-KR" sz="1200" b="1" dirty="0">
                <a:solidFill>
                  <a:srgbClr val="C00000"/>
                </a:solidFill>
              </a:rPr>
              <a:t> </a:t>
            </a:r>
            <a:r>
              <a:rPr lang="en-US" altLang="ko-KR" sz="1200" b="1" dirty="0" err="1">
                <a:solidFill>
                  <a:srgbClr val="C00000"/>
                </a:solidFill>
              </a:rPr>
              <a:t>ccei</a:t>
            </a:r>
            <a:r>
              <a:rPr lang="en-US" altLang="ko-KR" sz="1200" b="1" dirty="0">
                <a:solidFill>
                  <a:srgbClr val="C00000"/>
                </a:solidFill>
              </a:rPr>
              <a:t> </a:t>
            </a:r>
            <a:r>
              <a:rPr lang="ko-KR" altLang="en-US" sz="1200" b="1" dirty="0">
                <a:solidFill>
                  <a:srgbClr val="C00000"/>
                </a:solidFill>
              </a:rPr>
              <a:t>기반 </a:t>
            </a:r>
            <a:r>
              <a:rPr lang="en-US" altLang="ko-KR" sz="1200" b="1" dirty="0">
                <a:solidFill>
                  <a:srgbClr val="C00000"/>
                </a:solidFill>
              </a:rPr>
              <a:t>high low </a:t>
            </a:r>
            <a:r>
              <a:rPr lang="ko-KR" altLang="en-US" sz="1200" b="1" dirty="0">
                <a:solidFill>
                  <a:srgbClr val="C00000"/>
                </a:solidFill>
              </a:rPr>
              <a:t>구분이 아님에 유의</a:t>
            </a:r>
            <a:endParaRPr lang="en-US" altLang="ko-KR" sz="12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C00000"/>
                </a:solidFill>
              </a:rPr>
              <a:t>더 깔끔하게 그릴 방법이 있을 것 같으나</a:t>
            </a:r>
            <a:r>
              <a:rPr lang="en-US" altLang="ko-KR" sz="1200" b="1" dirty="0">
                <a:solidFill>
                  <a:srgbClr val="C00000"/>
                </a:solidFill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C00000"/>
                </a:solidFill>
              </a:rPr>
              <a:t>우선 이렇게나마 보고드립니다</a:t>
            </a:r>
            <a:r>
              <a:rPr lang="en-US" altLang="ko-KR" sz="1200" b="1" dirty="0">
                <a:solidFill>
                  <a:srgbClr val="C00000"/>
                </a:solidFill>
              </a:rPr>
              <a:t>.</a:t>
            </a:r>
            <a:endParaRPr lang="ko-KR" altLang="en-US" sz="1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5261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3. Graphs</a:t>
            </a:r>
            <a:endParaRPr lang="ko-KR" altLang="en-US" sz="4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C3CB9D-1B0A-4777-995F-D8175E89738F}"/>
              </a:ext>
            </a:extLst>
          </p:cNvPr>
          <p:cNvSpPr txBox="1"/>
          <p:nvPr/>
        </p:nvSpPr>
        <p:spPr>
          <a:xfrm>
            <a:off x="7628597" y="3027626"/>
            <a:ext cx="4385123" cy="2549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002060"/>
                </a:solidFill>
              </a:rPr>
              <a:t>x</a:t>
            </a:r>
            <a:r>
              <a:rPr lang="ko-KR" altLang="en-US" sz="1200" b="1" dirty="0">
                <a:solidFill>
                  <a:srgbClr val="002060"/>
                </a:solidFill>
              </a:rPr>
              <a:t>축에 </a:t>
            </a:r>
            <a:r>
              <a:rPr lang="en-US" altLang="ko-KR" sz="1200" b="1" dirty="0">
                <a:solidFill>
                  <a:srgbClr val="002060"/>
                </a:solidFill>
              </a:rPr>
              <a:t>657</a:t>
            </a:r>
            <a:r>
              <a:rPr lang="ko-KR" altLang="en-US" sz="1200" b="1" dirty="0">
                <a:solidFill>
                  <a:srgbClr val="002060"/>
                </a:solidFill>
              </a:rPr>
              <a:t>쌍을 순서대로 놓고 </a:t>
            </a:r>
            <a:r>
              <a:rPr lang="en-US" altLang="ko-KR" sz="1200" b="1" dirty="0">
                <a:solidFill>
                  <a:srgbClr val="002060"/>
                </a:solidFill>
              </a:rPr>
              <a:t>(</a:t>
            </a:r>
            <a:r>
              <a:rPr lang="en-US" altLang="ko-KR" sz="1200" b="1" dirty="0" err="1">
                <a:solidFill>
                  <a:srgbClr val="002060"/>
                </a:solidFill>
              </a:rPr>
              <a:t>RT_g</a:t>
            </a:r>
            <a:r>
              <a:rPr lang="en-US" altLang="ko-KR" sz="1200" b="1" dirty="0">
                <a:solidFill>
                  <a:srgbClr val="002060"/>
                </a:solidFill>
              </a:rPr>
              <a:t> </a:t>
            </a:r>
            <a:r>
              <a:rPr lang="ko-KR" altLang="en-US" sz="1200" b="1" dirty="0">
                <a:solidFill>
                  <a:srgbClr val="002060"/>
                </a:solidFill>
              </a:rPr>
              <a:t>작은 순서대로</a:t>
            </a:r>
            <a:r>
              <a:rPr lang="en-US" altLang="ko-KR" sz="1200" b="1" dirty="0">
                <a:solidFill>
                  <a:srgbClr val="002060"/>
                </a:solidFill>
              </a:rPr>
              <a:t>) </a:t>
            </a:r>
          </a:p>
          <a:p>
            <a:pPr>
              <a:lnSpc>
                <a:spcPct val="150000"/>
              </a:lnSpc>
            </a:pPr>
            <a:br>
              <a:rPr lang="en-US" altLang="ko-KR" sz="1200" b="1" dirty="0">
                <a:solidFill>
                  <a:srgbClr val="002060"/>
                </a:solidFill>
              </a:rPr>
            </a:br>
            <a:r>
              <a:rPr lang="en-US" altLang="ko-KR" sz="1200" b="1" dirty="0">
                <a:solidFill>
                  <a:srgbClr val="002060"/>
                </a:solidFill>
              </a:rPr>
              <a:t>y</a:t>
            </a:r>
            <a:r>
              <a:rPr lang="ko-KR" altLang="en-US" sz="1200" b="1" dirty="0">
                <a:solidFill>
                  <a:srgbClr val="002060"/>
                </a:solidFill>
              </a:rPr>
              <a:t>축에는 </a:t>
            </a:r>
            <a:r>
              <a:rPr lang="en-US" altLang="ko-KR" sz="1200" b="1" dirty="0">
                <a:solidFill>
                  <a:srgbClr val="002060"/>
                </a:solidFill>
              </a:rPr>
              <a:t>RT_1 RT_2 </a:t>
            </a:r>
            <a:r>
              <a:rPr lang="en-US" altLang="ko-KR" sz="1200" b="1" dirty="0" err="1">
                <a:solidFill>
                  <a:srgbClr val="002060"/>
                </a:solidFill>
              </a:rPr>
              <a:t>RT_g</a:t>
            </a:r>
            <a:r>
              <a:rPr lang="en-US" altLang="ko-KR" sz="1200" b="1" dirty="0">
                <a:solidFill>
                  <a:srgbClr val="002060"/>
                </a:solidFill>
              </a:rPr>
              <a:t> </a:t>
            </a:r>
            <a:r>
              <a:rPr lang="ko-KR" altLang="en-US" sz="1200" b="1" dirty="0">
                <a:solidFill>
                  <a:srgbClr val="002060"/>
                </a:solidFill>
              </a:rPr>
              <a:t>를 표시</a:t>
            </a:r>
            <a:endParaRPr lang="en-US" altLang="ko-KR" sz="1200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br>
              <a:rPr lang="en-US" altLang="ko-KR" sz="1200" b="1" dirty="0">
                <a:solidFill>
                  <a:srgbClr val="002060"/>
                </a:solidFill>
              </a:rPr>
            </a:br>
            <a:r>
              <a:rPr lang="en-US" altLang="ko-KR" sz="1200" b="1" dirty="0">
                <a:solidFill>
                  <a:srgbClr val="C00000"/>
                </a:solidFill>
              </a:rPr>
              <a:t>(Note) </a:t>
            </a:r>
            <a:r>
              <a:rPr lang="ko-KR" altLang="en-US" sz="1200" b="1" dirty="0">
                <a:solidFill>
                  <a:srgbClr val="C00000"/>
                </a:solidFill>
              </a:rPr>
              <a:t>그림에서 </a:t>
            </a:r>
            <a:r>
              <a:rPr lang="en-US" altLang="ko-KR" sz="1200" b="1" dirty="0">
                <a:solidFill>
                  <a:srgbClr val="C00000"/>
                </a:solidFill>
              </a:rPr>
              <a:t>high low </a:t>
            </a:r>
            <a:r>
              <a:rPr lang="ko-KR" altLang="en-US" sz="1200" b="1" dirty="0">
                <a:solidFill>
                  <a:srgbClr val="C00000"/>
                </a:solidFill>
              </a:rPr>
              <a:t>는 단순히 두 값 중 큰 것</a:t>
            </a:r>
            <a:r>
              <a:rPr lang="en-US" altLang="ko-KR" sz="1200" b="1" dirty="0">
                <a:solidFill>
                  <a:srgbClr val="C00000"/>
                </a:solidFill>
              </a:rPr>
              <a:t>, </a:t>
            </a:r>
            <a:r>
              <a:rPr lang="ko-KR" altLang="en-US" sz="1200" b="1" dirty="0">
                <a:solidFill>
                  <a:srgbClr val="C00000"/>
                </a:solidFill>
              </a:rPr>
              <a:t>작은 것</a:t>
            </a:r>
            <a:r>
              <a:rPr lang="en-US" altLang="ko-KR" sz="1200" b="1" dirty="0">
                <a:solidFill>
                  <a:srgbClr val="C00000"/>
                </a:solidFill>
              </a:rPr>
              <a:t> </a:t>
            </a:r>
            <a:r>
              <a:rPr lang="en-US" altLang="ko-KR" sz="1200" b="1" dirty="0" err="1">
                <a:solidFill>
                  <a:srgbClr val="C00000"/>
                </a:solidFill>
              </a:rPr>
              <a:t>ccei</a:t>
            </a:r>
            <a:r>
              <a:rPr lang="en-US" altLang="ko-KR" sz="1200" b="1" dirty="0">
                <a:solidFill>
                  <a:srgbClr val="C00000"/>
                </a:solidFill>
              </a:rPr>
              <a:t> </a:t>
            </a:r>
            <a:r>
              <a:rPr lang="ko-KR" altLang="en-US" sz="1200" b="1" dirty="0">
                <a:solidFill>
                  <a:srgbClr val="C00000"/>
                </a:solidFill>
              </a:rPr>
              <a:t>기반 </a:t>
            </a:r>
            <a:r>
              <a:rPr lang="en-US" altLang="ko-KR" sz="1200" b="1" dirty="0">
                <a:solidFill>
                  <a:srgbClr val="C00000"/>
                </a:solidFill>
              </a:rPr>
              <a:t>high low </a:t>
            </a:r>
            <a:r>
              <a:rPr lang="ko-KR" altLang="en-US" sz="1200" b="1" dirty="0">
                <a:solidFill>
                  <a:srgbClr val="C00000"/>
                </a:solidFill>
              </a:rPr>
              <a:t>구분이 아님에 유의</a:t>
            </a:r>
            <a:endParaRPr lang="en-US" altLang="ko-KR" sz="12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C00000"/>
                </a:solidFill>
              </a:rPr>
              <a:t>더 깔끔하게 그릴 방법이 있을 것 같으나</a:t>
            </a:r>
            <a:r>
              <a:rPr lang="en-US" altLang="ko-KR" sz="1200" b="1" dirty="0">
                <a:solidFill>
                  <a:srgbClr val="C00000"/>
                </a:solidFill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C00000"/>
                </a:solidFill>
              </a:rPr>
              <a:t>우선 이렇게나마 보고드립니다</a:t>
            </a:r>
            <a:r>
              <a:rPr lang="en-US" altLang="ko-KR" sz="1200" b="1" dirty="0">
                <a:solidFill>
                  <a:srgbClr val="C00000"/>
                </a:solidFill>
              </a:rPr>
              <a:t>.</a:t>
            </a:r>
            <a:endParaRPr lang="ko-KR" altLang="en-US" sz="1200" dirty="0">
              <a:solidFill>
                <a:srgbClr val="C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48820E-FC5C-44BF-9B64-337627CD4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1306"/>
            <a:ext cx="7381702" cy="503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945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15361</TotalTime>
  <Words>646</Words>
  <Application>Microsoft Office PowerPoint</Application>
  <PresentationFormat>Widescreen</PresentationFormat>
  <Paragraphs>63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Cambria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한병헌</dc:creator>
  <cp:lastModifiedBy>Byunghun Hahn</cp:lastModifiedBy>
  <cp:revision>1616</cp:revision>
  <dcterms:created xsi:type="dcterms:W3CDTF">2024-09-27T06:19:06Z</dcterms:created>
  <dcterms:modified xsi:type="dcterms:W3CDTF">2025-05-30T23:32:08Z</dcterms:modified>
</cp:coreProperties>
</file>